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f573e075-56a7-46ba-791d-6974075330d1}">
          <p14:sldIdLst>
            <p14:sldId id="256"/>
            <p14:sldId id="257"/>
          </p14:sldIdLst>
        </p14:section>
        <p14:section name="Background" id="{320e3628-b125-5891-e44e-75c86d9313bc}">
          <p14:sldIdLst>
            <p14:sldId id="258"/>
            <p14:sldId id="259"/>
            <p14:sldId id="260"/>
            <p14:sldId id="261"/>
          </p14:sldIdLst>
        </p14:section>
        <p14:section name="Method" id="{fc0a4d7b-ba64-5399-b8d6-f6556770cabd}">
          <p14:sldIdLst>
            <p14:sldId id="262"/>
            <p14:sldId id="263"/>
            <p14:sldId id="264"/>
            <p14:sldId id="265"/>
            <p14:sldId id="266"/>
            <p14:sldId id="267"/>
          </p14:sldIdLst>
        </p14:section>
        <p14:section name="Pretraining" id="{7fde8238-d917-6485-59cc-5beb79172278}">
          <p14:sldIdLst>
            <p14:sldId id="268"/>
            <p14:sldId id="269"/>
            <p14:sldId id="270"/>
            <p14:sldId id="271"/>
          </p14:sldIdLst>
        </p14:section>
        <p14:section name="Classification" id="{bff8b1b9-d0d3-2bc2-098d-a23cd68b415e}">
          <p14:sldIdLst>
            <p14:sldId id="272"/>
            <p14:sldId id="273"/>
            <p14:sldId id="274"/>
            <p14:sldId id="275"/>
            <p14:sldId id="276"/>
            <p14:sldId id="277"/>
          </p14:sldIdLst>
        </p14:section>
        <p14:section name="Conclusions" id="{49e946ec-b4f8-0491-6421-f560d7a6cf91}">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Plain V-JEPA</c:v>
                </c:pt>
              </c:strCache>
            </c:strRef>
          </c:tx>
          <c:spPr>
            <a:solidFill>
              <a:srgbClr val="5B6B70"/>
            </a:solidFill>
            <a:ln w="25400" cap="flat">
              <a:solidFill>
                <a:srgbClr val="5B6B70"/>
              </a:solidFill>
              <a:prstDash val="solid"/>
              <a:round/>
            </a:ln>
            <a:effectLst/>
          </c:spPr>
          <c:marker>
            <c:symbol val="none"/>
            <c:size val="6"/>
            <c:spPr>
              <a:solidFill>
                <a:srgbClr val="5B6B70"/>
              </a:solidFill>
              <a:ln w="9525" cap="flat">
                <a:solidFill>
                  <a:srgbClr val="5B6B70"/>
                </a:solidFill>
                <a:prstDash val="solid"/>
                <a:round/>
              </a:ln>
              <a:effectLst/>
            </c:spPr>
          </c:marker>
          <c:xVal>
            <c:numRef>
              <c:f>Sheet1!$A$2:$A$301</c:f>
              <c:numCache>
                <c:formatCode>General</c:formatCode>
                <c:ptCount val="3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numCache>
            </c:numRef>
          </c:xVal>
          <c:yVal>
            <c:numRef>
              <c:f>Sheet1!$B$2:$B$301</c:f>
              <c:numCache>
                <c:formatCode>General</c:formatCode>
                <c:ptCount val="300"/>
                <c:pt idx="0">
                  <c:v>0.122</c:v>
                </c:pt>
                <c:pt idx="1">
                  <c:v>0.1175</c:v>
                </c:pt>
                <c:pt idx="2">
                  <c:v>0.116</c:v>
                </c:pt>
                <c:pt idx="3">
                  <c:v>0.115</c:v>
                </c:pt>
                <c:pt idx="4">
                  <c:v>0.106</c:v>
                </c:pt>
                <c:pt idx="5">
                  <c:v>0.0918</c:v>
                </c:pt>
                <c:pt idx="6">
                  <c:v>0.0776</c:v>
                </c:pt>
                <c:pt idx="7">
                  <c:v>0.0626</c:v>
                </c:pt>
                <c:pt idx="8">
                  <c:v>0.048</c:v>
                </c:pt>
                <c:pt idx="9">
                  <c:v>0.0422</c:v>
                </c:pt>
                <c:pt idx="10">
                  <c:v>0.0408</c:v>
                </c:pt>
                <c:pt idx="11">
                  <c:v>0.0414</c:v>
                </c:pt>
                <c:pt idx="12">
                  <c:v>0.0434</c:v>
                </c:pt>
                <c:pt idx="13">
                  <c:v>0.0448</c:v>
                </c:pt>
                <c:pt idx="14">
                  <c:v>0.0454</c:v>
                </c:pt>
                <c:pt idx="15">
                  <c:v>0.0456</c:v>
                </c:pt>
                <c:pt idx="16">
                  <c:v>0.0452</c:v>
                </c:pt>
                <c:pt idx="17">
                  <c:v>0.0446</c:v>
                </c:pt>
                <c:pt idx="18">
                  <c:v>0.0446</c:v>
                </c:pt>
                <c:pt idx="19">
                  <c:v>0.0446</c:v>
                </c:pt>
                <c:pt idx="20">
                  <c:v>0.0448</c:v>
                </c:pt>
                <c:pt idx="21">
                  <c:v>0.0468</c:v>
                </c:pt>
                <c:pt idx="22">
                  <c:v>0.0476</c:v>
                </c:pt>
                <c:pt idx="23">
                  <c:v>0.0468</c:v>
                </c:pt>
                <c:pt idx="24">
                  <c:v>0.0456</c:v>
                </c:pt>
                <c:pt idx="25">
                  <c:v>0.0436</c:v>
                </c:pt>
                <c:pt idx="26">
                  <c:v>0.0402</c:v>
                </c:pt>
                <c:pt idx="27">
                  <c:v>0.0374</c:v>
                </c:pt>
                <c:pt idx="28">
                  <c:v>0.036</c:v>
                </c:pt>
                <c:pt idx="29">
                  <c:v>0.0356</c:v>
                </c:pt>
                <c:pt idx="30">
                  <c:v>0.036</c:v>
                </c:pt>
                <c:pt idx="31">
                  <c:v>0.037</c:v>
                </c:pt>
                <c:pt idx="32">
                  <c:v>0.0374</c:v>
                </c:pt>
                <c:pt idx="33">
                  <c:v>0.0378</c:v>
                </c:pt>
                <c:pt idx="34">
                  <c:v>0.0376</c:v>
                </c:pt>
                <c:pt idx="35">
                  <c:v>0.0368</c:v>
                </c:pt>
                <c:pt idx="36">
                  <c:v>0.0354</c:v>
                </c:pt>
                <c:pt idx="37">
                  <c:v>0.0354</c:v>
                </c:pt>
                <c:pt idx="38">
                  <c:v>0.0378</c:v>
                </c:pt>
                <c:pt idx="39">
                  <c:v>0.049</c:v>
                </c:pt>
                <c:pt idx="40">
                  <c:v>0.0572</c:v>
                </c:pt>
                <c:pt idx="41">
                  <c:v>0.062</c:v>
                </c:pt>
                <c:pt idx="42">
                  <c:v>0.0708</c:v>
                </c:pt>
                <c:pt idx="43">
                  <c:v>0.0828</c:v>
                </c:pt>
                <c:pt idx="44">
                  <c:v>0.0912</c:v>
                </c:pt>
                <c:pt idx="45">
                  <c:v>0.105</c:v>
                </c:pt>
                <c:pt idx="46">
                  <c:v>0.1342</c:v>
                </c:pt>
                <c:pt idx="47">
                  <c:v>0.1528</c:v>
                </c:pt>
                <c:pt idx="48">
                  <c:v>0.1626</c:v>
                </c:pt>
                <c:pt idx="49">
                  <c:v>0.158</c:v>
                </c:pt>
                <c:pt idx="50">
                  <c:v>0.1468</c:v>
                </c:pt>
                <c:pt idx="51">
                  <c:v>0.1224</c:v>
                </c:pt>
                <c:pt idx="52">
                  <c:v>0.1028</c:v>
                </c:pt>
                <c:pt idx="53">
                  <c:v>0.0872</c:v>
                </c:pt>
                <c:pt idx="54">
                  <c:v>0.0806</c:v>
                </c:pt>
                <c:pt idx="55">
                  <c:v>0.0788</c:v>
                </c:pt>
                <c:pt idx="56">
                  <c:v>0.078</c:v>
                </c:pt>
                <c:pt idx="57">
                  <c:v>0.0768</c:v>
                </c:pt>
                <c:pt idx="58">
                  <c:v>0.073</c:v>
                </c:pt>
                <c:pt idx="59">
                  <c:v>0.0694</c:v>
                </c:pt>
                <c:pt idx="60">
                  <c:v>0.0652</c:v>
                </c:pt>
                <c:pt idx="61">
                  <c:v>0.0614</c:v>
                </c:pt>
                <c:pt idx="62">
                  <c:v>0.0586</c:v>
                </c:pt>
                <c:pt idx="63">
                  <c:v>0.0568</c:v>
                </c:pt>
                <c:pt idx="64">
                  <c:v>0.0554</c:v>
                </c:pt>
                <c:pt idx="65">
                  <c:v>0.0538</c:v>
                </c:pt>
                <c:pt idx="66">
                  <c:v>0.0512</c:v>
                </c:pt>
                <c:pt idx="67">
                  <c:v>0.0494</c:v>
                </c:pt>
                <c:pt idx="68">
                  <c:v>0.0486</c:v>
                </c:pt>
                <c:pt idx="69">
                  <c:v>0.0488</c:v>
                </c:pt>
                <c:pt idx="70">
                  <c:v>0.0478</c:v>
                </c:pt>
                <c:pt idx="71">
                  <c:v>0.0466</c:v>
                </c:pt>
                <c:pt idx="72">
                  <c:v>0.0434</c:v>
                </c:pt>
                <c:pt idx="73">
                  <c:v>0.0414</c:v>
                </c:pt>
                <c:pt idx="74">
                  <c:v>0.0394</c:v>
                </c:pt>
                <c:pt idx="75">
                  <c:v>0.0384</c:v>
                </c:pt>
                <c:pt idx="76">
                  <c:v>0.0374</c:v>
                </c:pt>
                <c:pt idx="77">
                  <c:v>0.0388</c:v>
                </c:pt>
                <c:pt idx="78">
                  <c:v>0.0376</c:v>
                </c:pt>
                <c:pt idx="79">
                  <c:v>0.0346</c:v>
                </c:pt>
                <c:pt idx="80">
                  <c:v>0.0318</c:v>
                </c:pt>
                <c:pt idx="81">
                  <c:v>0.03</c:v>
                </c:pt>
                <c:pt idx="82">
                  <c:v>0.0274</c:v>
                </c:pt>
                <c:pt idx="83">
                  <c:v>0.026</c:v>
                </c:pt>
                <c:pt idx="84">
                  <c:v>0.0254</c:v>
                </c:pt>
                <c:pt idx="85">
                  <c:v>0.0252</c:v>
                </c:pt>
                <c:pt idx="86">
                  <c:v>0.0254</c:v>
                </c:pt>
                <c:pt idx="87">
                  <c:v>0.026</c:v>
                </c:pt>
                <c:pt idx="88">
                  <c:v>0.0266</c:v>
                </c:pt>
                <c:pt idx="89">
                  <c:v>0.0276</c:v>
                </c:pt>
                <c:pt idx="90">
                  <c:v>0.029</c:v>
                </c:pt>
                <c:pt idx="91">
                  <c:v>0.0312</c:v>
                </c:pt>
                <c:pt idx="92">
                  <c:v>0.0366</c:v>
                </c:pt>
                <c:pt idx="93">
                  <c:v>0.0484</c:v>
                </c:pt>
                <c:pt idx="94">
                  <c:v>0.0582</c:v>
                </c:pt>
                <c:pt idx="95">
                  <c:v>0.0654</c:v>
                </c:pt>
                <c:pt idx="96">
                  <c:v>0.0692</c:v>
                </c:pt>
                <c:pt idx="97">
                  <c:v>0.069</c:v>
                </c:pt>
                <c:pt idx="98">
                  <c:v>0.0614</c:v>
                </c:pt>
                <c:pt idx="99">
                  <c:v>0.0554</c:v>
                </c:pt>
                <c:pt idx="100">
                  <c:v>0.0518</c:v>
                </c:pt>
                <c:pt idx="101">
                  <c:v>0.0502</c:v>
                </c:pt>
                <c:pt idx="102">
                  <c:v>0.0492</c:v>
                </c:pt>
                <c:pt idx="103">
                  <c:v>0.0498</c:v>
                </c:pt>
                <c:pt idx="104">
                  <c:v>0.051</c:v>
                </c:pt>
                <c:pt idx="105">
                  <c:v>0.0516</c:v>
                </c:pt>
                <c:pt idx="106">
                  <c:v>0.0518</c:v>
                </c:pt>
                <c:pt idx="107">
                  <c:v>0.053</c:v>
                </c:pt>
                <c:pt idx="108">
                  <c:v>0.0542</c:v>
                </c:pt>
                <c:pt idx="109">
                  <c:v>0.0542</c:v>
                </c:pt>
                <c:pt idx="110">
                  <c:v>0.0542</c:v>
                </c:pt>
                <c:pt idx="111">
                  <c:v>0.0548</c:v>
                </c:pt>
                <c:pt idx="112">
                  <c:v>0.0546</c:v>
                </c:pt>
                <c:pt idx="113">
                  <c:v>0.0532</c:v>
                </c:pt>
                <c:pt idx="114">
                  <c:v>0.0522</c:v>
                </c:pt>
                <c:pt idx="115">
                  <c:v>0.052</c:v>
                </c:pt>
                <c:pt idx="116">
                  <c:v>0.0516</c:v>
                </c:pt>
                <c:pt idx="117">
                  <c:v>0.0512</c:v>
                </c:pt>
                <c:pt idx="118">
                  <c:v>0.052</c:v>
                </c:pt>
                <c:pt idx="119">
                  <c:v>0.0536</c:v>
                </c:pt>
                <c:pt idx="120">
                  <c:v>0.0556</c:v>
                </c:pt>
                <c:pt idx="121">
                  <c:v>0.058</c:v>
                </c:pt>
                <c:pt idx="122">
                  <c:v>0.0604</c:v>
                </c:pt>
                <c:pt idx="123">
                  <c:v>0.0622</c:v>
                </c:pt>
                <c:pt idx="124">
                  <c:v>0.0626</c:v>
                </c:pt>
                <c:pt idx="125">
                  <c:v>0.0616</c:v>
                </c:pt>
                <c:pt idx="126">
                  <c:v>0.0592</c:v>
                </c:pt>
                <c:pt idx="127">
                  <c:v>0.0564</c:v>
                </c:pt>
                <c:pt idx="128">
                  <c:v>0.0542</c:v>
                </c:pt>
                <c:pt idx="129">
                  <c:v>0.0534</c:v>
                </c:pt>
                <c:pt idx="130">
                  <c:v>0.0534</c:v>
                </c:pt>
                <c:pt idx="131">
                  <c:v>0.0548</c:v>
                </c:pt>
                <c:pt idx="132">
                  <c:v>0.0552</c:v>
                </c:pt>
                <c:pt idx="133">
                  <c:v>0.0554</c:v>
                </c:pt>
                <c:pt idx="134">
                  <c:v>0.0564</c:v>
                </c:pt>
                <c:pt idx="135">
                  <c:v>0.0572</c:v>
                </c:pt>
                <c:pt idx="136">
                  <c:v>0.057</c:v>
                </c:pt>
                <c:pt idx="137">
                  <c:v>0.0578</c:v>
                </c:pt>
                <c:pt idx="138">
                  <c:v>0.057</c:v>
                </c:pt>
                <c:pt idx="139">
                  <c:v>0.0538</c:v>
                </c:pt>
                <c:pt idx="140">
                  <c:v>0.052</c:v>
                </c:pt>
                <c:pt idx="141">
                  <c:v>0.0524</c:v>
                </c:pt>
                <c:pt idx="142">
                  <c:v>0.0548</c:v>
                </c:pt>
                <c:pt idx="143">
                  <c:v>0.0584</c:v>
                </c:pt>
                <c:pt idx="144">
                  <c:v>0.0634</c:v>
                </c:pt>
                <c:pt idx="145">
                  <c:v>0.0664</c:v>
                </c:pt>
                <c:pt idx="146">
                  <c:v>0.0686</c:v>
                </c:pt>
                <c:pt idx="147">
                  <c:v>0.0694</c:v>
                </c:pt>
                <c:pt idx="148">
                  <c:v>0.0702</c:v>
                </c:pt>
                <c:pt idx="149">
                  <c:v>0.0674</c:v>
                </c:pt>
                <c:pt idx="150">
                  <c:v>0.0624</c:v>
                </c:pt>
                <c:pt idx="151">
                  <c:v>0.0582</c:v>
                </c:pt>
                <c:pt idx="152">
                  <c:v>0.0566</c:v>
                </c:pt>
                <c:pt idx="153">
                  <c:v>0.0564</c:v>
                </c:pt>
                <c:pt idx="154">
                  <c:v>0.062</c:v>
                </c:pt>
                <c:pt idx="155">
                  <c:v>0.0716</c:v>
                </c:pt>
                <c:pt idx="156">
                  <c:v>0.0796</c:v>
                </c:pt>
                <c:pt idx="157">
                  <c:v>0.083</c:v>
                </c:pt>
                <c:pt idx="158">
                  <c:v>0.0842</c:v>
                </c:pt>
                <c:pt idx="159">
                  <c:v>0.0822</c:v>
                </c:pt>
                <c:pt idx="160">
                  <c:v>0.0774</c:v>
                </c:pt>
                <c:pt idx="161">
                  <c:v>0.0702</c:v>
                </c:pt>
                <c:pt idx="162">
                  <c:v>0.0652</c:v>
                </c:pt>
                <c:pt idx="163">
                  <c:v>0.0618</c:v>
                </c:pt>
                <c:pt idx="164">
                  <c:v>0.0592</c:v>
                </c:pt>
                <c:pt idx="165">
                  <c:v>0.059</c:v>
                </c:pt>
                <c:pt idx="166">
                  <c:v>0.0614</c:v>
                </c:pt>
                <c:pt idx="167">
                  <c:v>0.0626</c:v>
                </c:pt>
                <c:pt idx="168">
                  <c:v>0.0636</c:v>
                </c:pt>
                <c:pt idx="169">
                  <c:v>0.0648</c:v>
                </c:pt>
                <c:pt idx="170">
                  <c:v>0.0652</c:v>
                </c:pt>
                <c:pt idx="171">
                  <c:v>0.0664</c:v>
                </c:pt>
                <c:pt idx="172">
                  <c:v>0.0686</c:v>
                </c:pt>
                <c:pt idx="173">
                  <c:v>0.0702</c:v>
                </c:pt>
                <c:pt idx="174">
                  <c:v>0.0726</c:v>
                </c:pt>
                <c:pt idx="175">
                  <c:v>0.0782</c:v>
                </c:pt>
                <c:pt idx="176">
                  <c:v>0.082</c:v>
                </c:pt>
                <c:pt idx="177">
                  <c:v>0.0854</c:v>
                </c:pt>
                <c:pt idx="178">
                  <c:v>0.089</c:v>
                </c:pt>
                <c:pt idx="179">
                  <c:v>0.089</c:v>
                </c:pt>
                <c:pt idx="180">
                  <c:v>0.085</c:v>
                </c:pt>
                <c:pt idx="181">
                  <c:v>0.0836</c:v>
                </c:pt>
                <c:pt idx="182">
                  <c:v>0.0818</c:v>
                </c:pt>
                <c:pt idx="183">
                  <c:v>0.0794</c:v>
                </c:pt>
                <c:pt idx="184">
                  <c:v>0.0786</c:v>
                </c:pt>
                <c:pt idx="185">
                  <c:v>0.0788</c:v>
                </c:pt>
                <c:pt idx="186">
                  <c:v>0.0772</c:v>
                </c:pt>
                <c:pt idx="187">
                  <c:v>0.0816</c:v>
                </c:pt>
                <c:pt idx="188">
                  <c:v>0.0842</c:v>
                </c:pt>
                <c:pt idx="189">
                  <c:v>0.0868</c:v>
                </c:pt>
                <c:pt idx="190">
                  <c:v>0.0864</c:v>
                </c:pt>
                <c:pt idx="191">
                  <c:v>0.0856</c:v>
                </c:pt>
                <c:pt idx="192">
                  <c:v>0.0792</c:v>
                </c:pt>
                <c:pt idx="193">
                  <c:v>0.0744</c:v>
                </c:pt>
                <c:pt idx="194">
                  <c:v>0.0698</c:v>
                </c:pt>
                <c:pt idx="195">
                  <c:v>0.07</c:v>
                </c:pt>
                <c:pt idx="196">
                  <c:v>0.0694</c:v>
                </c:pt>
                <c:pt idx="197">
                  <c:v>0.0696</c:v>
                </c:pt>
                <c:pt idx="198">
                  <c:v>0.0688</c:v>
                </c:pt>
                <c:pt idx="199">
                  <c:v>0.0686</c:v>
                </c:pt>
                <c:pt idx="200">
                  <c:v>0.0666</c:v>
                </c:pt>
                <c:pt idx="201">
                  <c:v>0.0652</c:v>
                </c:pt>
                <c:pt idx="202">
                  <c:v>0.0638</c:v>
                </c:pt>
                <c:pt idx="203">
                  <c:v>0.0642</c:v>
                </c:pt>
                <c:pt idx="204">
                  <c:v>0.065</c:v>
                </c:pt>
                <c:pt idx="205">
                  <c:v>0.0658</c:v>
                </c:pt>
                <c:pt idx="206">
                  <c:v>0.0684</c:v>
                </c:pt>
                <c:pt idx="207">
                  <c:v>0.0704</c:v>
                </c:pt>
                <c:pt idx="208">
                  <c:v>0.072</c:v>
                </c:pt>
                <c:pt idx="209">
                  <c:v>0.0732</c:v>
                </c:pt>
                <c:pt idx="210">
                  <c:v>0.0738</c:v>
                </c:pt>
                <c:pt idx="211">
                  <c:v>0.0732</c:v>
                </c:pt>
                <c:pt idx="212">
                  <c:v>0.0724</c:v>
                </c:pt>
                <c:pt idx="213">
                  <c:v>0.072</c:v>
                </c:pt>
                <c:pt idx="214">
                  <c:v>0.0714</c:v>
                </c:pt>
                <c:pt idx="215">
                  <c:v>0.071</c:v>
                </c:pt>
                <c:pt idx="216">
                  <c:v>0.0712</c:v>
                </c:pt>
                <c:pt idx="217">
                  <c:v>0.0716</c:v>
                </c:pt>
                <c:pt idx="218">
                  <c:v>0.0714</c:v>
                </c:pt>
                <c:pt idx="219">
                  <c:v>0.0714</c:v>
                </c:pt>
                <c:pt idx="220">
                  <c:v>0.0716</c:v>
                </c:pt>
                <c:pt idx="221">
                  <c:v>0.072</c:v>
                </c:pt>
                <c:pt idx="222">
                  <c:v>0.073</c:v>
                </c:pt>
                <c:pt idx="223">
                  <c:v>0.0742</c:v>
                </c:pt>
                <c:pt idx="224">
                  <c:v>0.0752</c:v>
                </c:pt>
                <c:pt idx="225">
                  <c:v>0.0762</c:v>
                </c:pt>
                <c:pt idx="226">
                  <c:v>0.0766</c:v>
                </c:pt>
                <c:pt idx="227">
                  <c:v>0.077</c:v>
                </c:pt>
                <c:pt idx="228">
                  <c:v>0.0772</c:v>
                </c:pt>
                <c:pt idx="229">
                  <c:v>0.0774</c:v>
                </c:pt>
                <c:pt idx="230">
                  <c:v>0.0778</c:v>
                </c:pt>
                <c:pt idx="231">
                  <c:v>0.0782</c:v>
                </c:pt>
                <c:pt idx="232">
                  <c:v>0.0778</c:v>
                </c:pt>
                <c:pt idx="233">
                  <c:v>0.0776</c:v>
                </c:pt>
                <c:pt idx="234">
                  <c:v>0.0782</c:v>
                </c:pt>
                <c:pt idx="235">
                  <c:v>0.079</c:v>
                </c:pt>
                <c:pt idx="236">
                  <c:v>0.0794</c:v>
                </c:pt>
                <c:pt idx="237">
                  <c:v>0.0796</c:v>
                </c:pt>
                <c:pt idx="238">
                  <c:v>0.0804</c:v>
                </c:pt>
                <c:pt idx="239">
                  <c:v>0.0802</c:v>
                </c:pt>
                <c:pt idx="240">
                  <c:v>0.0794</c:v>
                </c:pt>
                <c:pt idx="241">
                  <c:v>0.0788</c:v>
                </c:pt>
                <c:pt idx="242">
                  <c:v>0.0786</c:v>
                </c:pt>
                <c:pt idx="243">
                  <c:v>0.078</c:v>
                </c:pt>
                <c:pt idx="244">
                  <c:v>0.0776</c:v>
                </c:pt>
                <c:pt idx="245">
                  <c:v>0.0774</c:v>
                </c:pt>
                <c:pt idx="246">
                  <c:v>0.0772</c:v>
                </c:pt>
                <c:pt idx="247">
                  <c:v>0.077</c:v>
                </c:pt>
                <c:pt idx="248">
                  <c:v>0.0766</c:v>
                </c:pt>
                <c:pt idx="249">
                  <c:v>0.076</c:v>
                </c:pt>
                <c:pt idx="250">
                  <c:v>0.0746</c:v>
                </c:pt>
                <c:pt idx="251">
                  <c:v>0.0714</c:v>
                </c:pt>
                <c:pt idx="252">
                  <c:v>0.0668</c:v>
                </c:pt>
                <c:pt idx="253">
                  <c:v>0.0626</c:v>
                </c:pt>
                <c:pt idx="254">
                  <c:v>0.0592</c:v>
                </c:pt>
                <c:pt idx="255">
                  <c:v>0.057</c:v>
                </c:pt>
                <c:pt idx="256">
                  <c:v>0.0576</c:v>
                </c:pt>
                <c:pt idx="257">
                  <c:v>0.0602</c:v>
                </c:pt>
                <c:pt idx="258">
                  <c:v>0.063</c:v>
                </c:pt>
                <c:pt idx="259">
                  <c:v>0.066</c:v>
                </c:pt>
                <c:pt idx="260">
                  <c:v>0.069</c:v>
                </c:pt>
                <c:pt idx="261">
                  <c:v>0.0714</c:v>
                </c:pt>
                <c:pt idx="262">
                  <c:v>0.073</c:v>
                </c:pt>
                <c:pt idx="263">
                  <c:v>0.074</c:v>
                </c:pt>
                <c:pt idx="264">
                  <c:v>0.0746</c:v>
                </c:pt>
                <c:pt idx="265">
                  <c:v>0.0746</c:v>
                </c:pt>
                <c:pt idx="266">
                  <c:v>0.0742</c:v>
                </c:pt>
                <c:pt idx="267">
                  <c:v>0.0738</c:v>
                </c:pt>
                <c:pt idx="268">
                  <c:v>0.0734</c:v>
                </c:pt>
                <c:pt idx="269">
                  <c:v>0.0728</c:v>
                </c:pt>
                <c:pt idx="270">
                  <c:v>0.0728</c:v>
                </c:pt>
                <c:pt idx="271">
                  <c:v>0.0728</c:v>
                </c:pt>
                <c:pt idx="272">
                  <c:v>0.0728</c:v>
                </c:pt>
                <c:pt idx="273">
                  <c:v>0.073</c:v>
                </c:pt>
                <c:pt idx="274">
                  <c:v>0.0734</c:v>
                </c:pt>
                <c:pt idx="275">
                  <c:v>0.0734</c:v>
                </c:pt>
                <c:pt idx="276">
                  <c:v>0.0736</c:v>
                </c:pt>
                <c:pt idx="277">
                  <c:v>0.0736</c:v>
                </c:pt>
                <c:pt idx="278">
                  <c:v>0.0736</c:v>
                </c:pt>
                <c:pt idx="279">
                  <c:v>0.0736</c:v>
                </c:pt>
                <c:pt idx="280">
                  <c:v>0.0734</c:v>
                </c:pt>
                <c:pt idx="281">
                  <c:v>0.0734</c:v>
                </c:pt>
                <c:pt idx="282">
                  <c:v>0.0734</c:v>
                </c:pt>
                <c:pt idx="283">
                  <c:v>0.0734</c:v>
                </c:pt>
                <c:pt idx="284">
                  <c:v>0.0726</c:v>
                </c:pt>
                <c:pt idx="285">
                  <c:v>0.0716</c:v>
                </c:pt>
                <c:pt idx="286">
                  <c:v>0.0702</c:v>
                </c:pt>
                <c:pt idx="287">
                  <c:v>0.069</c:v>
                </c:pt>
                <c:pt idx="288">
                  <c:v>0.0678</c:v>
                </c:pt>
                <c:pt idx="289">
                  <c:v>0.0668</c:v>
                </c:pt>
                <c:pt idx="290">
                  <c:v>0.0662</c:v>
                </c:pt>
                <c:pt idx="291">
                  <c:v>0.066</c:v>
                </c:pt>
                <c:pt idx="292">
                  <c:v>0.0658</c:v>
                </c:pt>
                <c:pt idx="293">
                  <c:v>0.0656</c:v>
                </c:pt>
                <c:pt idx="294">
                  <c:v>0.066</c:v>
                </c:pt>
                <c:pt idx="295">
                  <c:v>0.0664</c:v>
                </c:pt>
                <c:pt idx="296">
                  <c:v>0.0668</c:v>
                </c:pt>
                <c:pt idx="297">
                  <c:v>0.0674</c:v>
                </c:pt>
                <c:pt idx="298">
                  <c:v>0.068</c:v>
                </c:pt>
                <c:pt idx="299">
                  <c:v>0.0684</c:v>
                </c:pt>
              </c:numCache>
            </c:numRef>
          </c:yVal>
          <c:smooth val="0"/>
        </c:ser>
        <c:ser>
          <c:idx val="1"/>
          <c:order val="1"/>
          <c:tx>
            <c:strRef>
              <c:f>Sheet1!$C$1</c:f>
              <c:strCache>
                <c:ptCount val="1"/>
                <c:pt idx="0">
                  <c:v>REINFORCE</c:v>
                </c:pt>
              </c:strCache>
            </c:strRef>
          </c:tx>
          <c:spPr>
            <a:solidFill>
              <a:srgbClr val="D1495B"/>
            </a:solidFill>
            <a:ln w="25400" cap="flat">
              <a:solidFill>
                <a:srgbClr val="D1495B"/>
              </a:solidFill>
              <a:prstDash val="solid"/>
              <a:round/>
            </a:ln>
            <a:effectLst/>
          </c:spPr>
          <c:marker>
            <c:symbol val="none"/>
            <c:size val="6"/>
            <c:spPr>
              <a:solidFill>
                <a:srgbClr val="D1495B"/>
              </a:solidFill>
              <a:ln w="9525" cap="flat">
                <a:solidFill>
                  <a:srgbClr val="D1495B"/>
                </a:solidFill>
                <a:prstDash val="solid"/>
                <a:round/>
              </a:ln>
              <a:effectLst/>
            </c:spPr>
          </c:marker>
          <c:xVal>
            <c:numRef>
              <c:f>Sheet1!$A$2:$A$301</c:f>
              <c:numCache>
                <c:formatCode>General</c:formatCode>
                <c:ptCount val="3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numCache>
            </c:numRef>
          </c:xVal>
          <c:yVal>
            <c:numRef>
              <c:f>Sheet1!$C$2:$C$301</c:f>
              <c:numCache>
                <c:formatCode>General</c:formatCode>
                <c:ptCount val="300"/>
                <c:pt idx="0">
                  <c:v>0.119</c:v>
                </c:pt>
                <c:pt idx="1">
                  <c:v>0.113</c:v>
                </c:pt>
                <c:pt idx="2">
                  <c:v>0.1123</c:v>
                </c:pt>
                <c:pt idx="3">
                  <c:v>0.119</c:v>
                </c:pt>
                <c:pt idx="4">
                  <c:v>0.1214</c:v>
                </c:pt>
                <c:pt idx="5">
                  <c:v>0.112</c:v>
                </c:pt>
                <c:pt idx="6">
                  <c:v>0.1008</c:v>
                </c:pt>
                <c:pt idx="7">
                  <c:v>0.0876</c:v>
                </c:pt>
                <c:pt idx="8">
                  <c:v>0.0682</c:v>
                </c:pt>
                <c:pt idx="9">
                  <c:v>0.0514</c:v>
                </c:pt>
                <c:pt idx="10">
                  <c:v>0.046</c:v>
                </c:pt>
                <c:pt idx="11">
                  <c:v>0.0448</c:v>
                </c:pt>
                <c:pt idx="12">
                  <c:v>0.0446</c:v>
                </c:pt>
                <c:pt idx="13">
                  <c:v>0.0452</c:v>
                </c:pt>
                <c:pt idx="14">
                  <c:v>0.0446</c:v>
                </c:pt>
                <c:pt idx="15">
                  <c:v>0.0448</c:v>
                </c:pt>
                <c:pt idx="16">
                  <c:v>0.0454</c:v>
                </c:pt>
                <c:pt idx="17">
                  <c:v>0.0458</c:v>
                </c:pt>
                <c:pt idx="18">
                  <c:v>0.0456</c:v>
                </c:pt>
                <c:pt idx="19">
                  <c:v>0.0452</c:v>
                </c:pt>
                <c:pt idx="20">
                  <c:v>0.0432</c:v>
                </c:pt>
                <c:pt idx="21">
                  <c:v>0.0418</c:v>
                </c:pt>
                <c:pt idx="22">
                  <c:v>0.0408</c:v>
                </c:pt>
                <c:pt idx="23">
                  <c:v>0.04</c:v>
                </c:pt>
                <c:pt idx="24">
                  <c:v>0.04</c:v>
                </c:pt>
                <c:pt idx="25">
                  <c:v>0.0408</c:v>
                </c:pt>
                <c:pt idx="26">
                  <c:v>0.0412</c:v>
                </c:pt>
                <c:pt idx="27">
                  <c:v>0.0422</c:v>
                </c:pt>
                <c:pt idx="28">
                  <c:v>0.0422</c:v>
                </c:pt>
                <c:pt idx="29">
                  <c:v>0.0406</c:v>
                </c:pt>
                <c:pt idx="30">
                  <c:v>0.0504</c:v>
                </c:pt>
                <c:pt idx="31">
                  <c:v>0.054</c:v>
                </c:pt>
                <c:pt idx="32">
                  <c:v>0.0546</c:v>
                </c:pt>
                <c:pt idx="33">
                  <c:v>0.0558</c:v>
                </c:pt>
                <c:pt idx="34">
                  <c:v>0.0592</c:v>
                </c:pt>
                <c:pt idx="35">
                  <c:v>0.0522</c:v>
                </c:pt>
                <c:pt idx="36">
                  <c:v>0.0506</c:v>
                </c:pt>
                <c:pt idx="37">
                  <c:v>0.0504</c:v>
                </c:pt>
                <c:pt idx="38">
                  <c:v>0.0478</c:v>
                </c:pt>
                <c:pt idx="39">
                  <c:v>0.0438</c:v>
                </c:pt>
                <c:pt idx="40">
                  <c:v>0.0396</c:v>
                </c:pt>
                <c:pt idx="41">
                  <c:v>0.0356</c:v>
                </c:pt>
                <c:pt idx="42">
                  <c:v>0.0324</c:v>
                </c:pt>
                <c:pt idx="43">
                  <c:v>0.0304</c:v>
                </c:pt>
                <c:pt idx="44">
                  <c:v>0.029</c:v>
                </c:pt>
                <c:pt idx="45">
                  <c:v>0.0274</c:v>
                </c:pt>
                <c:pt idx="46">
                  <c:v>0.0262</c:v>
                </c:pt>
                <c:pt idx="47">
                  <c:v>0.0254</c:v>
                </c:pt>
                <c:pt idx="48">
                  <c:v>0.0264</c:v>
                </c:pt>
                <c:pt idx="49">
                  <c:v>0.0274</c:v>
                </c:pt>
                <c:pt idx="50">
                  <c:v>0.0282</c:v>
                </c:pt>
                <c:pt idx="51">
                  <c:v>0.0286</c:v>
                </c:pt>
                <c:pt idx="52">
                  <c:v>0.029</c:v>
                </c:pt>
                <c:pt idx="53">
                  <c:v>0.0302</c:v>
                </c:pt>
                <c:pt idx="54">
                  <c:v>0.0322</c:v>
                </c:pt>
                <c:pt idx="55">
                  <c:v>0.0336</c:v>
                </c:pt>
                <c:pt idx="56">
                  <c:v>0.0348</c:v>
                </c:pt>
                <c:pt idx="57">
                  <c:v>0.0354</c:v>
                </c:pt>
                <c:pt idx="58">
                  <c:v>0.0352</c:v>
                </c:pt>
                <c:pt idx="59">
                  <c:v>0.0338</c:v>
                </c:pt>
                <c:pt idx="60">
                  <c:v>0.0332</c:v>
                </c:pt>
                <c:pt idx="61">
                  <c:v>0.0324</c:v>
                </c:pt>
                <c:pt idx="62">
                  <c:v>0.0324</c:v>
                </c:pt>
                <c:pt idx="63">
                  <c:v>0.034</c:v>
                </c:pt>
                <c:pt idx="64">
                  <c:v>0.0366</c:v>
                </c:pt>
                <c:pt idx="65">
                  <c:v>0.0424</c:v>
                </c:pt>
                <c:pt idx="66">
                  <c:v>0.0472</c:v>
                </c:pt>
                <c:pt idx="67">
                  <c:v>0.05</c:v>
                </c:pt>
                <c:pt idx="68">
                  <c:v>0.0502</c:v>
                </c:pt>
                <c:pt idx="69">
                  <c:v>0.0492</c:v>
                </c:pt>
                <c:pt idx="70">
                  <c:v>0.0446</c:v>
                </c:pt>
                <c:pt idx="71">
                  <c:v>0.0418</c:v>
                </c:pt>
                <c:pt idx="72">
                  <c:v>0.0412</c:v>
                </c:pt>
                <c:pt idx="73">
                  <c:v>0.0422</c:v>
                </c:pt>
                <c:pt idx="74">
                  <c:v>0.0434</c:v>
                </c:pt>
                <c:pt idx="75">
                  <c:v>0.045</c:v>
                </c:pt>
                <c:pt idx="76">
                  <c:v>0.0468</c:v>
                </c:pt>
                <c:pt idx="77">
                  <c:v>0.048</c:v>
                </c:pt>
                <c:pt idx="78">
                  <c:v>0.0478</c:v>
                </c:pt>
                <c:pt idx="79">
                  <c:v>0.0474</c:v>
                </c:pt>
                <c:pt idx="80">
                  <c:v>0.0474</c:v>
                </c:pt>
                <c:pt idx="81">
                  <c:v>0.0568</c:v>
                </c:pt>
                <c:pt idx="82">
                  <c:v>0.0654</c:v>
                </c:pt>
                <c:pt idx="83">
                  <c:v>0.0712</c:v>
                </c:pt>
                <c:pt idx="84">
                  <c:v>0.0756</c:v>
                </c:pt>
                <c:pt idx="85">
                  <c:v>0.079</c:v>
                </c:pt>
                <c:pt idx="86">
                  <c:v>0.0724</c:v>
                </c:pt>
                <c:pt idx="87">
                  <c:v>0.0666</c:v>
                </c:pt>
                <c:pt idx="88">
                  <c:v>0.065</c:v>
                </c:pt>
                <c:pt idx="89">
                  <c:v>0.0648</c:v>
                </c:pt>
                <c:pt idx="90">
                  <c:v>0.0656</c:v>
                </c:pt>
                <c:pt idx="91">
                  <c:v>0.0686</c:v>
                </c:pt>
                <c:pt idx="92">
                  <c:v>0.072</c:v>
                </c:pt>
                <c:pt idx="93">
                  <c:v>0.0726</c:v>
                </c:pt>
                <c:pt idx="94">
                  <c:v>0.0726</c:v>
                </c:pt>
                <c:pt idx="95">
                  <c:v>0.0712</c:v>
                </c:pt>
                <c:pt idx="96">
                  <c:v>0.0674</c:v>
                </c:pt>
                <c:pt idx="97">
                  <c:v>0.0624</c:v>
                </c:pt>
                <c:pt idx="98">
                  <c:v>0.058</c:v>
                </c:pt>
                <c:pt idx="99">
                  <c:v>0.0522</c:v>
                </c:pt>
                <c:pt idx="100">
                  <c:v>0.046</c:v>
                </c:pt>
                <c:pt idx="101">
                  <c:v>0.0392</c:v>
                </c:pt>
                <c:pt idx="102">
                  <c:v>0.0328</c:v>
                </c:pt>
                <c:pt idx="103">
                  <c:v>0.0276</c:v>
                </c:pt>
                <c:pt idx="104">
                  <c:v>0.0246</c:v>
                </c:pt>
                <c:pt idx="105">
                  <c:v>0.0224</c:v>
                </c:pt>
                <c:pt idx="106">
                  <c:v>0.0212</c:v>
                </c:pt>
                <c:pt idx="107">
                  <c:v>0.021</c:v>
                </c:pt>
                <c:pt idx="108">
                  <c:v>0.0216</c:v>
                </c:pt>
                <c:pt idx="109">
                  <c:v>0.0224</c:v>
                </c:pt>
                <c:pt idx="110">
                  <c:v>0.0226</c:v>
                </c:pt>
                <c:pt idx="111">
                  <c:v>0.0224</c:v>
                </c:pt>
                <c:pt idx="112">
                  <c:v>0.0216</c:v>
                </c:pt>
                <c:pt idx="113">
                  <c:v>0.0202</c:v>
                </c:pt>
                <c:pt idx="114">
                  <c:v>0.0186</c:v>
                </c:pt>
                <c:pt idx="115">
                  <c:v>0.018</c:v>
                </c:pt>
                <c:pt idx="116">
                  <c:v>0.0178</c:v>
                </c:pt>
                <c:pt idx="117">
                  <c:v>0.0176</c:v>
                </c:pt>
                <c:pt idx="118">
                  <c:v>0.0178</c:v>
                </c:pt>
                <c:pt idx="119">
                  <c:v>0.0184</c:v>
                </c:pt>
                <c:pt idx="120">
                  <c:v>0.0196</c:v>
                </c:pt>
                <c:pt idx="121">
                  <c:v>0.022</c:v>
                </c:pt>
                <c:pt idx="122">
                  <c:v>0.0256</c:v>
                </c:pt>
                <c:pt idx="123">
                  <c:v>0.0312</c:v>
                </c:pt>
                <c:pt idx="124">
                  <c:v>0.0374</c:v>
                </c:pt>
                <c:pt idx="125">
                  <c:v>0.041</c:v>
                </c:pt>
                <c:pt idx="126">
                  <c:v>0.042</c:v>
                </c:pt>
                <c:pt idx="127">
                  <c:v>0.0432</c:v>
                </c:pt>
                <c:pt idx="128">
                  <c:v>0.0412</c:v>
                </c:pt>
                <c:pt idx="129">
                  <c:v>0.04</c:v>
                </c:pt>
                <c:pt idx="130">
                  <c:v>0.0428</c:v>
                </c:pt>
                <c:pt idx="131">
                  <c:v>0.0462</c:v>
                </c:pt>
                <c:pt idx="132">
                  <c:v>0.0462</c:v>
                </c:pt>
                <c:pt idx="133">
                  <c:v>0.0504</c:v>
                </c:pt>
                <c:pt idx="134">
                  <c:v>0.0536</c:v>
                </c:pt>
                <c:pt idx="135">
                  <c:v>0.0536</c:v>
                </c:pt>
                <c:pt idx="136">
                  <c:v>0.0538</c:v>
                </c:pt>
                <c:pt idx="137">
                  <c:v>0.0578</c:v>
                </c:pt>
                <c:pt idx="138">
                  <c:v>0.0574</c:v>
                </c:pt>
                <c:pt idx="139">
                  <c:v>0.0558</c:v>
                </c:pt>
                <c:pt idx="140">
                  <c:v>0.0564</c:v>
                </c:pt>
                <c:pt idx="141">
                  <c:v>0.057</c:v>
                </c:pt>
                <c:pt idx="142">
                  <c:v>0.0542</c:v>
                </c:pt>
                <c:pt idx="143">
                  <c:v>0.052</c:v>
                </c:pt>
                <c:pt idx="144">
                  <c:v>0.0504</c:v>
                </c:pt>
                <c:pt idx="145">
                  <c:v>0.048</c:v>
                </c:pt>
                <c:pt idx="146">
                  <c:v>0.0464</c:v>
                </c:pt>
                <c:pt idx="147">
                  <c:v>0.0466</c:v>
                </c:pt>
                <c:pt idx="148">
                  <c:v>0.0482</c:v>
                </c:pt>
                <c:pt idx="149">
                  <c:v>0.0502</c:v>
                </c:pt>
                <c:pt idx="150">
                  <c:v>0.052</c:v>
                </c:pt>
                <c:pt idx="151">
                  <c:v>0.0534</c:v>
                </c:pt>
                <c:pt idx="152">
                  <c:v>0.0544</c:v>
                </c:pt>
                <c:pt idx="153">
                  <c:v>0.0544</c:v>
                </c:pt>
                <c:pt idx="154">
                  <c:v>0.0538</c:v>
                </c:pt>
                <c:pt idx="155">
                  <c:v>0.0532</c:v>
                </c:pt>
                <c:pt idx="156">
                  <c:v>0.0524</c:v>
                </c:pt>
                <c:pt idx="157">
                  <c:v>0.052</c:v>
                </c:pt>
                <c:pt idx="158">
                  <c:v>0.0518</c:v>
                </c:pt>
                <c:pt idx="159">
                  <c:v>0.0522</c:v>
                </c:pt>
                <c:pt idx="160">
                  <c:v>0.0524</c:v>
                </c:pt>
                <c:pt idx="161">
                  <c:v>0.0526</c:v>
                </c:pt>
                <c:pt idx="162">
                  <c:v>0.0528</c:v>
                </c:pt>
                <c:pt idx="163">
                  <c:v>0.053</c:v>
                </c:pt>
                <c:pt idx="164">
                  <c:v>0.0528</c:v>
                </c:pt>
                <c:pt idx="165">
                  <c:v>0.0528</c:v>
                </c:pt>
                <c:pt idx="166">
                  <c:v>0.053</c:v>
                </c:pt>
                <c:pt idx="167">
                  <c:v>0.0536</c:v>
                </c:pt>
                <c:pt idx="168">
                  <c:v>0.0572</c:v>
                </c:pt>
                <c:pt idx="169">
                  <c:v>0.0618</c:v>
                </c:pt>
                <c:pt idx="170">
                  <c:v>0.0616</c:v>
                </c:pt>
                <c:pt idx="171">
                  <c:v>0.0612</c:v>
                </c:pt>
                <c:pt idx="172">
                  <c:v>0.061</c:v>
                </c:pt>
                <c:pt idx="173">
                  <c:v>0.0582</c:v>
                </c:pt>
                <c:pt idx="174">
                  <c:v>0.0544</c:v>
                </c:pt>
                <c:pt idx="175">
                  <c:v>0.0552</c:v>
                </c:pt>
                <c:pt idx="176">
                  <c:v>0.0562</c:v>
                </c:pt>
                <c:pt idx="177">
                  <c:v>0.0562</c:v>
                </c:pt>
                <c:pt idx="178">
                  <c:v>0.0556</c:v>
                </c:pt>
                <c:pt idx="179">
                  <c:v>0.0564</c:v>
                </c:pt>
                <c:pt idx="180">
                  <c:v>0.0546</c:v>
                </c:pt>
                <c:pt idx="181">
                  <c:v>0.0502</c:v>
                </c:pt>
                <c:pt idx="182">
                  <c:v>0.047</c:v>
                </c:pt>
                <c:pt idx="183">
                  <c:v>0.0448</c:v>
                </c:pt>
                <c:pt idx="184">
                  <c:v>0.0422</c:v>
                </c:pt>
                <c:pt idx="185">
                  <c:v>0.0432</c:v>
                </c:pt>
                <c:pt idx="186">
                  <c:v>0.0476</c:v>
                </c:pt>
                <c:pt idx="187">
                  <c:v>0.0508</c:v>
                </c:pt>
                <c:pt idx="188">
                  <c:v>0.0534</c:v>
                </c:pt>
                <c:pt idx="189">
                  <c:v>0.0548</c:v>
                </c:pt>
                <c:pt idx="190">
                  <c:v>0.0556</c:v>
                </c:pt>
                <c:pt idx="191">
                  <c:v>0.0562</c:v>
                </c:pt>
                <c:pt idx="192">
                  <c:v>0.0576</c:v>
                </c:pt>
                <c:pt idx="193">
                  <c:v>0.0592</c:v>
                </c:pt>
                <c:pt idx="194">
                  <c:v>0.0604</c:v>
                </c:pt>
                <c:pt idx="195">
                  <c:v>0.0616</c:v>
                </c:pt>
                <c:pt idx="196">
                  <c:v>0.0622</c:v>
                </c:pt>
                <c:pt idx="197">
                  <c:v>0.0622</c:v>
                </c:pt>
                <c:pt idx="198">
                  <c:v>0.0622</c:v>
                </c:pt>
                <c:pt idx="199">
                  <c:v>0.0622</c:v>
                </c:pt>
                <c:pt idx="200">
                  <c:v>0.0618</c:v>
                </c:pt>
                <c:pt idx="201">
                  <c:v>0.0612</c:v>
                </c:pt>
                <c:pt idx="202">
                  <c:v>0.0604</c:v>
                </c:pt>
                <c:pt idx="203">
                  <c:v>0.0596</c:v>
                </c:pt>
                <c:pt idx="204">
                  <c:v>0.0602</c:v>
                </c:pt>
                <c:pt idx="205">
                  <c:v>0.0614</c:v>
                </c:pt>
                <c:pt idx="206">
                  <c:v>0.0628</c:v>
                </c:pt>
                <c:pt idx="207">
                  <c:v>0.0646</c:v>
                </c:pt>
                <c:pt idx="208">
                  <c:v>0.0658</c:v>
                </c:pt>
                <c:pt idx="209">
                  <c:v>0.0662</c:v>
                </c:pt>
                <c:pt idx="210">
                  <c:v>0.0658</c:v>
                </c:pt>
                <c:pt idx="211">
                  <c:v>0.065</c:v>
                </c:pt>
                <c:pt idx="212">
                  <c:v>0.0638</c:v>
                </c:pt>
                <c:pt idx="213">
                  <c:v>0.063</c:v>
                </c:pt>
                <c:pt idx="214">
                  <c:v>0.0618</c:v>
                </c:pt>
                <c:pt idx="215">
                  <c:v>0.0626</c:v>
                </c:pt>
                <c:pt idx="216">
                  <c:v>0.0642</c:v>
                </c:pt>
                <c:pt idx="217">
                  <c:v>0.0672</c:v>
                </c:pt>
                <c:pt idx="218">
                  <c:v>0.0664</c:v>
                </c:pt>
                <c:pt idx="219">
                  <c:v>0.0664</c:v>
                </c:pt>
                <c:pt idx="220">
                  <c:v>0.0646</c:v>
                </c:pt>
                <c:pt idx="221">
                  <c:v>0.0622</c:v>
                </c:pt>
                <c:pt idx="222">
                  <c:v>0.0586</c:v>
                </c:pt>
                <c:pt idx="223">
                  <c:v>0.0588</c:v>
                </c:pt>
                <c:pt idx="224">
                  <c:v>0.0586</c:v>
                </c:pt>
                <c:pt idx="225">
                  <c:v>0.0586</c:v>
                </c:pt>
                <c:pt idx="226">
                  <c:v>0.0592</c:v>
                </c:pt>
                <c:pt idx="227">
                  <c:v>0.0598</c:v>
                </c:pt>
                <c:pt idx="228">
                  <c:v>0.06</c:v>
                </c:pt>
                <c:pt idx="229">
                  <c:v>0.0602</c:v>
                </c:pt>
                <c:pt idx="230">
                  <c:v>0.06</c:v>
                </c:pt>
                <c:pt idx="231">
                  <c:v>0.0594</c:v>
                </c:pt>
                <c:pt idx="232">
                  <c:v>0.059</c:v>
                </c:pt>
                <c:pt idx="233">
                  <c:v>0.0586</c:v>
                </c:pt>
                <c:pt idx="234">
                  <c:v>0.0582</c:v>
                </c:pt>
                <c:pt idx="235">
                  <c:v>0.058</c:v>
                </c:pt>
                <c:pt idx="236">
                  <c:v>0.058</c:v>
                </c:pt>
                <c:pt idx="237">
                  <c:v>0.0576</c:v>
                </c:pt>
                <c:pt idx="238">
                  <c:v>0.0574</c:v>
                </c:pt>
                <c:pt idx="239">
                  <c:v>0.0572</c:v>
                </c:pt>
                <c:pt idx="240">
                  <c:v>0.0574</c:v>
                </c:pt>
                <c:pt idx="241">
                  <c:v>0.0576</c:v>
                </c:pt>
                <c:pt idx="242">
                  <c:v>0.0574</c:v>
                </c:pt>
                <c:pt idx="243">
                  <c:v>0.0572</c:v>
                </c:pt>
                <c:pt idx="244">
                  <c:v>0.0572</c:v>
                </c:pt>
                <c:pt idx="245">
                  <c:v>0.0568</c:v>
                </c:pt>
                <c:pt idx="246">
                  <c:v>0.0562</c:v>
                </c:pt>
                <c:pt idx="247">
                  <c:v>0.0566</c:v>
                </c:pt>
                <c:pt idx="248">
                  <c:v>0.0568</c:v>
                </c:pt>
                <c:pt idx="249">
                  <c:v>0.0568</c:v>
                </c:pt>
                <c:pt idx="250">
                  <c:v>0.0568</c:v>
                </c:pt>
                <c:pt idx="251">
                  <c:v>0.0572</c:v>
                </c:pt>
                <c:pt idx="252">
                  <c:v>0.0574</c:v>
                </c:pt>
                <c:pt idx="253">
                  <c:v>0.057</c:v>
                </c:pt>
                <c:pt idx="254">
                  <c:v>0.0568</c:v>
                </c:pt>
                <c:pt idx="255">
                  <c:v>0.0582</c:v>
                </c:pt>
                <c:pt idx="256">
                  <c:v>0.059</c:v>
                </c:pt>
                <c:pt idx="257">
                  <c:v>0.059</c:v>
                </c:pt>
                <c:pt idx="258">
                  <c:v>0.0594</c:v>
                </c:pt>
                <c:pt idx="259">
                  <c:v>0.0592</c:v>
                </c:pt>
                <c:pt idx="260">
                  <c:v>0.0576</c:v>
                </c:pt>
                <c:pt idx="261">
                  <c:v>0.0562</c:v>
                </c:pt>
                <c:pt idx="262">
                  <c:v>0.0554</c:v>
                </c:pt>
                <c:pt idx="263">
                  <c:v>0.055</c:v>
                </c:pt>
                <c:pt idx="264">
                  <c:v>0.0548</c:v>
                </c:pt>
                <c:pt idx="265">
                  <c:v>0.0544</c:v>
                </c:pt>
                <c:pt idx="266">
                  <c:v>0.0542</c:v>
                </c:pt>
                <c:pt idx="267">
                  <c:v>0.054</c:v>
                </c:pt>
                <c:pt idx="268">
                  <c:v>0.0534</c:v>
                </c:pt>
                <c:pt idx="269">
                  <c:v>0.053</c:v>
                </c:pt>
                <c:pt idx="270">
                  <c:v>0.0532</c:v>
                </c:pt>
                <c:pt idx="271">
                  <c:v>0.0532</c:v>
                </c:pt>
                <c:pt idx="272">
                  <c:v>0.053</c:v>
                </c:pt>
                <c:pt idx="273">
                  <c:v>0.0532</c:v>
                </c:pt>
                <c:pt idx="274">
                  <c:v>0.0536</c:v>
                </c:pt>
                <c:pt idx="275">
                  <c:v>0.0538</c:v>
                </c:pt>
                <c:pt idx="276">
                  <c:v>0.0536</c:v>
                </c:pt>
                <c:pt idx="277">
                  <c:v>0.0534</c:v>
                </c:pt>
                <c:pt idx="278">
                  <c:v>0.0532</c:v>
                </c:pt>
                <c:pt idx="279">
                  <c:v>0.0524</c:v>
                </c:pt>
                <c:pt idx="280">
                  <c:v>0.0514</c:v>
                </c:pt>
                <c:pt idx="281">
                  <c:v>0.0508</c:v>
                </c:pt>
                <c:pt idx="282">
                  <c:v>0.0508</c:v>
                </c:pt>
                <c:pt idx="283">
                  <c:v>0.051</c:v>
                </c:pt>
                <c:pt idx="284">
                  <c:v>0.0516</c:v>
                </c:pt>
                <c:pt idx="285">
                  <c:v>0.0528</c:v>
                </c:pt>
                <c:pt idx="286">
                  <c:v>0.054</c:v>
                </c:pt>
                <c:pt idx="287">
                  <c:v>0.0548</c:v>
                </c:pt>
                <c:pt idx="288">
                  <c:v>0.0564</c:v>
                </c:pt>
                <c:pt idx="289">
                  <c:v>0.0578</c:v>
                </c:pt>
                <c:pt idx="290">
                  <c:v>0.0582</c:v>
                </c:pt>
                <c:pt idx="291">
                  <c:v>0.0586</c:v>
                </c:pt>
                <c:pt idx="292">
                  <c:v>0.059</c:v>
                </c:pt>
                <c:pt idx="293">
                  <c:v>0.058</c:v>
                </c:pt>
                <c:pt idx="294">
                  <c:v>0.0568</c:v>
                </c:pt>
                <c:pt idx="295">
                  <c:v>0.056</c:v>
                </c:pt>
                <c:pt idx="296">
                  <c:v>0.055</c:v>
                </c:pt>
                <c:pt idx="297">
                  <c:v>0.0538</c:v>
                </c:pt>
                <c:pt idx="298">
                  <c:v>0.053</c:v>
                </c:pt>
                <c:pt idx="299">
                  <c:v>0.0524</c:v>
                </c:pt>
              </c:numCache>
            </c:numRef>
          </c:yVal>
          <c:smooth val="0"/>
        </c:ser>
        <c:ser>
          <c:idx val="2"/>
          <c:order val="2"/>
          <c:tx>
            <c:strRef>
              <c:f>Sheet1!$D$1</c:f>
              <c:strCache>
                <c:ptCount val="1"/>
                <c:pt idx="0">
                  <c:v>PPO</c:v>
                </c:pt>
              </c:strCache>
            </c:strRef>
          </c:tx>
          <c:spPr>
            <a:solidFill>
              <a:srgbClr val="0E7C86"/>
            </a:solidFill>
            <a:ln w="25400" cap="flat">
              <a:solidFill>
                <a:srgbClr val="0E7C86"/>
              </a:solidFill>
              <a:prstDash val="solid"/>
              <a:round/>
            </a:ln>
            <a:effectLst/>
          </c:spPr>
          <c:marker>
            <c:symbol val="none"/>
            <c:size val="6"/>
            <c:spPr>
              <a:solidFill>
                <a:srgbClr val="0E7C86"/>
              </a:solidFill>
              <a:ln w="9525" cap="flat">
                <a:solidFill>
                  <a:srgbClr val="0E7C86"/>
                </a:solidFill>
                <a:prstDash val="solid"/>
                <a:round/>
              </a:ln>
              <a:effectLst/>
            </c:spPr>
          </c:marker>
          <c:xVal>
            <c:numRef>
              <c:f>Sheet1!$A$2:$A$301</c:f>
              <c:numCache>
                <c:formatCode>General</c:formatCode>
                <c:ptCount val="3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numCache>
            </c:numRef>
          </c:xVal>
          <c:yVal>
            <c:numRef>
              <c:f>Sheet1!$D$2:$D$301</c:f>
              <c:numCache>
                <c:formatCode>General</c:formatCode>
                <c:ptCount val="300"/>
                <c:pt idx="0">
                  <c:v>0.116</c:v>
                </c:pt>
                <c:pt idx="1">
                  <c:v>0.1045</c:v>
                </c:pt>
                <c:pt idx="2">
                  <c:v>0.098</c:v>
                </c:pt>
                <c:pt idx="3">
                  <c:v>0.0818</c:v>
                </c:pt>
                <c:pt idx="4">
                  <c:v>0.0698</c:v>
                </c:pt>
                <c:pt idx="5">
                  <c:v>0.0504</c:v>
                </c:pt>
                <c:pt idx="6">
                  <c:v>0.0356</c:v>
                </c:pt>
                <c:pt idx="7">
                  <c:v>0.023</c:v>
                </c:pt>
                <c:pt idx="8">
                  <c:v>0.0212</c:v>
                </c:pt>
                <c:pt idx="9">
                  <c:v>0.0226</c:v>
                </c:pt>
                <c:pt idx="10">
                  <c:v>0.0254</c:v>
                </c:pt>
                <c:pt idx="11">
                  <c:v>0.0286</c:v>
                </c:pt>
                <c:pt idx="12">
                  <c:v>0.032</c:v>
                </c:pt>
                <c:pt idx="13">
                  <c:v>0.0356</c:v>
                </c:pt>
                <c:pt idx="14">
                  <c:v>0.039</c:v>
                </c:pt>
                <c:pt idx="15">
                  <c:v>0.0416</c:v>
                </c:pt>
                <c:pt idx="16">
                  <c:v>0.044</c:v>
                </c:pt>
                <c:pt idx="17">
                  <c:v>0.0456</c:v>
                </c:pt>
                <c:pt idx="18">
                  <c:v>0.0466</c:v>
                </c:pt>
                <c:pt idx="19">
                  <c:v>0.047</c:v>
                </c:pt>
                <c:pt idx="20">
                  <c:v>0.0474</c:v>
                </c:pt>
                <c:pt idx="21">
                  <c:v>0.048</c:v>
                </c:pt>
                <c:pt idx="22">
                  <c:v>0.0482</c:v>
                </c:pt>
                <c:pt idx="23">
                  <c:v>0.049</c:v>
                </c:pt>
                <c:pt idx="24">
                  <c:v>0.0504</c:v>
                </c:pt>
                <c:pt idx="25">
                  <c:v>0.0502</c:v>
                </c:pt>
                <c:pt idx="26">
                  <c:v>0.0494</c:v>
                </c:pt>
                <c:pt idx="27">
                  <c:v>0.0482</c:v>
                </c:pt>
                <c:pt idx="28">
                  <c:v>0.0462</c:v>
                </c:pt>
                <c:pt idx="29">
                  <c:v>0.0438</c:v>
                </c:pt>
                <c:pt idx="30">
                  <c:v>0.0426</c:v>
                </c:pt>
                <c:pt idx="31">
                  <c:v>0.041</c:v>
                </c:pt>
                <c:pt idx="32">
                  <c:v>0.0398</c:v>
                </c:pt>
                <c:pt idx="33">
                  <c:v>0.038</c:v>
                </c:pt>
                <c:pt idx="34">
                  <c:v>0.0362</c:v>
                </c:pt>
                <c:pt idx="35">
                  <c:v>0.0346</c:v>
                </c:pt>
                <c:pt idx="36">
                  <c:v>0.0352</c:v>
                </c:pt>
                <c:pt idx="37">
                  <c:v>0.0354</c:v>
                </c:pt>
                <c:pt idx="38">
                  <c:v>0.0362</c:v>
                </c:pt>
                <c:pt idx="39">
                  <c:v>0.0374</c:v>
                </c:pt>
                <c:pt idx="40">
                  <c:v>0.0394</c:v>
                </c:pt>
                <c:pt idx="41">
                  <c:v>0.0392</c:v>
                </c:pt>
                <c:pt idx="42">
                  <c:v>0.0392</c:v>
                </c:pt>
                <c:pt idx="43">
                  <c:v>0.0396</c:v>
                </c:pt>
                <c:pt idx="44">
                  <c:v>0.0396</c:v>
                </c:pt>
                <c:pt idx="45">
                  <c:v>0.0394</c:v>
                </c:pt>
                <c:pt idx="46">
                  <c:v>0.0396</c:v>
                </c:pt>
                <c:pt idx="47">
                  <c:v>0.0408</c:v>
                </c:pt>
                <c:pt idx="48">
                  <c:v>0.0416</c:v>
                </c:pt>
                <c:pt idx="49">
                  <c:v>0.042</c:v>
                </c:pt>
                <c:pt idx="50">
                  <c:v>0.0432</c:v>
                </c:pt>
                <c:pt idx="51">
                  <c:v>0.044</c:v>
                </c:pt>
                <c:pt idx="52">
                  <c:v>0.0448</c:v>
                </c:pt>
                <c:pt idx="53">
                  <c:v>0.0456</c:v>
                </c:pt>
                <c:pt idx="54">
                  <c:v>0.0468</c:v>
                </c:pt>
                <c:pt idx="55">
                  <c:v>0.0474</c:v>
                </c:pt>
                <c:pt idx="56">
                  <c:v>0.049</c:v>
                </c:pt>
                <c:pt idx="57">
                  <c:v>0.051</c:v>
                </c:pt>
                <c:pt idx="58">
                  <c:v>0.053</c:v>
                </c:pt>
                <c:pt idx="59">
                  <c:v>0.0534</c:v>
                </c:pt>
                <c:pt idx="60">
                  <c:v>0.0526</c:v>
                </c:pt>
                <c:pt idx="61">
                  <c:v>0.0518</c:v>
                </c:pt>
                <c:pt idx="62">
                  <c:v>0.0504</c:v>
                </c:pt>
                <c:pt idx="63">
                  <c:v>0.0502</c:v>
                </c:pt>
                <c:pt idx="64">
                  <c:v>0.0516</c:v>
                </c:pt>
                <c:pt idx="65">
                  <c:v>0.0546</c:v>
                </c:pt>
                <c:pt idx="66">
                  <c:v>0.0574</c:v>
                </c:pt>
                <c:pt idx="67">
                  <c:v>0.06</c:v>
                </c:pt>
                <c:pt idx="68">
                  <c:v>0.0618</c:v>
                </c:pt>
                <c:pt idx="69">
                  <c:v>0.0634</c:v>
                </c:pt>
                <c:pt idx="70">
                  <c:v>0.0652</c:v>
                </c:pt>
                <c:pt idx="71">
                  <c:v>0.0662</c:v>
                </c:pt>
                <c:pt idx="72">
                  <c:v>0.0668</c:v>
                </c:pt>
                <c:pt idx="73">
                  <c:v>0.0668</c:v>
                </c:pt>
                <c:pt idx="74">
                  <c:v>0.067</c:v>
                </c:pt>
                <c:pt idx="75">
                  <c:v>0.0656</c:v>
                </c:pt>
                <c:pt idx="76">
                  <c:v>0.065</c:v>
                </c:pt>
                <c:pt idx="77">
                  <c:v>0.0658</c:v>
                </c:pt>
                <c:pt idx="78">
                  <c:v>0.0676</c:v>
                </c:pt>
                <c:pt idx="79">
                  <c:v>0.0688</c:v>
                </c:pt>
                <c:pt idx="80">
                  <c:v>0.0708</c:v>
                </c:pt>
                <c:pt idx="81">
                  <c:v>0.0724</c:v>
                </c:pt>
                <c:pt idx="82">
                  <c:v>0.0734</c:v>
                </c:pt>
                <c:pt idx="83">
                  <c:v>0.0742</c:v>
                </c:pt>
                <c:pt idx="84">
                  <c:v>0.0766</c:v>
                </c:pt>
                <c:pt idx="85">
                  <c:v>0.0792</c:v>
                </c:pt>
                <c:pt idx="86">
                  <c:v>0.0818</c:v>
                </c:pt>
                <c:pt idx="87">
                  <c:v>0.0844</c:v>
                </c:pt>
                <c:pt idx="88">
                  <c:v>0.088</c:v>
                </c:pt>
                <c:pt idx="89">
                  <c:v>0.0896</c:v>
                </c:pt>
                <c:pt idx="90">
                  <c:v>0.0914</c:v>
                </c:pt>
                <c:pt idx="91">
                  <c:v>0.093</c:v>
                </c:pt>
                <c:pt idx="92">
                  <c:v>0.0946</c:v>
                </c:pt>
                <c:pt idx="93">
                  <c:v>0.0956</c:v>
                </c:pt>
                <c:pt idx="94">
                  <c:v>0.096</c:v>
                </c:pt>
                <c:pt idx="95">
                  <c:v>0.0946</c:v>
                </c:pt>
                <c:pt idx="96">
                  <c:v>0.0936</c:v>
                </c:pt>
                <c:pt idx="97">
                  <c:v>0.092</c:v>
                </c:pt>
                <c:pt idx="98">
                  <c:v>0.0898</c:v>
                </c:pt>
                <c:pt idx="99">
                  <c:v>0.089</c:v>
                </c:pt>
                <c:pt idx="100">
                  <c:v>0.0906</c:v>
                </c:pt>
                <c:pt idx="101">
                  <c:v>0.0934</c:v>
                </c:pt>
                <c:pt idx="102">
                  <c:v>0.1004</c:v>
                </c:pt>
                <c:pt idx="103">
                  <c:v>0.105</c:v>
                </c:pt>
                <c:pt idx="104">
                  <c:v>0.1078</c:v>
                </c:pt>
                <c:pt idx="105">
                  <c:v>0.1088</c:v>
                </c:pt>
                <c:pt idx="106">
                  <c:v>0.1074</c:v>
                </c:pt>
                <c:pt idx="107">
                  <c:v>0.1022</c:v>
                </c:pt>
                <c:pt idx="108">
                  <c:v>0.1002</c:v>
                </c:pt>
                <c:pt idx="109">
                  <c:v>0.0996</c:v>
                </c:pt>
                <c:pt idx="110">
                  <c:v>0.099</c:v>
                </c:pt>
                <c:pt idx="111">
                  <c:v>0.1</c:v>
                </c:pt>
                <c:pt idx="112">
                  <c:v>0.1006</c:v>
                </c:pt>
                <c:pt idx="113">
                  <c:v>0.1002</c:v>
                </c:pt>
                <c:pt idx="114">
                  <c:v>0.0998</c:v>
                </c:pt>
                <c:pt idx="115">
                  <c:v>0.0998</c:v>
                </c:pt>
                <c:pt idx="116">
                  <c:v>0.0996</c:v>
                </c:pt>
                <c:pt idx="117">
                  <c:v>0.1</c:v>
                </c:pt>
                <c:pt idx="118">
                  <c:v>0.1004</c:v>
                </c:pt>
                <c:pt idx="119">
                  <c:v>0.1014</c:v>
                </c:pt>
                <c:pt idx="120">
                  <c:v>0.1026</c:v>
                </c:pt>
                <c:pt idx="121">
                  <c:v>0.1042</c:v>
                </c:pt>
                <c:pt idx="122">
                  <c:v>0.1044</c:v>
                </c:pt>
                <c:pt idx="123">
                  <c:v>0.1052</c:v>
                </c:pt>
                <c:pt idx="124">
                  <c:v>0.1052</c:v>
                </c:pt>
                <c:pt idx="125">
                  <c:v>0.1052</c:v>
                </c:pt>
                <c:pt idx="126">
                  <c:v>0.1046</c:v>
                </c:pt>
                <c:pt idx="127">
                  <c:v>0.1048</c:v>
                </c:pt>
                <c:pt idx="128">
                  <c:v>0.1036</c:v>
                </c:pt>
                <c:pt idx="129">
                  <c:v>0.1024</c:v>
                </c:pt>
                <c:pt idx="130">
                  <c:v>0.1016</c:v>
                </c:pt>
                <c:pt idx="131">
                  <c:v>0.0996</c:v>
                </c:pt>
                <c:pt idx="132">
                  <c:v>0.0976</c:v>
                </c:pt>
                <c:pt idx="133">
                  <c:v>0.0962</c:v>
                </c:pt>
                <c:pt idx="134">
                  <c:v>0.0952</c:v>
                </c:pt>
                <c:pt idx="135">
                  <c:v>0.094</c:v>
                </c:pt>
                <c:pt idx="136">
                  <c:v>0.0938</c:v>
                </c:pt>
                <c:pt idx="137">
                  <c:v>0.0942</c:v>
                </c:pt>
                <c:pt idx="138">
                  <c:v>0.0952</c:v>
                </c:pt>
                <c:pt idx="139">
                  <c:v>0.0962</c:v>
                </c:pt>
                <c:pt idx="140">
                  <c:v>0.096</c:v>
                </c:pt>
                <c:pt idx="141">
                  <c:v>0.096</c:v>
                </c:pt>
                <c:pt idx="142">
                  <c:v>0.095</c:v>
                </c:pt>
                <c:pt idx="143">
                  <c:v>0.094</c:v>
                </c:pt>
                <c:pt idx="144">
                  <c:v>0.0926</c:v>
                </c:pt>
                <c:pt idx="145">
                  <c:v>0.0924</c:v>
                </c:pt>
                <c:pt idx="146">
                  <c:v>0.0924</c:v>
                </c:pt>
                <c:pt idx="147">
                  <c:v>0.0936</c:v>
                </c:pt>
                <c:pt idx="148">
                  <c:v>0.094</c:v>
                </c:pt>
                <c:pt idx="149">
                  <c:v>0.0942</c:v>
                </c:pt>
                <c:pt idx="150">
                  <c:v>0.0938</c:v>
                </c:pt>
                <c:pt idx="151">
                  <c:v>0.0932</c:v>
                </c:pt>
                <c:pt idx="152">
                  <c:v>0.092</c:v>
                </c:pt>
                <c:pt idx="153">
                  <c:v>0.0914</c:v>
                </c:pt>
                <c:pt idx="154">
                  <c:v>0.0914</c:v>
                </c:pt>
                <c:pt idx="155">
                  <c:v>0.0918</c:v>
                </c:pt>
                <c:pt idx="156">
                  <c:v>0.0922</c:v>
                </c:pt>
                <c:pt idx="157">
                  <c:v>0.093</c:v>
                </c:pt>
                <c:pt idx="158">
                  <c:v>0.0936</c:v>
                </c:pt>
                <c:pt idx="159">
                  <c:v>0.094</c:v>
                </c:pt>
                <c:pt idx="160">
                  <c:v>0.0944</c:v>
                </c:pt>
                <c:pt idx="161">
                  <c:v>0.0948</c:v>
                </c:pt>
                <c:pt idx="162">
                  <c:v>0.095</c:v>
                </c:pt>
                <c:pt idx="163">
                  <c:v>0.0952</c:v>
                </c:pt>
                <c:pt idx="164">
                  <c:v>0.0956</c:v>
                </c:pt>
                <c:pt idx="165">
                  <c:v>0.0962</c:v>
                </c:pt>
                <c:pt idx="166">
                  <c:v>0.0968</c:v>
                </c:pt>
                <c:pt idx="167">
                  <c:v>0.0974</c:v>
                </c:pt>
                <c:pt idx="168">
                  <c:v>0.0982</c:v>
                </c:pt>
                <c:pt idx="169">
                  <c:v>0.0992</c:v>
                </c:pt>
                <c:pt idx="170">
                  <c:v>0.0996</c:v>
                </c:pt>
                <c:pt idx="171">
                  <c:v>0.0998</c:v>
                </c:pt>
                <c:pt idx="172">
                  <c:v>0.0992</c:v>
                </c:pt>
                <c:pt idx="173">
                  <c:v>0.0984</c:v>
                </c:pt>
                <c:pt idx="174">
                  <c:v>0.0976</c:v>
                </c:pt>
                <c:pt idx="175">
                  <c:v>0.0972</c:v>
                </c:pt>
                <c:pt idx="176">
                  <c:v>0.0968</c:v>
                </c:pt>
                <c:pt idx="177">
                  <c:v>0.0968</c:v>
                </c:pt>
                <c:pt idx="178">
                  <c:v>0.0964</c:v>
                </c:pt>
                <c:pt idx="179">
                  <c:v>0.0958</c:v>
                </c:pt>
                <c:pt idx="180">
                  <c:v>0.0948</c:v>
                </c:pt>
                <c:pt idx="181">
                  <c:v>0.0944</c:v>
                </c:pt>
                <c:pt idx="182">
                  <c:v>0.094</c:v>
                </c:pt>
                <c:pt idx="183">
                  <c:v>0.0942</c:v>
                </c:pt>
                <c:pt idx="184">
                  <c:v>0.0946</c:v>
                </c:pt>
                <c:pt idx="185">
                  <c:v>0.095</c:v>
                </c:pt>
                <c:pt idx="186">
                  <c:v>0.0946</c:v>
                </c:pt>
                <c:pt idx="187">
                  <c:v>0.0946</c:v>
                </c:pt>
                <c:pt idx="188">
                  <c:v>0.0944</c:v>
                </c:pt>
                <c:pt idx="189">
                  <c:v>0.0942</c:v>
                </c:pt>
                <c:pt idx="190">
                  <c:v>0.094</c:v>
                </c:pt>
                <c:pt idx="191">
                  <c:v>0.0948</c:v>
                </c:pt>
                <c:pt idx="192">
                  <c:v>0.0948</c:v>
                </c:pt>
                <c:pt idx="193">
                  <c:v>0.0946</c:v>
                </c:pt>
                <c:pt idx="194">
                  <c:v>0.0944</c:v>
                </c:pt>
                <c:pt idx="195">
                  <c:v>0.0942</c:v>
                </c:pt>
                <c:pt idx="196">
                  <c:v>0.0936</c:v>
                </c:pt>
                <c:pt idx="197">
                  <c:v>0.0934</c:v>
                </c:pt>
                <c:pt idx="198">
                  <c:v>0.0932</c:v>
                </c:pt>
                <c:pt idx="199">
                  <c:v>0.093</c:v>
                </c:pt>
                <c:pt idx="200">
                  <c:v>0.093</c:v>
                </c:pt>
                <c:pt idx="201">
                  <c:v>0.0928</c:v>
                </c:pt>
                <c:pt idx="202">
                  <c:v>0.0928</c:v>
                </c:pt>
                <c:pt idx="203">
                  <c:v>0.0928</c:v>
                </c:pt>
                <c:pt idx="204">
                  <c:v>0.0928</c:v>
                </c:pt>
                <c:pt idx="205">
                  <c:v>0.0928</c:v>
                </c:pt>
                <c:pt idx="206">
                  <c:v>0.0928</c:v>
                </c:pt>
                <c:pt idx="207">
                  <c:v>0.0928</c:v>
                </c:pt>
                <c:pt idx="208">
                  <c:v>0.0928</c:v>
                </c:pt>
                <c:pt idx="209">
                  <c:v>0.0926</c:v>
                </c:pt>
                <c:pt idx="210">
                  <c:v>0.0926</c:v>
                </c:pt>
                <c:pt idx="211">
                  <c:v>0.0924</c:v>
                </c:pt>
                <c:pt idx="212">
                  <c:v>0.0924</c:v>
                </c:pt>
                <c:pt idx="213">
                  <c:v>0.0926</c:v>
                </c:pt>
                <c:pt idx="214">
                  <c:v>0.0926</c:v>
                </c:pt>
                <c:pt idx="215">
                  <c:v>0.0922</c:v>
                </c:pt>
                <c:pt idx="216">
                  <c:v>0.0918</c:v>
                </c:pt>
                <c:pt idx="217">
                  <c:v>0.0914</c:v>
                </c:pt>
                <c:pt idx="218">
                  <c:v>0.091</c:v>
                </c:pt>
                <c:pt idx="219">
                  <c:v>0.0906</c:v>
                </c:pt>
                <c:pt idx="220">
                  <c:v>0.0904</c:v>
                </c:pt>
                <c:pt idx="221">
                  <c:v>0.0904</c:v>
                </c:pt>
                <c:pt idx="222">
                  <c:v>0.0902</c:v>
                </c:pt>
                <c:pt idx="223">
                  <c:v>0.09</c:v>
                </c:pt>
                <c:pt idx="224">
                  <c:v>0.0898</c:v>
                </c:pt>
                <c:pt idx="225">
                  <c:v>0.0898</c:v>
                </c:pt>
                <c:pt idx="226">
                  <c:v>0.09</c:v>
                </c:pt>
                <c:pt idx="227">
                  <c:v>0.0902</c:v>
                </c:pt>
                <c:pt idx="228">
                  <c:v>0.0904</c:v>
                </c:pt>
                <c:pt idx="229">
                  <c:v>0.091</c:v>
                </c:pt>
                <c:pt idx="230">
                  <c:v>0.0912</c:v>
                </c:pt>
                <c:pt idx="231">
                  <c:v>0.0912</c:v>
                </c:pt>
                <c:pt idx="232">
                  <c:v>0.091</c:v>
                </c:pt>
                <c:pt idx="233">
                  <c:v>0.0908</c:v>
                </c:pt>
                <c:pt idx="234">
                  <c:v>0.0904</c:v>
                </c:pt>
                <c:pt idx="235">
                  <c:v>0.0902</c:v>
                </c:pt>
                <c:pt idx="236">
                  <c:v>0.09</c:v>
                </c:pt>
                <c:pt idx="237">
                  <c:v>0.09</c:v>
                </c:pt>
                <c:pt idx="238">
                  <c:v>0.09</c:v>
                </c:pt>
                <c:pt idx="239">
                  <c:v>0.0898</c:v>
                </c:pt>
                <c:pt idx="240">
                  <c:v>0.0898</c:v>
                </c:pt>
                <c:pt idx="241">
                  <c:v>0.0896</c:v>
                </c:pt>
                <c:pt idx="242">
                  <c:v>0.0894</c:v>
                </c:pt>
                <c:pt idx="243">
                  <c:v>0.0892</c:v>
                </c:pt>
                <c:pt idx="244">
                  <c:v>0.089</c:v>
                </c:pt>
                <c:pt idx="245">
                  <c:v>0.0886</c:v>
                </c:pt>
                <c:pt idx="246">
                  <c:v>0.0884</c:v>
                </c:pt>
                <c:pt idx="247">
                  <c:v>0.0882</c:v>
                </c:pt>
                <c:pt idx="248">
                  <c:v>0.088</c:v>
                </c:pt>
                <c:pt idx="249">
                  <c:v>0.088</c:v>
                </c:pt>
                <c:pt idx="250">
                  <c:v>0.088</c:v>
                </c:pt>
                <c:pt idx="251">
                  <c:v>0.0878</c:v>
                </c:pt>
                <c:pt idx="252">
                  <c:v>0.0878</c:v>
                </c:pt>
                <c:pt idx="253">
                  <c:v>0.0876</c:v>
                </c:pt>
                <c:pt idx="254">
                  <c:v>0.0874</c:v>
                </c:pt>
                <c:pt idx="255">
                  <c:v>0.0872</c:v>
                </c:pt>
                <c:pt idx="256">
                  <c:v>0.0874</c:v>
                </c:pt>
                <c:pt idx="257">
                  <c:v>0.0872</c:v>
                </c:pt>
                <c:pt idx="258">
                  <c:v>0.0872</c:v>
                </c:pt>
                <c:pt idx="259">
                  <c:v>0.0872</c:v>
                </c:pt>
                <c:pt idx="260">
                  <c:v>0.0874</c:v>
                </c:pt>
                <c:pt idx="261">
                  <c:v>0.0874</c:v>
                </c:pt>
                <c:pt idx="262">
                  <c:v>0.0876</c:v>
                </c:pt>
                <c:pt idx="263">
                  <c:v>0.088</c:v>
                </c:pt>
                <c:pt idx="264">
                  <c:v>0.0884</c:v>
                </c:pt>
                <c:pt idx="265">
                  <c:v>0.0886</c:v>
                </c:pt>
                <c:pt idx="266">
                  <c:v>0.0886</c:v>
                </c:pt>
                <c:pt idx="267">
                  <c:v>0.0888</c:v>
                </c:pt>
                <c:pt idx="268">
                  <c:v>0.0888</c:v>
                </c:pt>
                <c:pt idx="269">
                  <c:v>0.089</c:v>
                </c:pt>
                <c:pt idx="270">
                  <c:v>0.089</c:v>
                </c:pt>
                <c:pt idx="271">
                  <c:v>0.0894</c:v>
                </c:pt>
                <c:pt idx="272">
                  <c:v>0.0896</c:v>
                </c:pt>
                <c:pt idx="273">
                  <c:v>0.0898</c:v>
                </c:pt>
                <c:pt idx="274">
                  <c:v>0.0898</c:v>
                </c:pt>
                <c:pt idx="275">
                  <c:v>0.09</c:v>
                </c:pt>
                <c:pt idx="276">
                  <c:v>0.0902</c:v>
                </c:pt>
                <c:pt idx="277">
                  <c:v>0.0902</c:v>
                </c:pt>
                <c:pt idx="278">
                  <c:v>0.0902</c:v>
                </c:pt>
                <c:pt idx="279">
                  <c:v>0.09</c:v>
                </c:pt>
                <c:pt idx="280">
                  <c:v>0.09</c:v>
                </c:pt>
                <c:pt idx="281">
                  <c:v>0.0898</c:v>
                </c:pt>
                <c:pt idx="282">
                  <c:v>0.0898</c:v>
                </c:pt>
                <c:pt idx="283">
                  <c:v>0.0898</c:v>
                </c:pt>
                <c:pt idx="284">
                  <c:v>0.09</c:v>
                </c:pt>
                <c:pt idx="285">
                  <c:v>0.09</c:v>
                </c:pt>
                <c:pt idx="286">
                  <c:v>0.09</c:v>
                </c:pt>
                <c:pt idx="287">
                  <c:v>0.0898</c:v>
                </c:pt>
                <c:pt idx="288">
                  <c:v>0.0896</c:v>
                </c:pt>
                <c:pt idx="289">
                  <c:v>0.0896</c:v>
                </c:pt>
                <c:pt idx="290">
                  <c:v>0.0894</c:v>
                </c:pt>
                <c:pt idx="291">
                  <c:v>0.0894</c:v>
                </c:pt>
                <c:pt idx="292">
                  <c:v>0.0896</c:v>
                </c:pt>
                <c:pt idx="293">
                  <c:v>0.0896</c:v>
                </c:pt>
                <c:pt idx="294">
                  <c:v>0.0894</c:v>
                </c:pt>
                <c:pt idx="295">
                  <c:v>0.0894</c:v>
                </c:pt>
                <c:pt idx="296">
                  <c:v>0.0892</c:v>
                </c:pt>
                <c:pt idx="297">
                  <c:v>0.089</c:v>
                </c:pt>
                <c:pt idx="298">
                  <c:v>0.089</c:v>
                </c:pt>
                <c:pt idx="299">
                  <c:v>0.089</c:v>
                </c:pt>
              </c:numCache>
            </c:numRef>
          </c:yVal>
          <c:smooth val="0"/>
        </c:ser>
        <c:dLbls>
          <c:numFmt formatCode="General" sourceLinked="0"/>
          <c:txPr>
            <a:bodyPr/>
            <a:lstStyle/>
            <a:p>
              <a:pPr>
                <a:defRPr b="0" i="0" strike="noStrike" sz="1100" u="none">
                  <a:solidFill>
                    <a:srgbClr val="1B2A2F"/>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300"/>
          <c:min val="0"/>
        </c:scaling>
        <c:delete val="0"/>
        <c:axPos val="b"/>
        <c:title>
          <c:tx>
            <c:rich>
              <a:bodyPr/>
              <a:lstStyle/>
              <a:p>
                <a:pPr>
                  <a:defRPr sz="1200" b="0" i="0" u="none" strike="noStrike">
                    <a:solidFill>
                      <a:srgbClr val="5B6B70"/>
                    </a:solidFill>
                    <a:latin typeface="+mn-lt"/>
                  </a:defRPr>
                </a:pPr>
                <a:r>
                  <a:rPr sz="1200" b="0" i="0" u="none" strike="noStrike">
                    <a:solidFill>
                      <a:srgbClr val="5B6B70"/>
                    </a:solidFill>
                    <a:latin typeface="+mn-lt"/>
                  </a:rPr>
                  <a:t>Epoch</a:t>
                </a:r>
              </a:p>
            </c:rich>
          </c:tx>
          <c:layout/>
          <c:overlay val="0"/>
        </c:title>
        <c:numFmt formatCode="0" sourceLinked="0"/>
        <c:majorTickMark val="none"/>
        <c:minorTickMark val="none"/>
        <c:tickLblPos val="low"/>
        <c:spPr>
          <a:ln w="12700" cap="flat">
            <a:solidFill>
              <a:srgbClr val="888888"/>
            </a:solidFill>
            <a:prstDash val="solid"/>
            <a:round/>
          </a:ln>
        </c:spPr>
        <c:txPr>
          <a:bodyPr/>
          <a:lstStyle/>
          <a:p>
            <a:pPr>
              <a:defRPr sz="1200" b="0" i="0" u="none" strike="noStrike">
                <a:solidFill>
                  <a:srgbClr val="5B6B70"/>
                </a:solidFill>
                <a:latin typeface="+mn-lt"/>
              </a:defRPr>
            </a:pPr>
            <a:endParaRPr lang="en-US"/>
          </a:p>
        </c:txPr>
        <c:crossAx val="2094734552"/>
        <c:crosses val="autoZero"/>
        <c:auto val="1"/>
        <c:lblAlgn val="ctr"/>
        <c:noMultiLvlLbl val="1"/>
        <c:majorUnit val="50"/>
      </c:valAx>
      <c:valAx>
        <c:axId val="2094734552"/>
        <c:scaling>
          <c:orientation val="minMax"/>
          <c:max val="0.2"/>
          <c:min val="0"/>
        </c:scaling>
        <c:delete val="0"/>
        <c:axPos val="l"/>
        <c:majorGridlines>
          <c:spPr>
            <a:ln w="9525" cap="flat">
              <a:solidFill>
                <a:srgbClr val="DDE5E7"/>
              </a:solidFill>
              <a:prstDash val="solid"/>
              <a:round/>
            </a:ln>
          </c:spPr>
        </c:majorGridlines>
        <c:title>
          <c:tx>
            <c:rich>
              <a:bodyPr/>
              <a:lstStyle/>
              <a:p>
                <a:pPr>
                  <a:defRPr sz="1200" b="0" i="0" u="none" strike="noStrike">
                    <a:solidFill>
                      <a:srgbClr val="5B6B70"/>
                    </a:solidFill>
                    <a:latin typeface="+mn-lt"/>
                  </a:defRPr>
                </a:pPr>
                <a:r>
                  <a:rPr sz="1200" b="0" i="0" u="none" strike="noStrike">
                    <a:solidFill>
                      <a:srgbClr val="5B6B70"/>
                    </a:solidFill>
                    <a:latin typeface="+mn-lt"/>
                  </a:rPr>
                  <a:t>Pretraining loss</a:t>
                </a:r>
              </a:p>
            </c:rich>
          </c:tx>
          <c:layout/>
          <c:overlay val="0"/>
        </c:title>
        <c:numFmt formatCode="0.0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6B70"/>
                </a:solidFill>
                <a:latin typeface="+mn-lt"/>
              </a:defRPr>
            </a:pPr>
            <a:endParaRPr lang="en-US"/>
          </a:p>
        </c:txPr>
        <c:crossAx val="2094734554"/>
        <c:crosses val="autoZero"/>
        <c:crossBetween val="midCat"/>
        <c:majorUnit val="0.05"/>
      </c:valAx>
      <c:spPr>
        <a:noFill/>
        <a:ln>
          <a:noFill/>
        </a:ln>
        <a:effectLst/>
      </c:spPr>
    </c:plotArea>
    <c:legend>
      <c:legendPos val="b"/>
      <c:overlay val="0"/>
      <c:txPr>
        <a:bodyPr/>
        <a:lstStyle/>
        <a:p>
          <a:pPr>
            <a:defRPr sz="1200">
              <a:solidFill>
                <a:srgbClr val="5B6B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2F"/>
                </a:solidFill>
                <a:latin typeface="+mn-lt"/>
              </a:defRPr>
            </a:pPr>
            <a:r>
              <a:rPr sz="1400" b="0" i="0" u="none" strike="noStrike">
                <a:solidFill>
                  <a:srgbClr val="1B2A2F"/>
                </a:solidFill>
                <a:latin typeface="+mn-lt"/>
              </a:rPr>
              <a:t>REINFORCE: learned weight on the motion map</a:t>
            </a:r>
          </a:p>
        </c:rich>
      </c:tx>
      <c:layout/>
      <c:overlay val="0"/>
    </c:title>
    <c:autoTitleDeleted val="0"/>
    <c:plotArea>
      <c:layout/>
      <c:scatterChart>
        <c:scatterStyle val="lineMarker"/>
        <c:varyColors val="0"/>
        <c:ser>
          <c:idx val="0"/>
          <c:order val="0"/>
          <c:tx>
            <c:strRef>
              <c:f>Sheet1!$B$1</c:f>
              <c:strCache>
                <c:ptCount val="1"/>
                <c:pt idx="0">
                  <c:v>Motion weight</c:v>
                </c:pt>
              </c:strCache>
            </c:strRef>
          </c:tx>
          <c:spPr>
            <a:solidFill>
              <a:srgbClr val="D1495B"/>
            </a:solidFill>
            <a:ln w="25400" cap="flat">
              <a:solidFill>
                <a:srgbClr val="D1495B"/>
              </a:solidFill>
              <a:prstDash val="solid"/>
              <a:round/>
            </a:ln>
            <a:effectLst/>
          </c:spPr>
          <c:marker>
            <c:symbol val="none"/>
            <c:size val="6"/>
            <c:spPr>
              <a:solidFill>
                <a:srgbClr val="D1495B"/>
              </a:solidFill>
              <a:ln w="9525" cap="flat">
                <a:solidFill>
                  <a:srgbClr val="D1495B"/>
                </a:solidFill>
                <a:prstDash val="solid"/>
                <a:round/>
              </a:ln>
              <a:effectLst/>
            </c:spPr>
          </c:marker>
          <c:xVal>
            <c:numRef>
              <c:f>Sheet1!$A$2:$A$301</c:f>
              <c:numCache>
                <c:formatCode>General</c:formatCode>
                <c:ptCount val="3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numCache>
            </c:numRef>
          </c:xVal>
          <c:yVal>
            <c:numRef>
              <c:f>Sheet1!$B$2:$B$301</c:f>
              <c:numCache>
                <c:formatCode>General</c:formatCode>
                <c:ptCount val="300"/>
                <c:pt idx="0">
                  <c:v>0.993</c:v>
                </c:pt>
                <c:pt idx="1">
                  <c:v>0.9719</c:v>
                </c:pt>
                <c:pt idx="2">
                  <c:v>0.9557</c:v>
                </c:pt>
                <c:pt idx="3">
                  <c:v>0.9348</c:v>
                </c:pt>
                <c:pt idx="4">
                  <c:v>0.9209</c:v>
                </c:pt>
                <c:pt idx="5">
                  <c:v>0.912</c:v>
                </c:pt>
                <c:pt idx="6">
                  <c:v>0.9058</c:v>
                </c:pt>
                <c:pt idx="7">
                  <c:v>0.8985</c:v>
                </c:pt>
                <c:pt idx="8">
                  <c:v>0.8889</c:v>
                </c:pt>
                <c:pt idx="9">
                  <c:v>0.8766</c:v>
                </c:pt>
                <c:pt idx="10">
                  <c:v>0.8636</c:v>
                </c:pt>
                <c:pt idx="11">
                  <c:v>0.8479</c:v>
                </c:pt>
                <c:pt idx="12">
                  <c:v>0.8303</c:v>
                </c:pt>
                <c:pt idx="13">
                  <c:v>0.8105</c:v>
                </c:pt>
                <c:pt idx="14">
                  <c:v>0.7888</c:v>
                </c:pt>
                <c:pt idx="15">
                  <c:v>0.765</c:v>
                </c:pt>
                <c:pt idx="16">
                  <c:v>0.7389</c:v>
                </c:pt>
                <c:pt idx="17">
                  <c:v>0.7133</c:v>
                </c:pt>
                <c:pt idx="18">
                  <c:v>0.6871</c:v>
                </c:pt>
                <c:pt idx="19">
                  <c:v>0.6624</c:v>
                </c:pt>
                <c:pt idx="20">
                  <c:v>0.636</c:v>
                </c:pt>
                <c:pt idx="21">
                  <c:v>0.6114</c:v>
                </c:pt>
                <c:pt idx="22">
                  <c:v>0.5881</c:v>
                </c:pt>
                <c:pt idx="23">
                  <c:v>0.5634</c:v>
                </c:pt>
                <c:pt idx="24">
                  <c:v>0.5413</c:v>
                </c:pt>
                <c:pt idx="25">
                  <c:v>0.5213</c:v>
                </c:pt>
                <c:pt idx="26">
                  <c:v>0.4991</c:v>
                </c:pt>
                <c:pt idx="27">
                  <c:v>0.4813</c:v>
                </c:pt>
                <c:pt idx="28">
                  <c:v>0.4615</c:v>
                </c:pt>
                <c:pt idx="29">
                  <c:v>0.4432</c:v>
                </c:pt>
                <c:pt idx="30">
                  <c:v>0.4195</c:v>
                </c:pt>
                <c:pt idx="31">
                  <c:v>0.4027</c:v>
                </c:pt>
                <c:pt idx="32">
                  <c:v>0.3907</c:v>
                </c:pt>
                <c:pt idx="33">
                  <c:v>0.3843</c:v>
                </c:pt>
                <c:pt idx="34">
                  <c:v>0.3699</c:v>
                </c:pt>
                <c:pt idx="35">
                  <c:v>0.3574</c:v>
                </c:pt>
                <c:pt idx="36">
                  <c:v>0.3465</c:v>
                </c:pt>
                <c:pt idx="37">
                  <c:v>0.3396</c:v>
                </c:pt>
                <c:pt idx="38">
                  <c:v>0.3329</c:v>
                </c:pt>
                <c:pt idx="39">
                  <c:v>0.3244</c:v>
                </c:pt>
                <c:pt idx="40">
                  <c:v>0.313</c:v>
                </c:pt>
                <c:pt idx="41">
                  <c:v>0.3002</c:v>
                </c:pt>
                <c:pt idx="42">
                  <c:v>0.284</c:v>
                </c:pt>
                <c:pt idx="43">
                  <c:v>0.2689</c:v>
                </c:pt>
                <c:pt idx="44">
                  <c:v>0.2535</c:v>
                </c:pt>
                <c:pt idx="45">
                  <c:v>0.2382</c:v>
                </c:pt>
                <c:pt idx="46">
                  <c:v>0.2221</c:v>
                </c:pt>
                <c:pt idx="47">
                  <c:v>0.2109</c:v>
                </c:pt>
                <c:pt idx="48">
                  <c:v>0.1979</c:v>
                </c:pt>
                <c:pt idx="49">
                  <c:v>0.1844</c:v>
                </c:pt>
                <c:pt idx="50">
                  <c:v>0.174</c:v>
                </c:pt>
                <c:pt idx="51">
                  <c:v>0.1611</c:v>
                </c:pt>
                <c:pt idx="52">
                  <c:v>0.1499</c:v>
                </c:pt>
                <c:pt idx="53">
                  <c:v>0.1392</c:v>
                </c:pt>
                <c:pt idx="54">
                  <c:v>0.1258</c:v>
                </c:pt>
                <c:pt idx="55">
                  <c:v>0.1129</c:v>
                </c:pt>
                <c:pt idx="56">
                  <c:v>0.1048</c:v>
                </c:pt>
                <c:pt idx="57">
                  <c:v>0.0972</c:v>
                </c:pt>
                <c:pt idx="58">
                  <c:v>0.0899</c:v>
                </c:pt>
                <c:pt idx="59">
                  <c:v>0.0842</c:v>
                </c:pt>
                <c:pt idx="60">
                  <c:v>0.0797</c:v>
                </c:pt>
                <c:pt idx="61">
                  <c:v>0.0762</c:v>
                </c:pt>
                <c:pt idx="62">
                  <c:v>0.0721</c:v>
                </c:pt>
                <c:pt idx="63">
                  <c:v>0.0654</c:v>
                </c:pt>
                <c:pt idx="64">
                  <c:v>0.0566</c:v>
                </c:pt>
                <c:pt idx="65">
                  <c:v>0.0519</c:v>
                </c:pt>
                <c:pt idx="66">
                  <c:v>0.0437</c:v>
                </c:pt>
                <c:pt idx="67">
                  <c:v>0.0392</c:v>
                </c:pt>
                <c:pt idx="68">
                  <c:v>0.0354</c:v>
                </c:pt>
                <c:pt idx="69">
                  <c:v>0.0307</c:v>
                </c:pt>
                <c:pt idx="70">
                  <c:v>0.0257</c:v>
                </c:pt>
                <c:pt idx="71">
                  <c:v>0.0208</c:v>
                </c:pt>
                <c:pt idx="72">
                  <c:v>0.0187</c:v>
                </c:pt>
                <c:pt idx="73">
                  <c:v>0.0188</c:v>
                </c:pt>
                <c:pt idx="74">
                  <c:v>0.02</c:v>
                </c:pt>
                <c:pt idx="75">
                  <c:v>0.0198</c:v>
                </c:pt>
                <c:pt idx="76">
                  <c:v>0.0133</c:v>
                </c:pt>
                <c:pt idx="77">
                  <c:v>0.0136</c:v>
                </c:pt>
                <c:pt idx="78">
                  <c:v>0.008</c:v>
                </c:pt>
                <c:pt idx="79">
                  <c:v>0.0047</c:v>
                </c:pt>
                <c:pt idx="80">
                  <c:v>0.0047</c:v>
                </c:pt>
                <c:pt idx="81">
                  <c:v>-0.0037</c:v>
                </c:pt>
                <c:pt idx="82">
                  <c:v>-0.0136</c:v>
                </c:pt>
                <c:pt idx="83">
                  <c:v>-0.0089</c:v>
                </c:pt>
                <c:pt idx="84">
                  <c:v>-0.0083</c:v>
                </c:pt>
                <c:pt idx="85">
                  <c:v>-0.0109</c:v>
                </c:pt>
                <c:pt idx="86">
                  <c:v>-0.0161</c:v>
                </c:pt>
                <c:pt idx="87">
                  <c:v>-0.0165</c:v>
                </c:pt>
                <c:pt idx="88">
                  <c:v>-0.0171</c:v>
                </c:pt>
                <c:pt idx="89">
                  <c:v>-0.0238</c:v>
                </c:pt>
                <c:pt idx="90">
                  <c:v>-0.0232</c:v>
                </c:pt>
                <c:pt idx="91">
                  <c:v>-0.0231</c:v>
                </c:pt>
                <c:pt idx="92">
                  <c:v>-0.0174</c:v>
                </c:pt>
                <c:pt idx="93">
                  <c:v>-0.0114</c:v>
                </c:pt>
                <c:pt idx="94">
                  <c:v>-0.0093</c:v>
                </c:pt>
                <c:pt idx="95">
                  <c:v>-0.007</c:v>
                </c:pt>
                <c:pt idx="96">
                  <c:v>-0.0119</c:v>
                </c:pt>
                <c:pt idx="97">
                  <c:v>-0.0146</c:v>
                </c:pt>
                <c:pt idx="98">
                  <c:v>-0.0131</c:v>
                </c:pt>
                <c:pt idx="99">
                  <c:v>-0.0135</c:v>
                </c:pt>
                <c:pt idx="100">
                  <c:v>-0.0145</c:v>
                </c:pt>
                <c:pt idx="101">
                  <c:v>-0.0151</c:v>
                </c:pt>
                <c:pt idx="102">
                  <c:v>-0.015</c:v>
                </c:pt>
                <c:pt idx="103">
                  <c:v>-0.0147</c:v>
                </c:pt>
                <c:pt idx="104">
                  <c:v>-0.0156</c:v>
                </c:pt>
                <c:pt idx="105">
                  <c:v>-0.0164</c:v>
                </c:pt>
                <c:pt idx="106">
                  <c:v>-0.0166</c:v>
                </c:pt>
                <c:pt idx="107">
                  <c:v>-0.0181</c:v>
                </c:pt>
                <c:pt idx="108">
                  <c:v>-0.0205</c:v>
                </c:pt>
                <c:pt idx="109">
                  <c:v>-0.0193</c:v>
                </c:pt>
                <c:pt idx="110">
                  <c:v>-0.0179</c:v>
                </c:pt>
                <c:pt idx="111">
                  <c:v>-0.0163</c:v>
                </c:pt>
                <c:pt idx="112">
                  <c:v>-0.0152</c:v>
                </c:pt>
                <c:pt idx="113">
                  <c:v>-0.0154</c:v>
                </c:pt>
                <c:pt idx="114">
                  <c:v>-0.0163</c:v>
                </c:pt>
                <c:pt idx="115">
                  <c:v>-0.0175</c:v>
                </c:pt>
                <c:pt idx="116">
                  <c:v>-0.02</c:v>
                </c:pt>
                <c:pt idx="117">
                  <c:v>-0.0208</c:v>
                </c:pt>
                <c:pt idx="118">
                  <c:v>-0.0211</c:v>
                </c:pt>
                <c:pt idx="119">
                  <c:v>-0.024</c:v>
                </c:pt>
                <c:pt idx="120">
                  <c:v>-0.0253</c:v>
                </c:pt>
                <c:pt idx="121">
                  <c:v>-0.0244</c:v>
                </c:pt>
                <c:pt idx="122">
                  <c:v>-0.0256</c:v>
                </c:pt>
                <c:pt idx="123">
                  <c:v>-0.0347</c:v>
                </c:pt>
                <c:pt idx="124">
                  <c:v>-0.0456</c:v>
                </c:pt>
                <c:pt idx="125">
                  <c:v>-0.0435</c:v>
                </c:pt>
                <c:pt idx="126">
                  <c:v>-0.0436</c:v>
                </c:pt>
                <c:pt idx="127">
                  <c:v>-0.0465</c:v>
                </c:pt>
                <c:pt idx="128">
                  <c:v>-0.0465</c:v>
                </c:pt>
                <c:pt idx="129">
                  <c:v>-0.0498</c:v>
                </c:pt>
                <c:pt idx="130">
                  <c:v>-0.0516</c:v>
                </c:pt>
                <c:pt idx="131">
                  <c:v>-0.0468</c:v>
                </c:pt>
                <c:pt idx="132">
                  <c:v>-0.0442</c:v>
                </c:pt>
                <c:pt idx="133">
                  <c:v>-0.045</c:v>
                </c:pt>
                <c:pt idx="134">
                  <c:v>-0.0432</c:v>
                </c:pt>
                <c:pt idx="135">
                  <c:v>-0.0415</c:v>
                </c:pt>
                <c:pt idx="136">
                  <c:v>-0.0429</c:v>
                </c:pt>
                <c:pt idx="137">
                  <c:v>-0.045</c:v>
                </c:pt>
                <c:pt idx="138">
                  <c:v>-0.0467</c:v>
                </c:pt>
                <c:pt idx="139">
                  <c:v>-0.048</c:v>
                </c:pt>
                <c:pt idx="140">
                  <c:v>-0.0478</c:v>
                </c:pt>
                <c:pt idx="141">
                  <c:v>-0.0466</c:v>
                </c:pt>
                <c:pt idx="142">
                  <c:v>-0.0469</c:v>
                </c:pt>
                <c:pt idx="143">
                  <c:v>-0.0489</c:v>
                </c:pt>
                <c:pt idx="144">
                  <c:v>-0.0488</c:v>
                </c:pt>
                <c:pt idx="145">
                  <c:v>-0.0514</c:v>
                </c:pt>
                <c:pt idx="146">
                  <c:v>-0.0524</c:v>
                </c:pt>
                <c:pt idx="147">
                  <c:v>-0.0527</c:v>
                </c:pt>
                <c:pt idx="148">
                  <c:v>-0.0542</c:v>
                </c:pt>
                <c:pt idx="149">
                  <c:v>-0.0591</c:v>
                </c:pt>
                <c:pt idx="150">
                  <c:v>-0.0643</c:v>
                </c:pt>
                <c:pt idx="151">
                  <c:v>-0.0706</c:v>
                </c:pt>
                <c:pt idx="152">
                  <c:v>-0.0773</c:v>
                </c:pt>
                <c:pt idx="153">
                  <c:v>-0.0789</c:v>
                </c:pt>
                <c:pt idx="154">
                  <c:v>-0.0821</c:v>
                </c:pt>
                <c:pt idx="155">
                  <c:v>-0.0881</c:v>
                </c:pt>
                <c:pt idx="156">
                  <c:v>-0.0899</c:v>
                </c:pt>
                <c:pt idx="157">
                  <c:v>-0.0881</c:v>
                </c:pt>
                <c:pt idx="158">
                  <c:v>-0.0895</c:v>
                </c:pt>
                <c:pt idx="159">
                  <c:v>-0.0892</c:v>
                </c:pt>
                <c:pt idx="160">
                  <c:v>-0.0936</c:v>
                </c:pt>
                <c:pt idx="161">
                  <c:v>-0.0953</c:v>
                </c:pt>
                <c:pt idx="162">
                  <c:v>-0.0983</c:v>
                </c:pt>
                <c:pt idx="163">
                  <c:v>-0.1039</c:v>
                </c:pt>
                <c:pt idx="164">
                  <c:v>-0.103</c:v>
                </c:pt>
                <c:pt idx="165">
                  <c:v>-0.1045</c:v>
                </c:pt>
                <c:pt idx="166">
                  <c:v>-0.1056</c:v>
                </c:pt>
                <c:pt idx="167">
                  <c:v>-0.1065</c:v>
                </c:pt>
                <c:pt idx="168">
                  <c:v>-0.1096</c:v>
                </c:pt>
                <c:pt idx="169">
                  <c:v>-0.1168</c:v>
                </c:pt>
                <c:pt idx="170">
                  <c:v>-0.1213</c:v>
                </c:pt>
                <c:pt idx="171">
                  <c:v>-0.1236</c:v>
                </c:pt>
                <c:pt idx="172">
                  <c:v>-0.123</c:v>
                </c:pt>
                <c:pt idx="173">
                  <c:v>-0.1242</c:v>
                </c:pt>
                <c:pt idx="174">
                  <c:v>-0.1255</c:v>
                </c:pt>
                <c:pt idx="175">
                  <c:v>-0.131</c:v>
                </c:pt>
                <c:pt idx="176">
                  <c:v>-0.132</c:v>
                </c:pt>
                <c:pt idx="177">
                  <c:v>-0.1371</c:v>
                </c:pt>
                <c:pt idx="178">
                  <c:v>-0.1393</c:v>
                </c:pt>
                <c:pt idx="179">
                  <c:v>-0.1387</c:v>
                </c:pt>
                <c:pt idx="180">
                  <c:v>-0.1403</c:v>
                </c:pt>
                <c:pt idx="181">
                  <c:v>-0.1398</c:v>
                </c:pt>
                <c:pt idx="182">
                  <c:v>-0.1377</c:v>
                </c:pt>
                <c:pt idx="183">
                  <c:v>-0.1367</c:v>
                </c:pt>
                <c:pt idx="184">
                  <c:v>-0.1417</c:v>
                </c:pt>
                <c:pt idx="185">
                  <c:v>-0.1462</c:v>
                </c:pt>
                <c:pt idx="186">
                  <c:v>-0.1485</c:v>
                </c:pt>
                <c:pt idx="187">
                  <c:v>-0.1485</c:v>
                </c:pt>
                <c:pt idx="188">
                  <c:v>-0.15</c:v>
                </c:pt>
                <c:pt idx="189">
                  <c:v>-0.1552</c:v>
                </c:pt>
                <c:pt idx="190">
                  <c:v>-0.1577</c:v>
                </c:pt>
                <c:pt idx="191">
                  <c:v>-0.1607</c:v>
                </c:pt>
                <c:pt idx="192">
                  <c:v>-0.1676</c:v>
                </c:pt>
                <c:pt idx="193">
                  <c:v>-0.1788</c:v>
                </c:pt>
                <c:pt idx="194">
                  <c:v>-0.1866</c:v>
                </c:pt>
                <c:pt idx="195">
                  <c:v>-0.1878</c:v>
                </c:pt>
                <c:pt idx="196">
                  <c:v>-0.1895</c:v>
                </c:pt>
                <c:pt idx="197">
                  <c:v>-0.1916</c:v>
                </c:pt>
                <c:pt idx="198">
                  <c:v>-0.1936</c:v>
                </c:pt>
                <c:pt idx="199">
                  <c:v>-0.1978</c:v>
                </c:pt>
                <c:pt idx="200">
                  <c:v>-0.1996</c:v>
                </c:pt>
                <c:pt idx="201">
                  <c:v>-0.2027</c:v>
                </c:pt>
                <c:pt idx="202">
                  <c:v>-0.2059</c:v>
                </c:pt>
                <c:pt idx="203">
                  <c:v>-0.2081</c:v>
                </c:pt>
                <c:pt idx="204">
                  <c:v>-0.2117</c:v>
                </c:pt>
                <c:pt idx="205">
                  <c:v>-0.2179</c:v>
                </c:pt>
                <c:pt idx="206">
                  <c:v>-0.2247</c:v>
                </c:pt>
                <c:pt idx="207">
                  <c:v>-0.2252</c:v>
                </c:pt>
                <c:pt idx="208">
                  <c:v>-0.2257</c:v>
                </c:pt>
                <c:pt idx="209">
                  <c:v>-0.2263</c:v>
                </c:pt>
                <c:pt idx="210">
                  <c:v>-0.2297</c:v>
                </c:pt>
                <c:pt idx="211">
                  <c:v>-0.2331</c:v>
                </c:pt>
                <c:pt idx="212">
                  <c:v>-0.237</c:v>
                </c:pt>
                <c:pt idx="213">
                  <c:v>-0.2386</c:v>
                </c:pt>
                <c:pt idx="214">
                  <c:v>-0.2402</c:v>
                </c:pt>
                <c:pt idx="215">
                  <c:v>-0.2442</c:v>
                </c:pt>
                <c:pt idx="216">
                  <c:v>-0.2453</c:v>
                </c:pt>
                <c:pt idx="217">
                  <c:v>-0.2461</c:v>
                </c:pt>
                <c:pt idx="218">
                  <c:v>-0.247</c:v>
                </c:pt>
                <c:pt idx="219">
                  <c:v>-0.2452</c:v>
                </c:pt>
                <c:pt idx="220">
                  <c:v>-0.2443</c:v>
                </c:pt>
                <c:pt idx="221">
                  <c:v>-0.2461</c:v>
                </c:pt>
                <c:pt idx="222">
                  <c:v>-0.248</c:v>
                </c:pt>
                <c:pt idx="223">
                  <c:v>-0.2491</c:v>
                </c:pt>
                <c:pt idx="224">
                  <c:v>-0.2515</c:v>
                </c:pt>
                <c:pt idx="225">
                  <c:v>-0.255</c:v>
                </c:pt>
                <c:pt idx="226">
                  <c:v>-0.258</c:v>
                </c:pt>
                <c:pt idx="227">
                  <c:v>-0.2596</c:v>
                </c:pt>
                <c:pt idx="228">
                  <c:v>-0.2593</c:v>
                </c:pt>
                <c:pt idx="229">
                  <c:v>-0.2587</c:v>
                </c:pt>
                <c:pt idx="230">
                  <c:v>-0.2597</c:v>
                </c:pt>
                <c:pt idx="231">
                  <c:v>-0.2614</c:v>
                </c:pt>
                <c:pt idx="232">
                  <c:v>-0.2599</c:v>
                </c:pt>
                <c:pt idx="233">
                  <c:v>-0.2619</c:v>
                </c:pt>
                <c:pt idx="234">
                  <c:v>-0.2602</c:v>
                </c:pt>
                <c:pt idx="235">
                  <c:v>-0.2608</c:v>
                </c:pt>
                <c:pt idx="236">
                  <c:v>-0.2638</c:v>
                </c:pt>
                <c:pt idx="237">
                  <c:v>-0.2656</c:v>
                </c:pt>
                <c:pt idx="238">
                  <c:v>-0.2687</c:v>
                </c:pt>
                <c:pt idx="239">
                  <c:v>-0.2672</c:v>
                </c:pt>
                <c:pt idx="240">
                  <c:v>-0.2659</c:v>
                </c:pt>
                <c:pt idx="241">
                  <c:v>-0.2657</c:v>
                </c:pt>
                <c:pt idx="242">
                  <c:v>-0.2682</c:v>
                </c:pt>
                <c:pt idx="243">
                  <c:v>-0.2684</c:v>
                </c:pt>
                <c:pt idx="244">
                  <c:v>-0.2694</c:v>
                </c:pt>
                <c:pt idx="245">
                  <c:v>-0.2697</c:v>
                </c:pt>
                <c:pt idx="246">
                  <c:v>-0.272</c:v>
                </c:pt>
                <c:pt idx="247">
                  <c:v>-0.2722</c:v>
                </c:pt>
                <c:pt idx="248">
                  <c:v>-0.2733</c:v>
                </c:pt>
                <c:pt idx="249">
                  <c:v>-0.2742</c:v>
                </c:pt>
                <c:pt idx="250">
                  <c:v>-0.2741</c:v>
                </c:pt>
                <c:pt idx="251">
                  <c:v>-0.2708</c:v>
                </c:pt>
                <c:pt idx="252">
                  <c:v>-0.2719</c:v>
                </c:pt>
                <c:pt idx="253">
                  <c:v>-0.2674</c:v>
                </c:pt>
                <c:pt idx="254">
                  <c:v>-0.2643</c:v>
                </c:pt>
                <c:pt idx="255">
                  <c:v>-0.2666</c:v>
                </c:pt>
                <c:pt idx="256">
                  <c:v>-0.2688</c:v>
                </c:pt>
                <c:pt idx="257">
                  <c:v>-0.2673</c:v>
                </c:pt>
                <c:pt idx="258">
                  <c:v>-0.2641</c:v>
                </c:pt>
                <c:pt idx="259">
                  <c:v>-0.2678</c:v>
                </c:pt>
                <c:pt idx="260">
                  <c:v>-0.2698</c:v>
                </c:pt>
                <c:pt idx="261">
                  <c:v>-0.2686</c:v>
                </c:pt>
                <c:pt idx="262">
                  <c:v>-0.2667</c:v>
                </c:pt>
                <c:pt idx="263">
                  <c:v>-0.2672</c:v>
                </c:pt>
                <c:pt idx="264">
                  <c:v>-0.27</c:v>
                </c:pt>
                <c:pt idx="265">
                  <c:v>-0.2707</c:v>
                </c:pt>
                <c:pt idx="266">
                  <c:v>-0.269</c:v>
                </c:pt>
                <c:pt idx="267">
                  <c:v>-0.2681</c:v>
                </c:pt>
                <c:pt idx="268">
                  <c:v>-0.2669</c:v>
                </c:pt>
                <c:pt idx="269">
                  <c:v>-0.2678</c:v>
                </c:pt>
                <c:pt idx="270">
                  <c:v>-0.2633</c:v>
                </c:pt>
                <c:pt idx="271">
                  <c:v>-0.2634</c:v>
                </c:pt>
                <c:pt idx="272">
                  <c:v>-0.261</c:v>
                </c:pt>
                <c:pt idx="273">
                  <c:v>-0.2576</c:v>
                </c:pt>
                <c:pt idx="274">
                  <c:v>-0.2566</c:v>
                </c:pt>
                <c:pt idx="275">
                  <c:v>-0.2593</c:v>
                </c:pt>
                <c:pt idx="276">
                  <c:v>-0.2603</c:v>
                </c:pt>
                <c:pt idx="277">
                  <c:v>-0.2591</c:v>
                </c:pt>
                <c:pt idx="278">
                  <c:v>-0.2592</c:v>
                </c:pt>
                <c:pt idx="279">
                  <c:v>-0.2592</c:v>
                </c:pt>
                <c:pt idx="280">
                  <c:v>-0.2593</c:v>
                </c:pt>
                <c:pt idx="281">
                  <c:v>-0.2578</c:v>
                </c:pt>
                <c:pt idx="282">
                  <c:v>-0.2595</c:v>
                </c:pt>
                <c:pt idx="283">
                  <c:v>-0.2668</c:v>
                </c:pt>
                <c:pt idx="284">
                  <c:v>-0.2724</c:v>
                </c:pt>
                <c:pt idx="285">
                  <c:v>-0.2736</c:v>
                </c:pt>
                <c:pt idx="286">
                  <c:v>-0.2748</c:v>
                </c:pt>
                <c:pt idx="287">
                  <c:v>-0.2797</c:v>
                </c:pt>
                <c:pt idx="288">
                  <c:v>-0.2799</c:v>
                </c:pt>
                <c:pt idx="289">
                  <c:v>-0.2796</c:v>
                </c:pt>
                <c:pt idx="290">
                  <c:v>-0.281</c:v>
                </c:pt>
                <c:pt idx="291">
                  <c:v>-0.2785</c:v>
                </c:pt>
                <c:pt idx="292">
                  <c:v>-0.2803</c:v>
                </c:pt>
                <c:pt idx="293">
                  <c:v>-0.2828</c:v>
                </c:pt>
                <c:pt idx="294">
                  <c:v>-0.284</c:v>
                </c:pt>
                <c:pt idx="295">
                  <c:v>-0.282</c:v>
                </c:pt>
                <c:pt idx="296">
                  <c:v>-0.2814</c:v>
                </c:pt>
                <c:pt idx="297">
                  <c:v>-0.2835</c:v>
                </c:pt>
                <c:pt idx="298">
                  <c:v>-0.2821</c:v>
                </c:pt>
                <c:pt idx="299">
                  <c:v>-0.2785</c:v>
                </c:pt>
              </c:numCache>
            </c:numRef>
          </c:yVal>
          <c:smooth val="0"/>
        </c:ser>
        <c:dLbls>
          <c:numFmt formatCode="General" sourceLinked="0"/>
          <c:txPr>
            <a:bodyPr/>
            <a:lstStyle/>
            <a:p>
              <a:pPr>
                <a:defRPr b="0" i="0" strike="noStrike" sz="1100" u="none">
                  <a:solidFill>
                    <a:srgbClr val="1B2A2F"/>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300"/>
          <c:min val="0"/>
        </c:scaling>
        <c:delete val="0"/>
        <c:axPos val="b"/>
        <c:title>
          <c:tx>
            <c:rich>
              <a:bodyPr/>
              <a:lstStyle/>
              <a:p>
                <a:pPr>
                  <a:defRPr sz="1200" b="0" i="0" u="none" strike="noStrike">
                    <a:solidFill>
                      <a:srgbClr val="5B6B70"/>
                    </a:solidFill>
                    <a:latin typeface="+mn-lt"/>
                  </a:defRPr>
                </a:pPr>
                <a:r>
                  <a:rPr sz="1200" b="0" i="0" u="none" strike="noStrike">
                    <a:solidFill>
                      <a:srgbClr val="5B6B70"/>
                    </a:solidFill>
                    <a:latin typeface="+mn-lt"/>
                  </a:rPr>
                  <a:t>Epoch</a:t>
                </a:r>
              </a:p>
            </c:rich>
          </c:tx>
          <c:layout/>
          <c:overlay val="0"/>
        </c:title>
        <c:numFmt formatCode="0" sourceLinked="0"/>
        <c:majorTickMark val="none"/>
        <c:minorTickMark val="none"/>
        <c:tickLblPos val="low"/>
        <c:spPr>
          <a:ln w="12700" cap="flat">
            <a:solidFill>
              <a:srgbClr val="888888"/>
            </a:solidFill>
            <a:prstDash val="solid"/>
            <a:round/>
          </a:ln>
        </c:spPr>
        <c:txPr>
          <a:bodyPr/>
          <a:lstStyle/>
          <a:p>
            <a:pPr>
              <a:defRPr sz="1200" b="0" i="0" u="none" strike="noStrike">
                <a:solidFill>
                  <a:srgbClr val="5B6B70"/>
                </a:solidFill>
                <a:latin typeface="+mn-lt"/>
              </a:defRPr>
            </a:pPr>
            <a:endParaRPr lang="en-US"/>
          </a:p>
        </c:txPr>
        <c:crossAx val="2094734552"/>
        <c:crosses val="autoZero"/>
        <c:auto val="1"/>
        <c:lblAlgn val="ctr"/>
        <c:noMultiLvlLbl val="1"/>
        <c:majorUnit val="50"/>
      </c:valAx>
      <c:valAx>
        <c:axId val="2094734552"/>
        <c:scaling>
          <c:orientation val="minMax"/>
          <c:max val="1"/>
          <c:min val="-0.4"/>
        </c:scaling>
        <c:delete val="0"/>
        <c:axPos val="l"/>
        <c:majorGridlines>
          <c:spPr>
            <a:ln w="9525" cap="flat">
              <a:solidFill>
                <a:srgbClr val="DDE5E7"/>
              </a:solidFill>
              <a:prstDash val="solid"/>
              <a:round/>
            </a:ln>
          </c:spPr>
        </c:majorGridlines>
        <c:numFmt formatCode="0.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6B70"/>
                </a:solidFill>
                <a:latin typeface="+mn-lt"/>
              </a:defRPr>
            </a:pPr>
            <a:endParaRPr lang="en-US"/>
          </a:p>
        </c:txPr>
        <c:crossAx val="2094734554"/>
        <c:crosses val="autoZero"/>
        <c:crossBetween val="midCat"/>
        <c:majorUnit val="0.2"/>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Test balanced accuracy</c:v>
                </c:pt>
              </c:strCache>
            </c:strRef>
          </c:tx>
          <c:spPr>
            <a:solidFill>
              <a:srgbClr val="0E7C86"/>
            </a:solidFill>
            <a:effectLst/>
          </c:spPr>
          <c:invertIfNegative val="0"/>
          <c:dLbls>
            <c:numFmt formatCode="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Sheet1!$A$2:$A$6</c:f>
              <c:multiLvlStrCache>
                <c:ptCount val="5"/>
                <c:lvl>
                  <c:pt idx="0">
                    <c:v>Untrained</c:v>
                  </c:pt>
                  <c:pt idx="1">
                    <c:v>Plain V-JEPA</c:v>
                  </c:pt>
                  <c:pt idx="2">
                    <c:v>REINFORCE</c:v>
                  </c:pt>
                  <c:pt idx="3">
                    <c:v>PPO, 300 ep.</c:v>
                  </c:pt>
                  <c:pt idx="4">
                    <c:v>PPO, 34 ep.</c:v>
                  </c:pt>
                </c:lvl>
              </c:multiLvlStrCache>
            </c:multiLvlStrRef>
          </c:cat>
          <c:val>
            <c:numRef>
              <c:f>Sheet1!$B$2:$B$6</c:f>
              <c:numCache>
                <c:formatCode>General</c:formatCode>
                <c:ptCount val="5"/>
                <c:pt idx="0">
                  <c:v>0.56</c:v>
                </c:pt>
                <c:pt idx="1">
                  <c:v>0.479</c:v>
                </c:pt>
                <c:pt idx="2">
                  <c:v>0.519</c:v>
                </c:pt>
                <c:pt idx="3">
                  <c:v>0.601</c:v>
                </c:pt>
                <c:pt idx="4">
                  <c:v>0.561</c:v>
                </c:pt>
              </c:numCache>
            </c:numRef>
          </c:val>
        </c:ser>
        <c:ser>
          <c:idx val="1"/>
          <c:order val="1"/>
          <c:tx>
            <c:strRef>
              <c:f>Sheet1!$C$1</c:f>
              <c:strCache>
                <c:ptCount val="1"/>
                <c:pt idx="0">
                  <c:v>Test AUROC</c:v>
                </c:pt>
              </c:strCache>
            </c:strRef>
          </c:tx>
          <c:spPr>
            <a:solidFill>
              <a:srgbClr val="F2A541"/>
            </a:solidFill>
            <a:effectLst/>
          </c:spPr>
          <c:invertIfNegative val="0"/>
          <c:dLbls>
            <c:numFmt formatCode="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Sheet1!$A$2:$A$6</c:f>
              <c:multiLvlStrCache>
                <c:ptCount val="5"/>
                <c:lvl>
                  <c:pt idx="0">
                    <c:v>Untrained</c:v>
                  </c:pt>
                  <c:pt idx="1">
                    <c:v>Plain V-JEPA</c:v>
                  </c:pt>
                  <c:pt idx="2">
                    <c:v>REINFORCE</c:v>
                  </c:pt>
                  <c:pt idx="3">
                    <c:v>PPO, 300 ep.</c:v>
                  </c:pt>
                  <c:pt idx="4">
                    <c:v>PPO, 34 ep.</c:v>
                  </c:pt>
                </c:lvl>
              </c:multiLvlStrCache>
            </c:multiLvlStrRef>
          </c:cat>
          <c:val>
            <c:numRef>
              <c:f>Sheet1!$C$2:$C$6</c:f>
              <c:numCache>
                <c:formatCode>General</c:formatCode>
                <c:ptCount val="5"/>
                <c:pt idx="0">
                  <c:v>0.694</c:v>
                </c:pt>
                <c:pt idx="1">
                  <c:v>0.476</c:v>
                </c:pt>
                <c:pt idx="2">
                  <c:v>0.548</c:v>
                </c:pt>
                <c:pt idx="3">
                  <c:v>0.647</c:v>
                </c:pt>
                <c:pt idx="4">
                  <c:v>0.598</c:v>
                </c:pt>
              </c:numCache>
            </c:numRef>
          </c:val>
        </c:ser>
        <c:dLbls>
          <c:numFmt formatCode="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5E7"/>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0"/>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5B6B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PPO, 34 epochs</c:v>
                </c:pt>
              </c:strCache>
            </c:strRef>
          </c:tx>
          <c:spPr>
            <a:solidFill>
              <a:srgbClr val="F2A541"/>
            </a:solidFill>
            <a:effectLst/>
          </c:spPr>
          <c:invertIfNegative val="0"/>
          <c:dLbls>
            <c:numFmt formatCode="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Sheet1!$A$2:$A$3</c:f>
              <c:multiLvlStrCache>
                <c:ptCount val="2"/>
                <c:lvl>
                  <c:pt idx="0">
                    <c:v>Test balanced accuracy</c:v>
                  </c:pt>
                  <c:pt idx="1">
                    <c:v>Test AUROC</c:v>
                  </c:pt>
                </c:lvl>
              </c:multiLvlStrCache>
            </c:multiLvlStrRef>
          </c:cat>
          <c:val>
            <c:numRef>
              <c:f>Sheet1!$B$2:$B$3</c:f>
              <c:numCache>
                <c:formatCode>General</c:formatCode>
                <c:ptCount val="2"/>
                <c:pt idx="0">
                  <c:v>0.561</c:v>
                </c:pt>
                <c:pt idx="1">
                  <c:v>0.598</c:v>
                </c:pt>
              </c:numCache>
            </c:numRef>
          </c:val>
        </c:ser>
        <c:ser>
          <c:idx val="1"/>
          <c:order val="1"/>
          <c:tx>
            <c:strRef>
              <c:f>Sheet1!$C$1</c:f>
              <c:strCache>
                <c:ptCount val="1"/>
                <c:pt idx="0">
                  <c:v>PPO, 300 epochs</c:v>
                </c:pt>
              </c:strCache>
            </c:strRef>
          </c:tx>
          <c:spPr>
            <a:solidFill>
              <a:srgbClr val="0E7C86"/>
            </a:solidFill>
            <a:effectLst/>
          </c:spPr>
          <c:invertIfNegative val="0"/>
          <c:dLbls>
            <c:numFmt formatCode="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Sheet1!$A$2:$A$3</c:f>
              <c:multiLvlStrCache>
                <c:ptCount val="2"/>
                <c:lvl>
                  <c:pt idx="0">
                    <c:v>Test balanced accuracy</c:v>
                  </c:pt>
                  <c:pt idx="1">
                    <c:v>Test AUROC</c:v>
                  </c:pt>
                </c:lvl>
              </c:multiLvlStrCache>
            </c:multiLvlStrRef>
          </c:cat>
          <c:val>
            <c:numRef>
              <c:f>Sheet1!$C$2:$C$3</c:f>
              <c:numCache>
                <c:formatCode>General</c:formatCode>
                <c:ptCount val="2"/>
                <c:pt idx="0">
                  <c:v>0.601</c:v>
                </c:pt>
                <c:pt idx="1">
                  <c:v>0.647</c:v>
                </c:pt>
              </c:numCache>
            </c:numRef>
          </c:val>
        </c:ser>
        <c:dLbls>
          <c:numFmt formatCode="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5E7"/>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0"/>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5B6B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summarises the project so far: what V-JEPA is, how we changed its masking, how pretraining behaved, and what the classification test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summary. The engineering works: both learned-masking variants train alongside V-JEPA. The scientific claim is still open: the policies behave almost randomly and the classification probe does not separate the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Pretraining uses only the 434 training videos, without labels. Note the label difference between splits: it matters later for the classification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V-JEPA is a joint-embedding predictive architecture. The clip is cut into 1,568 tokens. Most are hidden. The context encoder sees the rest, and the predictor must produce the features that the target encoder computes for the hidden tokens. Our work only changes how the mask is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stock recipe, block sizes and positions are sampled at random. Ultrasound frames have large static regions, so random placement may spend many masks on uninformative background. That motivates a learned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and V-JEPA train together. The policy has its own optimiser. Because sampling a mask is not differentiable, we use policy-gradient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design. It keeps V-JEPA's block structure and only learns block placement. The motion map is a cheap stand-in for optical flow: the mean absolute difference between consecutive frames, pooled to the patch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design ports the TATS token sampler to V-JEPA. The main change from the original is the reward: prediction error in feature space instead of pixel reconstruction error. The critic predicts the expected reward of a clip, and the advantage is reward minus that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view. The visible-context numbers for REINFORCE are from the end of training. Note the opposite reward directions: version 1 rewards easy masks, version 2 rewards hard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crash came from unbounded per-token log-probabilities once the policy became sharp. The deeper cause was that the policy started nearly deterministic because encoder embeddings had grown large during the ten warm-up epochs. These fixes are additions to the reference TATS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and time are the peak values logged at the end of each run. The plain V-JEPA and REINFORCE runs were done months apart on different nodes, so compare the timings loosely.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V-JEPA predicts the output of a target encoder that is itself changing. Early in training the features are very uniform and easy to predict; as they become richer the loss rises. This happens in the plain run too, so it is not caused by the learned masking. PPO also rewards hard masks, which pushes its loss up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Entropy measures how spread out the policy's choice is over the 1,568 tokens. Both policies end near the maximum. The REINFORCE reward favours easy masks, which explains why its motion weight turned negative. With one PPO pass per batch, the PPO policy changes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frame classification, because validation and test labels are per frame. A frozen encoder with a linear probe measures the quality of the pretrained features. Each of the 8 time slices of a window covers two frames, so neighbouring frame pairs share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comparison is against the untrained encoder. If pretraining produced clearly better features for this task, every pretrained model should beat it. That is not what we see, so these numbers do not yet support a claim for any of the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Validation scores are higher than test for most models, partly because the classifier settings were selected on validation and the validation set has only 40 videos.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34-epoch run used the same learning-rate, weight-decay and momentum schedules as the 300-epoch run and simply stopped early. Its lowest loss came during the random-mask warm-up, and its features are not better than the 300-epoch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likely explanation for the weak scores, and it is a hypothesis, not a measured result. The probe may learn a recording-level shortcut on the training set that is useless inside a single test video. So the weak scores probably say more about the probe setup than about the encoders.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status: the contribution so far is a working, stable implementation of learned masking for a latent-prediction video model, plus an evaluation pipeline. The evidence for better representations is not there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comes first because, without a probe that can tell models apart, no change to the method can be judged. The last method item refers to the loader matching file names by prefix, which may load some videos twice and skip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67512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794760"/>
            <a:ext cx="667512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103120" y="2331720"/>
            <a:ext cx="914400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2103120" y="3520440"/>
            <a:ext cx="868680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Learned masking for V-JEPA on intrapartum ultrasound</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Learned masking for V-JEPA on intrapartum ultrasound</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675120" cy="1737360"/>
          </a:xfrm>
          <a:prstGeom prst="rect">
            <a:avLst/>
          </a:prstGeom>
          <a:noFill/>
          <a:ln/>
        </p:spPr>
        <p:txBody>
          <a:bodyPr wrap="square" lIns="0" tIns="0" rIns="0" bIns="0" rtlCol="0" anchor="b"/>
          <a:lstStyle/>
          <a:p>
            <a:pPr algn="l" indent="0" marL="0">
              <a:buNone/>
            </a:pPr>
            <a:r>
              <a:rPr lang="en-US" sz="4400" b="1" dirty="0">
                <a:solidFill>
                  <a:schemeClr val="bg1"/>
                </a:solidFill>
              </a:rPr>
              <a:t>Learning where to mask</a:t>
            </a:r>
            <a:endParaRPr lang="en-US" sz="4400" dirty="0"/>
          </a:p>
        </p:txBody>
      </p:sp>
      <p:sp>
        <p:nvSpPr>
          <p:cNvPr id="3" name="Text 0"/>
          <p:cNvSpPr/>
          <p:nvPr>
            <p:ph idx="101" type="body" hasCustomPrompt="1"/>
          </p:nvPr>
        </p:nvSpPr>
        <p:spPr>
          <a:xfrm>
            <a:off x="640080" y="3794760"/>
            <a:ext cx="6675120" cy="1280160"/>
          </a:xfrm>
          <a:prstGeom prst="rect">
            <a:avLst/>
          </a:prstGeom>
          <a:noFill/>
          <a:ln/>
        </p:spPr>
        <p:txBody>
          <a:bodyPr wrap="square" lIns="0" tIns="0" rIns="0" bIns="0" rtlCol="0" anchor="t"/>
          <a:lstStyle/>
          <a:p>
            <a:pPr algn="l" indent="0" marL="0">
              <a:buNone/>
            </a:pPr>
            <a:r>
              <a:rPr lang="en-US" sz="2000" dirty="0">
                <a:solidFill>
                  <a:schemeClr val="bg2"/>
                </a:solidFill>
              </a:rPr>
              <a:t>Reinforcement-learned masking policies for V-JEPA pretraining on intrapartum ultrasound video</a:t>
            </a:r>
            <a:endParaRPr lang="en-US" sz="2000" dirty="0"/>
          </a:p>
        </p:txBody>
      </p:sp>
      <p:pic>
        <p:nvPicPr>
          <p:cNvPr id="4" name="Motion map" descr="/tmp/claude-2726598/-scratch-frafsani-V-Jepa/3ff876df-97fd-4cf4-8456-71590d0e11a5/scratchpad/deck/motion.png">    </p:cNvPr>
          <p:cNvPicPr>
            <a:picLocks noChangeAspect="1"/>
          </p:cNvPicPr>
          <p:nvPr/>
        </p:nvPicPr>
        <p:blipFill>
          <a:blip r:embed="rId1"/>
          <a:stretch>
            <a:fillRect/>
          </a:stretch>
        </p:blipFill>
        <p:spPr>
          <a:xfrm>
            <a:off x="7909560" y="1417320"/>
            <a:ext cx="3657600" cy="3657600"/>
          </a:xfrm>
          <a:prstGeom prst="ellipse">
            <a:avLst/>
          </a:prstGeom>
        </p:spPr>
      </p:pic>
      <p:sp>
        <p:nvSpPr>
          <p:cNvPr id="5" name="Text 1"/>
          <p:cNvSpPr txBox="1"/>
          <p:nvPr/>
        </p:nvSpPr>
        <p:spPr>
          <a:xfrm>
            <a:off x="7909560" y="5212080"/>
            <a:ext cx="3657600" cy="274320"/>
          </a:xfrm>
          <a:prstGeom prst="rect">
            <a:avLst/>
          </a:prstGeom>
          <a:noFill/>
          <a:ln/>
        </p:spPr>
        <p:txBody>
          <a:bodyPr wrap="square" lIns="0" tIns="0" rIns="0" bIns="0" rtlCol="0" anchor="t"/>
          <a:lstStyle/>
          <a:p>
            <a:pPr algn="ctr" indent="0" marL="0">
              <a:buNone/>
            </a:pPr>
            <a:r>
              <a:rPr lang="en-US" sz="1200" dirty="0">
                <a:solidFill>
                  <a:schemeClr val="accent5"/>
                </a:solidFill>
              </a:rPr>
              <a:t>Motion map of one training clip</a:t>
            </a:r>
            <a:endParaRPr lang="en-US" sz="1200" dirty="0"/>
          </a:p>
        </p:txBody>
      </p:sp>
      <p:sp>
        <p:nvSpPr>
          <p:cNvPr id="6" name="Text 2"/>
          <p:cNvSpPr txBox="1"/>
          <p:nvPr/>
        </p:nvSpPr>
        <p:spPr>
          <a:xfrm>
            <a:off x="640080" y="5989320"/>
            <a:ext cx="4572000" cy="365760"/>
          </a:xfrm>
          <a:prstGeom prst="rect">
            <a:avLst/>
          </a:prstGeom>
          <a:noFill/>
          <a:ln/>
        </p:spPr>
        <p:txBody>
          <a:bodyPr wrap="square" lIns="0" tIns="0" rIns="0" bIns="0" rtlCol="0" anchor="t"/>
          <a:lstStyle/>
          <a:p>
            <a:pPr indent="0" marL="0">
              <a:buNone/>
            </a:pPr>
            <a:r>
              <a:rPr lang="en-US" sz="1400" b="1" dirty="0">
                <a:solidFill>
                  <a:schemeClr val="accent2"/>
                </a:solidFill>
              </a:rPr>
              <a:t>Project summary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The method runs end to end; its benefit is not yet shown</a:t>
            </a:r>
            <a:endParaRPr lang="en-US" sz="3000" dirty="0"/>
          </a:p>
        </p:txBody>
      </p:sp>
      <p:sp>
        <p:nvSpPr>
          <p:cNvPr id="3" name="Card 3"/>
          <p:cNvSpPr/>
          <p:nvPr/>
        </p:nvSpPr>
        <p:spPr>
          <a:xfrm>
            <a:off x="548640" y="1508760"/>
            <a:ext cx="3575304" cy="3657600"/>
          </a:xfrm>
          <a:prstGeom prst="roundRect">
            <a:avLst>
              <a:gd name="adj" fmla="val 3069"/>
            </a:avLst>
          </a:prstGeom>
          <a:solidFill>
            <a:schemeClr val="bg2"/>
          </a:solidFill>
          <a:ln w="12700">
            <a:solidFill>
              <a:schemeClr val="bg2"/>
            </a:solidFill>
            <a:prstDash val="solid"/>
          </a:ln>
        </p:spPr>
      </p:sp>
      <p:sp>
        <p:nvSpPr>
          <p:cNvPr id="4" name="Icon circle 4"/>
          <p:cNvSpPr/>
          <p:nvPr/>
        </p:nvSpPr>
        <p:spPr>
          <a:xfrm>
            <a:off x="822960" y="1783080"/>
            <a:ext cx="594360" cy="594360"/>
          </a:xfrm>
          <a:prstGeom prst="ellipse">
            <a:avLst/>
          </a:prstGeom>
          <a:solidFill>
            <a:schemeClr val="accent1"/>
          </a:solidFill>
          <a:ln w="12700">
            <a:solidFill>
              <a:schemeClr val="accent1"/>
            </a:solidFill>
            <a:prstDash val="solid"/>
          </a:ln>
        </p:spPr>
      </p:sp>
      <p:pic>
        <p:nvPicPr>
          <p:cNvPr id="5" name="Icon 5" descr="preencoded.png">    </p:cNvPr>
          <p:cNvPicPr>
            <a:picLocks noChangeAspect="1"/>
          </p:cNvPicPr>
          <p:nvPr/>
        </p:nvPicPr>
        <p:blipFill>
          <a:blip r:embed="rId1"/>
          <a:stretch>
            <a:fillRect/>
          </a:stretch>
        </p:blipFill>
        <p:spPr>
          <a:xfrm>
            <a:off x="977494" y="1937614"/>
            <a:ext cx="285293" cy="285293"/>
          </a:xfrm>
          <a:prstGeom prst="rect">
            <a:avLst/>
          </a:prstGeom>
        </p:spPr>
      </p:pic>
      <p:sp>
        <p:nvSpPr>
          <p:cNvPr id="6" name="Text 6"/>
          <p:cNvSpPr txBox="1"/>
          <p:nvPr/>
        </p:nvSpPr>
        <p:spPr>
          <a:xfrm>
            <a:off x="1554480" y="1783080"/>
            <a:ext cx="2377440" cy="594360"/>
          </a:xfrm>
          <a:prstGeom prst="rect">
            <a:avLst/>
          </a:prstGeom>
          <a:noFill/>
          <a:ln/>
        </p:spPr>
        <p:txBody>
          <a:bodyPr wrap="square" lIns="0" tIns="0" rIns="0" bIns="0" rtlCol="0" anchor="ctr"/>
          <a:lstStyle/>
          <a:p>
            <a:pPr indent="0" marL="0">
              <a:buNone/>
            </a:pPr>
            <a:r>
              <a:rPr lang="en-US" sz="2000" b="1" dirty="0">
                <a:solidFill>
                  <a:schemeClr val="tx2"/>
                </a:solidFill>
              </a:rPr>
              <a:t>What we built</a:t>
            </a:r>
            <a:endParaRPr lang="en-US" sz="2000" dirty="0"/>
          </a:p>
        </p:txBody>
      </p:sp>
      <p:sp>
        <p:nvSpPr>
          <p:cNvPr id="7" name="Text 7"/>
          <p:cNvSpPr txBox="1"/>
          <p:nvPr/>
        </p:nvSpPr>
        <p:spPr>
          <a:xfrm>
            <a:off x="822960" y="2606040"/>
            <a:ext cx="3026664"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 masking policy that learns where V-JEPA should hide video patches, trained with reinforcement learning</a:t>
            </a:r>
            <a:endParaRPr lang="en-US" sz="1600" dirty="0"/>
          </a:p>
          <a:p>
            <a:pPr marL="342900" indent="-342900">
              <a:spcAft>
                <a:spcPts val="800"/>
              </a:spcAft>
              <a:buSzPct val="100000"/>
              <a:buChar char="•"/>
            </a:pPr>
            <a:r>
              <a:rPr lang="en-US" sz="1600" dirty="0">
                <a:solidFill>
                  <a:schemeClr val="tx1"/>
                </a:solidFill>
              </a:rPr>
              <a:t>Two versions: REINFORCE places mask blocks; PPO with trajectory attention picks the visible tokens</a:t>
            </a:r>
            <a:endParaRPr lang="en-US" sz="1600" dirty="0"/>
          </a:p>
        </p:txBody>
      </p:sp>
      <p:sp>
        <p:nvSpPr>
          <p:cNvPr id="8" name="Card 8"/>
          <p:cNvSpPr/>
          <p:nvPr/>
        </p:nvSpPr>
        <p:spPr>
          <a:xfrm>
            <a:off x="4306824" y="1508760"/>
            <a:ext cx="3575304" cy="3657600"/>
          </a:xfrm>
          <a:prstGeom prst="roundRect">
            <a:avLst>
              <a:gd name="adj" fmla="val 3069"/>
            </a:avLst>
          </a:prstGeom>
          <a:solidFill>
            <a:schemeClr val="bg2"/>
          </a:solidFill>
          <a:ln w="12700">
            <a:solidFill>
              <a:schemeClr val="bg2"/>
            </a:solidFill>
            <a:prstDash val="solid"/>
          </a:ln>
        </p:spPr>
      </p:sp>
      <p:sp>
        <p:nvSpPr>
          <p:cNvPr id="9" name="Icon circle 9"/>
          <p:cNvSpPr/>
          <p:nvPr/>
        </p:nvSpPr>
        <p:spPr>
          <a:xfrm>
            <a:off x="4581144" y="1783080"/>
            <a:ext cx="594360" cy="594360"/>
          </a:xfrm>
          <a:prstGeom prst="ellipse">
            <a:avLst/>
          </a:prstGeom>
          <a:solidFill>
            <a:schemeClr val="accent2"/>
          </a:solidFill>
          <a:ln w="12700">
            <a:solidFill>
              <a:schemeClr val="accent2"/>
            </a:solidFill>
            <a:prstDash val="solid"/>
          </a:ln>
        </p:spPr>
      </p:sp>
      <p:pic>
        <p:nvPicPr>
          <p:cNvPr id="10" name="Icon 10" descr="preencoded.png">    </p:cNvPr>
          <p:cNvPicPr>
            <a:picLocks noChangeAspect="1"/>
          </p:cNvPicPr>
          <p:nvPr/>
        </p:nvPicPr>
        <p:blipFill>
          <a:blip r:embed="rId2"/>
          <a:stretch>
            <a:fillRect/>
          </a:stretch>
        </p:blipFill>
        <p:spPr>
          <a:xfrm>
            <a:off x="4735678" y="1937614"/>
            <a:ext cx="285293" cy="285293"/>
          </a:xfrm>
          <a:prstGeom prst="rect">
            <a:avLst/>
          </a:prstGeom>
        </p:spPr>
      </p:pic>
      <p:sp>
        <p:nvSpPr>
          <p:cNvPr id="11" name="Text 11"/>
          <p:cNvSpPr txBox="1"/>
          <p:nvPr/>
        </p:nvSpPr>
        <p:spPr>
          <a:xfrm>
            <a:off x="5312664" y="1783080"/>
            <a:ext cx="2377440" cy="594360"/>
          </a:xfrm>
          <a:prstGeom prst="rect">
            <a:avLst/>
          </a:prstGeom>
          <a:noFill/>
          <a:ln/>
        </p:spPr>
        <p:txBody>
          <a:bodyPr wrap="square" lIns="0" tIns="0" rIns="0" bIns="0" rtlCol="0" anchor="ctr"/>
          <a:lstStyle/>
          <a:p>
            <a:pPr indent="0" marL="0">
              <a:buNone/>
            </a:pPr>
            <a:r>
              <a:rPr lang="en-US" sz="2000" b="1" dirty="0">
                <a:solidFill>
                  <a:schemeClr val="tx2"/>
                </a:solidFill>
              </a:rPr>
              <a:t>What we observed</a:t>
            </a:r>
            <a:endParaRPr lang="en-US" sz="2000" dirty="0"/>
          </a:p>
        </p:txBody>
      </p:sp>
      <p:sp>
        <p:nvSpPr>
          <p:cNvPr id="12" name="Text 12"/>
          <p:cNvSpPr txBox="1"/>
          <p:nvPr/>
        </p:nvSpPr>
        <p:spPr>
          <a:xfrm>
            <a:off x="4581144" y="2606040"/>
            <a:ext cx="3026664"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All pretraining runs completed; PPO needed stability fixes first</a:t>
            </a:r>
            <a:endParaRPr lang="en-US" sz="1600" dirty="0"/>
          </a:p>
          <a:p>
            <a:pPr marL="342900" indent="-342900">
              <a:spcAft>
                <a:spcPts val="800"/>
              </a:spcAft>
              <a:buSzPct val="100000"/>
              <a:buChar char="•"/>
            </a:pPr>
            <a:r>
              <a:rPr lang="en-US" sz="1600" dirty="0">
                <a:solidFill>
                  <a:schemeClr val="tx1"/>
                </a:solidFill>
              </a:rPr>
              <a:t>Both policies stayed close to random masking</a:t>
            </a:r>
            <a:endParaRPr lang="en-US" sz="1600" dirty="0"/>
          </a:p>
          <a:p>
            <a:pPr marL="342900" indent="-342900">
              <a:spcAft>
                <a:spcPts val="800"/>
              </a:spcAft>
              <a:buSzPct val="100000"/>
              <a:buChar char="•"/>
            </a:pPr>
            <a:r>
              <a:rPr lang="en-US" sz="1600" dirty="0">
                <a:solidFill>
                  <a:schemeClr val="tx1"/>
                </a:solidFill>
              </a:rPr>
              <a:t>PPO token masking ran in about 17 GB, against 35 to 45 GB for block masking</a:t>
            </a:r>
            <a:endParaRPr lang="en-US" sz="1600" dirty="0"/>
          </a:p>
        </p:txBody>
      </p:sp>
      <p:sp>
        <p:nvSpPr>
          <p:cNvPr id="13" name="Card 13"/>
          <p:cNvSpPr/>
          <p:nvPr/>
        </p:nvSpPr>
        <p:spPr>
          <a:xfrm>
            <a:off x="8065008" y="1508760"/>
            <a:ext cx="3575304" cy="3657600"/>
          </a:xfrm>
          <a:prstGeom prst="roundRect">
            <a:avLst>
              <a:gd name="adj" fmla="val 3069"/>
            </a:avLst>
          </a:prstGeom>
          <a:solidFill>
            <a:schemeClr val="bg2"/>
          </a:solidFill>
          <a:ln w="12700">
            <a:solidFill>
              <a:schemeClr val="bg2"/>
            </a:solidFill>
            <a:prstDash val="solid"/>
          </a:ln>
        </p:spPr>
      </p:sp>
      <p:sp>
        <p:nvSpPr>
          <p:cNvPr id="14" name="Icon circle 14"/>
          <p:cNvSpPr/>
          <p:nvPr/>
        </p:nvSpPr>
        <p:spPr>
          <a:xfrm>
            <a:off x="8339328" y="1783080"/>
            <a:ext cx="594360" cy="594360"/>
          </a:xfrm>
          <a:prstGeom prst="ellipse">
            <a:avLst/>
          </a:prstGeom>
          <a:solidFill>
            <a:schemeClr val="accent3"/>
          </a:solidFill>
          <a:ln w="12700">
            <a:solidFill>
              <a:schemeClr val="accent3"/>
            </a:solidFill>
            <a:prstDash val="solid"/>
          </a:ln>
        </p:spPr>
      </p:sp>
      <p:pic>
        <p:nvPicPr>
          <p:cNvPr id="15" name="Icon 15" descr="preencoded.png">    </p:cNvPr>
          <p:cNvPicPr>
            <a:picLocks noChangeAspect="1"/>
          </p:cNvPicPr>
          <p:nvPr/>
        </p:nvPicPr>
        <p:blipFill>
          <a:blip r:embed="rId3"/>
          <a:stretch>
            <a:fillRect/>
          </a:stretch>
        </p:blipFill>
        <p:spPr>
          <a:xfrm>
            <a:off x="8493862" y="1937614"/>
            <a:ext cx="285293" cy="285293"/>
          </a:xfrm>
          <a:prstGeom prst="rect">
            <a:avLst/>
          </a:prstGeom>
        </p:spPr>
      </p:pic>
      <p:sp>
        <p:nvSpPr>
          <p:cNvPr id="16" name="Text 16"/>
          <p:cNvSpPr txBox="1"/>
          <p:nvPr/>
        </p:nvSpPr>
        <p:spPr>
          <a:xfrm>
            <a:off x="9070848" y="1783080"/>
            <a:ext cx="2377440" cy="594360"/>
          </a:xfrm>
          <a:prstGeom prst="rect">
            <a:avLst/>
          </a:prstGeom>
          <a:noFill/>
          <a:ln/>
        </p:spPr>
        <p:txBody>
          <a:bodyPr wrap="square" lIns="0" tIns="0" rIns="0" bIns="0" rtlCol="0" anchor="ctr"/>
          <a:lstStyle/>
          <a:p>
            <a:pPr indent="0" marL="0">
              <a:buNone/>
            </a:pPr>
            <a:r>
              <a:rPr lang="en-US" sz="2000" b="1" dirty="0">
                <a:solidFill>
                  <a:schemeClr val="tx2"/>
                </a:solidFill>
              </a:rPr>
              <a:t>Where it stands</a:t>
            </a:r>
            <a:endParaRPr lang="en-US" sz="2000" dirty="0"/>
          </a:p>
        </p:txBody>
      </p:sp>
      <p:sp>
        <p:nvSpPr>
          <p:cNvPr id="17" name="Text 17"/>
          <p:cNvSpPr txBox="1"/>
          <p:nvPr/>
        </p:nvSpPr>
        <p:spPr>
          <a:xfrm>
            <a:off x="8339328" y="2606040"/>
            <a:ext cx="3026664"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Frame classification: no pretrained model clearly beats an untrained encoder</a:t>
            </a:r>
            <a:endParaRPr lang="en-US" sz="1600" dirty="0"/>
          </a:p>
          <a:p>
            <a:pPr marL="342900" indent="-342900">
              <a:spcAft>
                <a:spcPts val="800"/>
              </a:spcAft>
              <a:buSzPct val="100000"/>
              <a:buChar char="•"/>
            </a:pPr>
            <a:r>
              <a:rPr lang="en-US" sz="1600" dirty="0">
                <a:solidFill>
                  <a:schemeClr val="tx1"/>
                </a:solidFill>
              </a:rPr>
              <a:t>Pretraining loss does not track feature quality</a:t>
            </a:r>
            <a:endParaRPr lang="en-US" sz="1600" dirty="0"/>
          </a:p>
          <a:p>
            <a:pPr marL="342900" indent="-342900">
              <a:spcAft>
                <a:spcPts val="800"/>
              </a:spcAft>
              <a:buSzPct val="100000"/>
              <a:buChar char="•"/>
            </a:pPr>
            <a:r>
              <a:rPr lang="en-US" sz="1600" dirty="0">
                <a:solidFill>
                  <a:schemeClr val="tx1"/>
                </a:solidFill>
              </a:rPr>
              <a:t>The evaluation setup is the next thing to fix</a:t>
            </a:r>
            <a:endParaRPr lang="en-US" sz="1600" dirty="0"/>
          </a:p>
        </p:txBody>
      </p:sp>
      <p:sp>
        <p:nvSpPr>
          <p:cNvPr id="18" name="Card 18"/>
          <p:cNvSpPr/>
          <p:nvPr/>
        </p:nvSpPr>
        <p:spPr>
          <a:xfrm>
            <a:off x="548640" y="5349240"/>
            <a:ext cx="11091672" cy="731520"/>
          </a:xfrm>
          <a:prstGeom prst="roundRect">
            <a:avLst>
              <a:gd name="adj" fmla="val 15000"/>
            </a:avLst>
          </a:prstGeom>
          <a:solidFill>
            <a:schemeClr val="tx2"/>
          </a:solidFill>
          <a:ln w="12700">
            <a:solidFill>
              <a:schemeClr val="tx2"/>
            </a:solidFill>
            <a:prstDash val="solid"/>
          </a:ln>
        </p:spPr>
      </p:sp>
      <p:sp>
        <p:nvSpPr>
          <p:cNvPr id="19" name="Text 19"/>
          <p:cNvSpPr txBox="1"/>
          <p:nvPr/>
        </p:nvSpPr>
        <p:spPr>
          <a:xfrm>
            <a:off x="822960" y="5349240"/>
            <a:ext cx="10543032" cy="731520"/>
          </a:xfrm>
          <a:prstGeom prst="rect">
            <a:avLst/>
          </a:prstGeom>
          <a:noFill/>
          <a:ln/>
        </p:spPr>
        <p:txBody>
          <a:bodyPr wrap="square" lIns="0" tIns="0" rIns="0" bIns="0" rtlCol="0" anchor="ctr"/>
          <a:lstStyle/>
          <a:p>
            <a:pPr indent="0" marL="0">
              <a:buNone/>
            </a:pPr>
            <a:r>
              <a:rPr lang="en-US" sz="1600" b="1" dirty="0">
                <a:solidFill>
                  <a:schemeClr val="bg1"/>
                </a:solidFill>
              </a:rPr>
              <a:t>Status: a working, stable implementation and an evaluation pipeline; evidence of better features is still missing.</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umber circle 20"/>
          <p:cNvSpPr/>
          <p:nvPr/>
        </p:nvSpPr>
        <p:spPr>
          <a:xfrm>
            <a:off x="640080" y="2377440"/>
            <a:ext cx="1005840" cy="1005840"/>
          </a:xfrm>
          <a:prstGeom prst="ellipse">
            <a:avLst/>
          </a:prstGeom>
          <a:solidFill>
            <a:schemeClr val="accent2"/>
          </a:solidFill>
          <a:ln w="12700">
            <a:solidFill>
              <a:schemeClr val="accent2"/>
            </a:solidFill>
            <a:prstDash val="solid"/>
          </a:ln>
        </p:spPr>
      </p:sp>
      <p:sp>
        <p:nvSpPr>
          <p:cNvPr id="3" name="Text 21"/>
          <p:cNvSpPr txBox="1"/>
          <p:nvPr/>
        </p:nvSpPr>
        <p:spPr>
          <a:xfrm>
            <a:off x="640080" y="2377440"/>
            <a:ext cx="1005840" cy="1005840"/>
          </a:xfrm>
          <a:prstGeom prst="rect">
            <a:avLst/>
          </a:prstGeom>
          <a:noFill/>
          <a:ln/>
        </p:spPr>
        <p:txBody>
          <a:bodyPr wrap="square" lIns="0" tIns="0" rIns="0" bIns="0" rtlCol="0" anchor="ctr"/>
          <a:lstStyle/>
          <a:p>
            <a:pPr algn="ctr" indent="0" marL="0">
              <a:buNone/>
            </a:pPr>
            <a:r>
              <a:rPr lang="en-US" sz="3700" b="1" dirty="0">
                <a:solidFill>
                  <a:schemeClr val="tx2"/>
                </a:solidFill>
              </a:rPr>
              <a:t>1</a:t>
            </a:r>
            <a:endParaRPr lang="en-US" sz="3700" dirty="0"/>
          </a:p>
        </p:txBody>
      </p:sp>
      <p:sp>
        <p:nvSpPr>
          <p:cNvPr id="4" name="Text 0"/>
          <p:cNvSpPr/>
          <p:nvPr>
            <p:ph idx="100" type="title" hasCustomPrompt="1"/>
          </p:nvPr>
        </p:nvSpPr>
        <p:spPr>
          <a:xfrm>
            <a:off x="2103120" y="2331720"/>
            <a:ext cx="9144000" cy="1097280"/>
          </a:xfrm>
          <a:prstGeom prst="rect">
            <a:avLst/>
          </a:prstGeom>
          <a:noFill/>
          <a:ln/>
        </p:spPr>
        <p:txBody>
          <a:bodyPr wrap="square" lIns="0" tIns="0" rIns="0" bIns="0" rtlCol="0" anchor="ctr"/>
          <a:lstStyle/>
          <a:p>
            <a:pPr algn="l" indent="0" marL="0">
              <a:buNone/>
            </a:pPr>
            <a:r>
              <a:rPr lang="en-US" sz="4000" b="1" dirty="0">
                <a:solidFill>
                  <a:schemeClr val="bg1"/>
                </a:solidFill>
              </a:rPr>
              <a:t>Background</a:t>
            </a:r>
            <a:endParaRPr lang="en-US" sz="4000" dirty="0"/>
          </a:p>
        </p:txBody>
      </p:sp>
      <p:sp>
        <p:nvSpPr>
          <p:cNvPr id="5" name="Text 0"/>
          <p:cNvSpPr/>
          <p:nvPr>
            <p:ph idx="101" type="body" hasCustomPrompt="1"/>
          </p:nvPr>
        </p:nvSpPr>
        <p:spPr>
          <a:xfrm>
            <a:off x="2103120" y="3520440"/>
            <a:ext cx="8686800" cy="1097280"/>
          </a:xfrm>
          <a:prstGeom prst="rect">
            <a:avLst/>
          </a:prstGeom>
          <a:noFill/>
          <a:ln/>
        </p:spPr>
        <p:txBody>
          <a:bodyPr wrap="square" lIns="0" tIns="0" rIns="0" bIns="0" rtlCol="0" anchor="t"/>
          <a:lstStyle/>
          <a:p>
            <a:pPr algn="l" indent="0" marL="0">
              <a:buNone/>
            </a:pPr>
            <a:r>
              <a:rPr lang="en-US" sz="2000" dirty="0">
                <a:solidFill>
                  <a:schemeClr val="bg2"/>
                </a:solidFill>
              </a:rPr>
              <a:t>The data, how V-JEPA learns, and how it normally chooses its masks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The data: intrapartum ultrasound videos with plane labels</a:t>
            </a:r>
            <a:endParaRPr lang="en-US" sz="3000" dirty="0"/>
          </a:p>
        </p:txBody>
      </p:sp>
      <p:pic>
        <p:nvPicPr>
          <p:cNvPr id="3" name="Ultrasound frame" descr="/tmp/claude-2726598/-scratch-frafsani-V-Jepa/3ff876df-97fd-4cf4-8456-71590d0e11a5/scratchpad/deck/frame.png">    </p:cNvPr>
          <p:cNvPicPr>
            <a:picLocks noChangeAspect="1"/>
          </p:cNvPicPr>
          <p:nvPr/>
        </p:nvPicPr>
        <p:blipFill>
          <a:blip r:embed="rId1"/>
          <a:stretch>
            <a:fillRect/>
          </a:stretch>
        </p:blipFill>
        <p:spPr>
          <a:xfrm>
            <a:off x="640080" y="1554480"/>
            <a:ext cx="3840480" cy="3840480"/>
          </a:xfrm>
          <a:prstGeom prst="ellipse">
            <a:avLst/>
          </a:prstGeom>
        </p:spPr>
      </p:pic>
      <p:sp>
        <p:nvSpPr>
          <p:cNvPr id="4" name="Text 22"/>
          <p:cNvSpPr txBox="1"/>
          <p:nvPr/>
        </p:nvSpPr>
        <p:spPr>
          <a:xfrm>
            <a:off x="640080" y="5532120"/>
            <a:ext cx="3840480" cy="274320"/>
          </a:xfrm>
          <a:prstGeom prst="rect">
            <a:avLst/>
          </a:prstGeom>
          <a:noFill/>
          <a:ln/>
        </p:spPr>
        <p:txBody>
          <a:bodyPr wrap="square" lIns="0" tIns="0" rIns="0" bIns="0" rtlCol="0" anchor="t"/>
          <a:lstStyle/>
          <a:p>
            <a:pPr algn="ctr" indent="0" marL="0">
              <a:buNone/>
            </a:pPr>
            <a:r>
              <a:rPr lang="en-US" sz="1200" dirty="0">
                <a:solidFill>
                  <a:schemeClr val="accent4"/>
                </a:solidFill>
              </a:rPr>
              <a:t>One frame of a training video</a:t>
            </a:r>
            <a:endParaRPr lang="en-US" sz="1200" dirty="0"/>
          </a:p>
        </p:txBody>
      </p:sp>
      <p:sp>
        <p:nvSpPr>
          <p:cNvPr id="5" name="Text 23"/>
          <p:cNvSpPr txBox="1"/>
          <p:nvPr/>
        </p:nvSpPr>
        <p:spPr>
          <a:xfrm>
            <a:off x="5029200" y="1508760"/>
            <a:ext cx="2011680" cy="777240"/>
          </a:xfrm>
          <a:prstGeom prst="rect">
            <a:avLst/>
          </a:prstGeom>
          <a:noFill/>
          <a:ln/>
        </p:spPr>
        <p:txBody>
          <a:bodyPr wrap="square" lIns="0" tIns="0" rIns="0" bIns="0" rtlCol="0" anchor="ctr"/>
          <a:lstStyle/>
          <a:p>
            <a:pPr indent="0" marL="0">
              <a:buNone/>
            </a:pPr>
            <a:r>
              <a:rPr lang="en-US" sz="4400" b="1" dirty="0">
                <a:solidFill>
                  <a:schemeClr val="accent1"/>
                </a:solidFill>
              </a:rPr>
              <a:t>434</a:t>
            </a:r>
            <a:endParaRPr lang="en-US" sz="4400" dirty="0"/>
          </a:p>
        </p:txBody>
      </p:sp>
      <p:sp>
        <p:nvSpPr>
          <p:cNvPr id="6" name="Text 24"/>
          <p:cNvSpPr txBox="1"/>
          <p:nvPr/>
        </p:nvSpPr>
        <p:spPr>
          <a:xfrm>
            <a:off x="5029200" y="2331720"/>
            <a:ext cx="2011680" cy="640080"/>
          </a:xfrm>
          <a:prstGeom prst="rect">
            <a:avLst/>
          </a:prstGeom>
          <a:noFill/>
          <a:ln/>
        </p:spPr>
        <p:txBody>
          <a:bodyPr wrap="square" lIns="0" tIns="0" rIns="0" bIns="0" rtlCol="0" anchor="t"/>
          <a:lstStyle/>
          <a:p>
            <a:pPr indent="0" marL="0">
              <a:buNone/>
            </a:pPr>
            <a:r>
              <a:rPr lang="en-US" sz="1400" dirty="0">
                <a:solidFill>
                  <a:schemeClr val="accent4"/>
                </a:solidFill>
              </a:rPr>
              <a:t>training videos</a:t>
            </a:r>
            <a:endParaRPr lang="en-US" sz="1400" dirty="0"/>
          </a:p>
          <a:p>
            <a:pPr indent="0" marL="0">
              <a:buNone/>
            </a:pPr>
            <a:r>
              <a:rPr lang="en-US" sz="1400" dirty="0">
                <a:solidFill>
                  <a:schemeClr val="accent4"/>
                </a:solidFill>
              </a:rPr>
              <a:t>266 SP, 168 NSP</a:t>
            </a:r>
            <a:endParaRPr lang="en-US" sz="1400" dirty="0"/>
          </a:p>
        </p:txBody>
      </p:sp>
      <p:sp>
        <p:nvSpPr>
          <p:cNvPr id="7" name="Text 25"/>
          <p:cNvSpPr txBox="1"/>
          <p:nvPr/>
        </p:nvSpPr>
        <p:spPr>
          <a:xfrm>
            <a:off x="7315200" y="1508760"/>
            <a:ext cx="2103120" cy="777240"/>
          </a:xfrm>
          <a:prstGeom prst="rect">
            <a:avLst/>
          </a:prstGeom>
          <a:noFill/>
          <a:ln/>
        </p:spPr>
        <p:txBody>
          <a:bodyPr wrap="square" lIns="0" tIns="0" rIns="0" bIns="0" rtlCol="0" anchor="ctr"/>
          <a:lstStyle/>
          <a:p>
            <a:pPr indent="0" marL="0">
              <a:buNone/>
            </a:pPr>
            <a:r>
              <a:rPr lang="en-US" sz="4400" b="1" dirty="0">
                <a:solidFill>
                  <a:schemeClr val="accent1"/>
                </a:solidFill>
              </a:rPr>
              <a:t>40</a:t>
            </a:r>
            <a:endParaRPr lang="en-US" sz="4400" dirty="0"/>
          </a:p>
        </p:txBody>
      </p:sp>
      <p:sp>
        <p:nvSpPr>
          <p:cNvPr id="8" name="Text 26"/>
          <p:cNvSpPr txBox="1"/>
          <p:nvPr/>
        </p:nvSpPr>
        <p:spPr>
          <a:xfrm>
            <a:off x="7315200" y="2331720"/>
            <a:ext cx="2103120" cy="640080"/>
          </a:xfrm>
          <a:prstGeom prst="rect">
            <a:avLst/>
          </a:prstGeom>
          <a:noFill/>
          <a:ln/>
        </p:spPr>
        <p:txBody>
          <a:bodyPr wrap="square" lIns="0" tIns="0" rIns="0" bIns="0" rtlCol="0" anchor="t"/>
          <a:lstStyle/>
          <a:p>
            <a:pPr indent="0" marL="0">
              <a:buNone/>
            </a:pPr>
            <a:r>
              <a:rPr lang="en-US" sz="1400" dirty="0">
                <a:solidFill>
                  <a:schemeClr val="accent4"/>
                </a:solidFill>
              </a:rPr>
              <a:t>validation videos</a:t>
            </a:r>
            <a:endParaRPr lang="en-US" sz="1400" dirty="0"/>
          </a:p>
          <a:p>
            <a:pPr indent="0" marL="0">
              <a:buNone/>
            </a:pPr>
            <a:r>
              <a:rPr lang="en-US" sz="1400" dirty="0">
                <a:solidFill>
                  <a:schemeClr val="accent4"/>
                </a:solidFill>
              </a:rPr>
              <a:t>2,870 labelled frames</a:t>
            </a:r>
            <a:endParaRPr lang="en-US" sz="1400" dirty="0"/>
          </a:p>
        </p:txBody>
      </p:sp>
      <p:sp>
        <p:nvSpPr>
          <p:cNvPr id="9" name="Text 27"/>
          <p:cNvSpPr txBox="1"/>
          <p:nvPr/>
        </p:nvSpPr>
        <p:spPr>
          <a:xfrm>
            <a:off x="9601200" y="1508760"/>
            <a:ext cx="2011680" cy="777240"/>
          </a:xfrm>
          <a:prstGeom prst="rect">
            <a:avLst/>
          </a:prstGeom>
          <a:noFill/>
          <a:ln/>
        </p:spPr>
        <p:txBody>
          <a:bodyPr wrap="square" lIns="0" tIns="0" rIns="0" bIns="0" rtlCol="0" anchor="ctr"/>
          <a:lstStyle/>
          <a:p>
            <a:pPr indent="0" marL="0">
              <a:buNone/>
            </a:pPr>
            <a:r>
              <a:rPr lang="en-US" sz="4400" b="1" dirty="0">
                <a:solidFill>
                  <a:schemeClr val="accent1"/>
                </a:solidFill>
              </a:rPr>
              <a:t>300</a:t>
            </a:r>
            <a:endParaRPr lang="en-US" sz="4400" dirty="0"/>
          </a:p>
        </p:txBody>
      </p:sp>
      <p:sp>
        <p:nvSpPr>
          <p:cNvPr id="10" name="Text 28"/>
          <p:cNvSpPr txBox="1"/>
          <p:nvPr/>
        </p:nvSpPr>
        <p:spPr>
          <a:xfrm>
            <a:off x="9601200" y="2331720"/>
            <a:ext cx="2011680" cy="640080"/>
          </a:xfrm>
          <a:prstGeom prst="rect">
            <a:avLst/>
          </a:prstGeom>
          <a:noFill/>
          <a:ln/>
        </p:spPr>
        <p:txBody>
          <a:bodyPr wrap="square" lIns="0" tIns="0" rIns="0" bIns="0" rtlCol="0" anchor="t"/>
          <a:lstStyle/>
          <a:p>
            <a:pPr indent="0" marL="0">
              <a:buNone/>
            </a:pPr>
            <a:r>
              <a:rPr lang="en-US" sz="1400" dirty="0">
                <a:solidFill>
                  <a:schemeClr val="accent4"/>
                </a:solidFill>
              </a:rPr>
              <a:t>test videos</a:t>
            </a:r>
            <a:endParaRPr lang="en-US" sz="1400" dirty="0"/>
          </a:p>
          <a:p>
            <a:pPr indent="0" marL="0">
              <a:buNone/>
            </a:pPr>
            <a:r>
              <a:rPr lang="en-US" sz="1400" dirty="0">
                <a:solidFill>
                  <a:schemeClr val="accent4"/>
                </a:solidFill>
              </a:rPr>
              <a:t>8,665 labelled frames</a:t>
            </a:r>
            <a:endParaRPr lang="en-US" sz="1400" dirty="0"/>
          </a:p>
        </p:txBody>
      </p:sp>
      <p:sp>
        <p:nvSpPr>
          <p:cNvPr id="11" name="Card 29"/>
          <p:cNvSpPr/>
          <p:nvPr/>
        </p:nvSpPr>
        <p:spPr>
          <a:xfrm>
            <a:off x="5029200" y="3337560"/>
            <a:ext cx="3200400" cy="2011680"/>
          </a:xfrm>
          <a:prstGeom prst="roundRect">
            <a:avLst>
              <a:gd name="adj" fmla="val 5455"/>
            </a:avLst>
          </a:prstGeom>
          <a:solidFill>
            <a:schemeClr val="bg2"/>
          </a:solidFill>
          <a:ln w="12700">
            <a:solidFill>
              <a:schemeClr val="bg2"/>
            </a:solidFill>
            <a:prstDash val="solid"/>
          </a:ln>
        </p:spPr>
      </p:sp>
      <p:sp>
        <p:nvSpPr>
          <p:cNvPr id="12" name="Text 30"/>
          <p:cNvSpPr txBox="1"/>
          <p:nvPr/>
        </p:nvSpPr>
        <p:spPr>
          <a:xfrm>
            <a:off x="5257800" y="3520440"/>
            <a:ext cx="2743200" cy="1645920"/>
          </a:xfrm>
          <a:prstGeom prst="rect">
            <a:avLst/>
          </a:prstGeom>
          <a:noFill/>
          <a:ln/>
        </p:spPr>
        <p:txBody>
          <a:bodyPr wrap="square" lIns="0" tIns="0" rIns="0" bIns="0" rtlCol="0" anchor="t"/>
          <a:lstStyle/>
          <a:p>
            <a:pPr indent="0" marL="0">
              <a:buNone/>
            </a:pPr>
            <a:r>
              <a:rPr lang="en-US" sz="1800" b="1" dirty="0">
                <a:solidFill>
                  <a:schemeClr val="tx2"/>
                </a:solidFill>
              </a:rPr>
              <a:t>Task</a:t>
            </a:r>
            <a:endParaRPr lang="en-US" sz="1500" dirty="0"/>
          </a:p>
          <a:p>
            <a:pPr indent="0" marL="0">
              <a:buNone/>
            </a:pPr>
            <a:r>
              <a:rPr lang="en-US" sz="1500" dirty="0">
                <a:solidFill>
                  <a:schemeClr val="tx1"/>
                </a:solidFill>
              </a:rPr>
              <a:t>Classify each frame as standard plane (SP) or non-standard plane (NSP)</a:t>
            </a:r>
            <a:endParaRPr lang="en-US" sz="1500" dirty="0"/>
          </a:p>
        </p:txBody>
      </p:sp>
      <p:sp>
        <p:nvSpPr>
          <p:cNvPr id="13" name="Card 31"/>
          <p:cNvSpPr/>
          <p:nvPr/>
        </p:nvSpPr>
        <p:spPr>
          <a:xfrm>
            <a:off x="8439912" y="3337560"/>
            <a:ext cx="3200400" cy="2011680"/>
          </a:xfrm>
          <a:prstGeom prst="roundRect">
            <a:avLst>
              <a:gd name="adj" fmla="val 5455"/>
            </a:avLst>
          </a:prstGeom>
          <a:solidFill>
            <a:schemeClr val="bg2"/>
          </a:solidFill>
          <a:ln w="12700">
            <a:solidFill>
              <a:schemeClr val="bg2"/>
            </a:solidFill>
            <a:prstDash val="solid"/>
          </a:ln>
        </p:spPr>
      </p:sp>
      <p:sp>
        <p:nvSpPr>
          <p:cNvPr id="14" name="Text 32"/>
          <p:cNvSpPr txBox="1"/>
          <p:nvPr/>
        </p:nvSpPr>
        <p:spPr>
          <a:xfrm>
            <a:off x="8668512" y="3520440"/>
            <a:ext cx="2743200" cy="1645920"/>
          </a:xfrm>
          <a:prstGeom prst="rect">
            <a:avLst/>
          </a:prstGeom>
          <a:noFill/>
          <a:ln/>
        </p:spPr>
        <p:txBody>
          <a:bodyPr wrap="square" lIns="0" tIns="0" rIns="0" bIns="0" rtlCol="0" anchor="t"/>
          <a:lstStyle/>
          <a:p>
            <a:pPr indent="0" marL="0">
              <a:buNone/>
            </a:pPr>
            <a:r>
              <a:rPr lang="en-US" sz="1800" b="1" dirty="0">
                <a:solidFill>
                  <a:schemeClr val="tx2"/>
                </a:solidFill>
              </a:rPr>
              <a:t>Labels</a:t>
            </a:r>
            <a:endParaRPr lang="en-US" sz="1500" dirty="0"/>
          </a:p>
          <a:p>
            <a:pPr indent="0" marL="0">
              <a:buNone/>
            </a:pPr>
            <a:r>
              <a:rPr lang="en-US" sz="1500" dirty="0">
                <a:solidFill>
                  <a:schemeClr val="tx1"/>
                </a:solidFill>
              </a:rPr>
              <a:t>Training: one label per video. Validation and test: one label per frame, with both classes inside each video</a:t>
            </a:r>
            <a:endParaRPr lang="en-US" sz="1500" dirty="0"/>
          </a:p>
        </p:txBody>
      </p:sp>
      <p:sp>
        <p:nvSpPr>
          <p:cNvPr id="15" name="Text 33"/>
          <p:cNvSpPr txBox="1"/>
          <p:nvPr/>
        </p:nvSpPr>
        <p:spPr>
          <a:xfrm>
            <a:off x="5029200" y="5532120"/>
            <a:ext cx="6611112" cy="548640"/>
          </a:xfrm>
          <a:prstGeom prst="rect">
            <a:avLst/>
          </a:prstGeom>
          <a:noFill/>
          <a:ln/>
        </p:spPr>
        <p:txBody>
          <a:bodyPr wrap="square" lIns="0" tIns="0" rIns="0" bIns="0" rtlCol="0" anchor="t"/>
          <a:lstStyle/>
          <a:p>
            <a:pPr indent="0" marL="0">
              <a:buNone/>
            </a:pPr>
            <a:r>
              <a:rPr lang="en-US" sz="1200" dirty="0">
                <a:solidFill>
                  <a:schemeClr val="accent4"/>
                </a:solidFill>
              </a:rPr>
              <a:t>512 x 512 greyscale at 24 fps. Training videos have 9 to 778 frames; test videos 20 to 70. Source: IUGC 2024 dataset (MICCAI).</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V-JEPA learns by predicting hidden parts of a video as features</a:t>
            </a:r>
            <a:endParaRPr lang="en-US" sz="3000" dirty="0"/>
          </a:p>
        </p:txBody>
      </p:sp>
      <p:sp>
        <p:nvSpPr>
          <p:cNvPr id="3" name="Card 34"/>
          <p:cNvSpPr/>
          <p:nvPr/>
        </p:nvSpPr>
        <p:spPr>
          <a:xfrm>
            <a:off x="548640" y="1737360"/>
            <a:ext cx="1920240" cy="1188720"/>
          </a:xfrm>
          <a:prstGeom prst="roundRect">
            <a:avLst>
              <a:gd name="adj" fmla="val 9231"/>
            </a:avLst>
          </a:prstGeom>
          <a:solidFill>
            <a:schemeClr val="bg2"/>
          </a:solidFill>
          <a:ln w="12700">
            <a:solidFill>
              <a:schemeClr val="bg2"/>
            </a:solidFill>
            <a:prstDash val="solid"/>
          </a:ln>
        </p:spPr>
      </p:sp>
      <p:sp>
        <p:nvSpPr>
          <p:cNvPr id="4" name="Text 35"/>
          <p:cNvSpPr txBox="1"/>
          <p:nvPr/>
        </p:nvSpPr>
        <p:spPr>
          <a:xfrm>
            <a:off x="685800" y="1828800"/>
            <a:ext cx="1645920" cy="1005840"/>
          </a:xfrm>
          <a:prstGeom prst="rect">
            <a:avLst/>
          </a:prstGeom>
          <a:noFill/>
          <a:ln/>
        </p:spPr>
        <p:txBody>
          <a:bodyPr wrap="square" lIns="0" tIns="0" rIns="0" bIns="0" rtlCol="0" anchor="ctr"/>
          <a:lstStyle/>
          <a:p>
            <a:pPr algn="ctr" indent="0" marL="0">
              <a:buNone/>
            </a:pPr>
            <a:r>
              <a:rPr lang="en-US" sz="1600" b="1" dirty="0">
                <a:solidFill>
                  <a:schemeClr val="tx2"/>
                </a:solidFill>
              </a:rPr>
              <a:t>Video clip</a:t>
            </a:r>
            <a:endParaRPr lang="en-US" sz="1500" dirty="0"/>
          </a:p>
          <a:p>
            <a:pPr algn="ctr" indent="0" marL="0">
              <a:buNone/>
            </a:pPr>
            <a:r>
              <a:rPr lang="en-US" sz="1400" dirty="0">
                <a:solidFill>
                  <a:schemeClr val="tx1"/>
                </a:solidFill>
              </a:rPr>
              <a:t>16 frames, 224 px</a:t>
            </a:r>
            <a:endParaRPr lang="en-US" sz="1500" dirty="0"/>
          </a:p>
        </p:txBody>
      </p:sp>
      <p:sp>
        <p:nvSpPr>
          <p:cNvPr id="5" name="Card 36"/>
          <p:cNvSpPr/>
          <p:nvPr/>
        </p:nvSpPr>
        <p:spPr>
          <a:xfrm>
            <a:off x="2834640" y="1737360"/>
            <a:ext cx="1920240" cy="1188720"/>
          </a:xfrm>
          <a:prstGeom prst="roundRect">
            <a:avLst>
              <a:gd name="adj" fmla="val 9231"/>
            </a:avLst>
          </a:prstGeom>
          <a:solidFill>
            <a:schemeClr val="bg2"/>
          </a:solidFill>
          <a:ln w="12700">
            <a:solidFill>
              <a:schemeClr val="bg2"/>
            </a:solidFill>
            <a:prstDash val="solid"/>
          </a:ln>
        </p:spPr>
      </p:sp>
      <p:sp>
        <p:nvSpPr>
          <p:cNvPr id="6" name="Text 37"/>
          <p:cNvSpPr txBox="1"/>
          <p:nvPr/>
        </p:nvSpPr>
        <p:spPr>
          <a:xfrm>
            <a:off x="2971800" y="1828800"/>
            <a:ext cx="1645920" cy="1005840"/>
          </a:xfrm>
          <a:prstGeom prst="rect">
            <a:avLst/>
          </a:prstGeom>
          <a:noFill/>
          <a:ln/>
        </p:spPr>
        <p:txBody>
          <a:bodyPr wrap="square" lIns="0" tIns="0" rIns="0" bIns="0" rtlCol="0" anchor="ctr"/>
          <a:lstStyle/>
          <a:p>
            <a:pPr algn="ctr" indent="0" marL="0">
              <a:buNone/>
            </a:pPr>
            <a:r>
              <a:rPr lang="en-US" sz="1600" b="1" dirty="0">
                <a:solidFill>
                  <a:schemeClr val="tx2"/>
                </a:solidFill>
              </a:rPr>
              <a:t>Patch tokens</a:t>
            </a:r>
            <a:endParaRPr lang="en-US" sz="1500" dirty="0"/>
          </a:p>
          <a:p>
            <a:pPr algn="ctr" indent="0" marL="0">
              <a:buNone/>
            </a:pPr>
            <a:r>
              <a:rPr lang="en-US" sz="1400" dirty="0">
                <a:solidFill>
                  <a:schemeClr val="tx1"/>
                </a:solidFill>
              </a:rPr>
              <a:t>8 x 14 x 14 = 1,568</a:t>
            </a:r>
            <a:endParaRPr lang="en-US" sz="1500" dirty="0"/>
          </a:p>
        </p:txBody>
      </p:sp>
      <p:sp>
        <p:nvSpPr>
          <p:cNvPr id="7" name="Card 38"/>
          <p:cNvSpPr/>
          <p:nvPr/>
        </p:nvSpPr>
        <p:spPr>
          <a:xfrm>
            <a:off x="5120640" y="1737360"/>
            <a:ext cx="1920240" cy="1188720"/>
          </a:xfrm>
          <a:prstGeom prst="roundRect">
            <a:avLst>
              <a:gd name="adj" fmla="val 9231"/>
            </a:avLst>
          </a:prstGeom>
          <a:solidFill>
            <a:schemeClr val="accent2"/>
          </a:solidFill>
          <a:ln w="12700">
            <a:solidFill>
              <a:schemeClr val="accent2"/>
            </a:solidFill>
            <a:prstDash val="solid"/>
          </a:ln>
        </p:spPr>
      </p:sp>
      <p:sp>
        <p:nvSpPr>
          <p:cNvPr id="8" name="Text 39"/>
          <p:cNvSpPr txBox="1"/>
          <p:nvPr/>
        </p:nvSpPr>
        <p:spPr>
          <a:xfrm>
            <a:off x="5257800" y="1828800"/>
            <a:ext cx="1645920" cy="1005840"/>
          </a:xfrm>
          <a:prstGeom prst="rect">
            <a:avLst/>
          </a:prstGeom>
          <a:noFill/>
          <a:ln/>
        </p:spPr>
        <p:txBody>
          <a:bodyPr wrap="square" lIns="0" tIns="0" rIns="0" bIns="0" rtlCol="0" anchor="ctr"/>
          <a:lstStyle/>
          <a:p>
            <a:pPr algn="ctr" indent="0" marL="0">
              <a:buNone/>
            </a:pPr>
            <a:r>
              <a:rPr lang="en-US" sz="1600" b="1" dirty="0">
                <a:solidFill>
                  <a:schemeClr val="tx2"/>
                </a:solidFill>
              </a:rPr>
              <a:t>Mask</a:t>
            </a:r>
            <a:endParaRPr lang="en-US" sz="1500" dirty="0"/>
          </a:p>
          <a:p>
            <a:pPr algn="ctr" indent="0" marL="0">
              <a:buNone/>
            </a:pPr>
            <a:r>
              <a:rPr lang="en-US" sz="1400" dirty="0">
                <a:solidFill>
                  <a:schemeClr val="tx2"/>
                </a:solidFill>
              </a:rPr>
              <a:t>hide most tokens</a:t>
            </a:r>
            <a:endParaRPr lang="en-US" sz="1500" dirty="0"/>
          </a:p>
        </p:txBody>
      </p:sp>
      <p:sp>
        <p:nvSpPr>
          <p:cNvPr id="9" name="Card 40"/>
          <p:cNvSpPr/>
          <p:nvPr/>
        </p:nvSpPr>
        <p:spPr>
          <a:xfrm>
            <a:off x="7406640" y="1737360"/>
            <a:ext cx="1920240" cy="1188720"/>
          </a:xfrm>
          <a:prstGeom prst="roundRect">
            <a:avLst>
              <a:gd name="adj" fmla="val 9231"/>
            </a:avLst>
          </a:prstGeom>
          <a:solidFill>
            <a:schemeClr val="bg2"/>
          </a:solidFill>
          <a:ln w="12700">
            <a:solidFill>
              <a:schemeClr val="bg2"/>
            </a:solidFill>
            <a:prstDash val="solid"/>
          </a:ln>
        </p:spPr>
      </p:sp>
      <p:sp>
        <p:nvSpPr>
          <p:cNvPr id="10" name="Text 41"/>
          <p:cNvSpPr txBox="1"/>
          <p:nvPr/>
        </p:nvSpPr>
        <p:spPr>
          <a:xfrm>
            <a:off x="7543800" y="1828800"/>
            <a:ext cx="1645920" cy="1005840"/>
          </a:xfrm>
          <a:prstGeom prst="rect">
            <a:avLst/>
          </a:prstGeom>
          <a:noFill/>
          <a:ln/>
        </p:spPr>
        <p:txBody>
          <a:bodyPr wrap="square" lIns="0" tIns="0" rIns="0" bIns="0" rtlCol="0" anchor="ctr"/>
          <a:lstStyle/>
          <a:p>
            <a:pPr algn="ctr" indent="0" marL="0">
              <a:buNone/>
            </a:pPr>
            <a:r>
              <a:rPr lang="en-US" sz="1600" b="1" dirty="0">
                <a:solidFill>
                  <a:schemeClr val="tx2"/>
                </a:solidFill>
              </a:rPr>
              <a:t>Context encoder</a:t>
            </a:r>
            <a:endParaRPr lang="en-US" sz="1500" dirty="0"/>
          </a:p>
          <a:p>
            <a:pPr algn="ctr" indent="0" marL="0">
              <a:buNone/>
            </a:pPr>
            <a:r>
              <a:rPr lang="en-US" sz="1400" dirty="0">
                <a:solidFill>
                  <a:schemeClr val="tx1"/>
                </a:solidFill>
              </a:rPr>
              <a:t>sees visible tokens</a:t>
            </a:r>
            <a:endParaRPr lang="en-US" sz="1500" dirty="0"/>
          </a:p>
        </p:txBody>
      </p:sp>
      <p:sp>
        <p:nvSpPr>
          <p:cNvPr id="11" name="Card 42"/>
          <p:cNvSpPr/>
          <p:nvPr/>
        </p:nvSpPr>
        <p:spPr>
          <a:xfrm>
            <a:off x="9692640" y="1737360"/>
            <a:ext cx="1920240" cy="1188720"/>
          </a:xfrm>
          <a:prstGeom prst="roundRect">
            <a:avLst>
              <a:gd name="adj" fmla="val 9231"/>
            </a:avLst>
          </a:prstGeom>
          <a:solidFill>
            <a:schemeClr val="bg2"/>
          </a:solidFill>
          <a:ln w="12700">
            <a:solidFill>
              <a:schemeClr val="bg2"/>
            </a:solidFill>
            <a:prstDash val="solid"/>
          </a:ln>
        </p:spPr>
      </p:sp>
      <p:sp>
        <p:nvSpPr>
          <p:cNvPr id="12" name="Text 43"/>
          <p:cNvSpPr txBox="1"/>
          <p:nvPr/>
        </p:nvSpPr>
        <p:spPr>
          <a:xfrm>
            <a:off x="9829800" y="1828800"/>
            <a:ext cx="1645920" cy="1005840"/>
          </a:xfrm>
          <a:prstGeom prst="rect">
            <a:avLst/>
          </a:prstGeom>
          <a:noFill/>
          <a:ln/>
        </p:spPr>
        <p:txBody>
          <a:bodyPr wrap="square" lIns="0" tIns="0" rIns="0" bIns="0" rtlCol="0" anchor="ctr"/>
          <a:lstStyle/>
          <a:p>
            <a:pPr algn="ctr" indent="0" marL="0">
              <a:buNone/>
            </a:pPr>
            <a:r>
              <a:rPr lang="en-US" sz="1600" b="1" dirty="0">
                <a:solidFill>
                  <a:schemeClr val="tx2"/>
                </a:solidFill>
              </a:rPr>
              <a:t>Predictor</a:t>
            </a:r>
            <a:endParaRPr lang="en-US" sz="1500" dirty="0"/>
          </a:p>
          <a:p>
            <a:pPr algn="ctr" indent="0" marL="0">
              <a:buNone/>
            </a:pPr>
            <a:r>
              <a:rPr lang="en-US" sz="1400" dirty="0">
                <a:solidFill>
                  <a:schemeClr val="tx1"/>
                </a:solidFill>
              </a:rPr>
              <a:t>guesses hidden features</a:t>
            </a:r>
            <a:endParaRPr lang="en-US" sz="1500" dirty="0"/>
          </a:p>
        </p:txBody>
      </p:sp>
      <p:sp>
        <p:nvSpPr>
          <p:cNvPr id="13" name="Arrow 44"/>
          <p:cNvSpPr/>
          <p:nvPr/>
        </p:nvSpPr>
        <p:spPr>
          <a:xfrm>
            <a:off x="2468880" y="2331720"/>
            <a:ext cx="365760" cy="0"/>
          </a:xfrm>
          <a:prstGeom prst="line">
            <a:avLst/>
          </a:prstGeom>
          <a:noFill/>
          <a:ln w="22225">
            <a:solidFill>
              <a:schemeClr val="accent4"/>
            </a:solidFill>
            <a:prstDash val="solid"/>
            <a:tailEnd type="triangle"/>
          </a:ln>
        </p:spPr>
      </p:sp>
      <p:sp>
        <p:nvSpPr>
          <p:cNvPr id="14" name="Arrow 45"/>
          <p:cNvSpPr/>
          <p:nvPr/>
        </p:nvSpPr>
        <p:spPr>
          <a:xfrm>
            <a:off x="4754880" y="2331720"/>
            <a:ext cx="365760" cy="0"/>
          </a:xfrm>
          <a:prstGeom prst="line">
            <a:avLst/>
          </a:prstGeom>
          <a:noFill/>
          <a:ln w="22225">
            <a:solidFill>
              <a:schemeClr val="accent4"/>
            </a:solidFill>
            <a:prstDash val="solid"/>
            <a:tailEnd type="triangle"/>
          </a:ln>
        </p:spPr>
      </p:sp>
      <p:sp>
        <p:nvSpPr>
          <p:cNvPr id="15" name="Arrow 46"/>
          <p:cNvSpPr/>
          <p:nvPr/>
        </p:nvSpPr>
        <p:spPr>
          <a:xfrm>
            <a:off x="7040880" y="2331720"/>
            <a:ext cx="365760" cy="0"/>
          </a:xfrm>
          <a:prstGeom prst="line">
            <a:avLst/>
          </a:prstGeom>
          <a:noFill/>
          <a:ln w="22225">
            <a:solidFill>
              <a:schemeClr val="accent4"/>
            </a:solidFill>
            <a:prstDash val="solid"/>
            <a:tailEnd type="triangle"/>
          </a:ln>
        </p:spPr>
      </p:sp>
      <p:sp>
        <p:nvSpPr>
          <p:cNvPr id="16" name="Arrow 47"/>
          <p:cNvSpPr/>
          <p:nvPr/>
        </p:nvSpPr>
        <p:spPr>
          <a:xfrm>
            <a:off x="9326880" y="2331720"/>
            <a:ext cx="365760" cy="0"/>
          </a:xfrm>
          <a:prstGeom prst="line">
            <a:avLst/>
          </a:prstGeom>
          <a:noFill/>
          <a:ln w="22225">
            <a:solidFill>
              <a:schemeClr val="accent4"/>
            </a:solidFill>
            <a:prstDash val="solid"/>
            <a:tailEnd type="triangle"/>
          </a:ln>
        </p:spPr>
      </p:sp>
      <p:sp>
        <p:nvSpPr>
          <p:cNvPr id="17" name="Text 48"/>
          <p:cNvSpPr txBox="1"/>
          <p:nvPr/>
        </p:nvSpPr>
        <p:spPr>
          <a:xfrm>
            <a:off x="4663440" y="3035808"/>
            <a:ext cx="2834640" cy="320040"/>
          </a:xfrm>
          <a:prstGeom prst="rect">
            <a:avLst/>
          </a:prstGeom>
          <a:noFill/>
          <a:ln/>
        </p:spPr>
        <p:txBody>
          <a:bodyPr wrap="square" lIns="0" tIns="0" rIns="0" bIns="0" rtlCol="0" anchor="t"/>
          <a:lstStyle/>
          <a:p>
            <a:pPr algn="ctr" indent="0" marL="0">
              <a:buNone/>
            </a:pPr>
            <a:r>
              <a:rPr lang="en-US" sz="1300" b="1" dirty="0">
                <a:solidFill>
                  <a:schemeClr val="accent3"/>
                </a:solidFill>
              </a:rPr>
              <a:t>This project changes this step</a:t>
            </a:r>
            <a:endParaRPr lang="en-US" sz="1300" dirty="0"/>
          </a:p>
        </p:txBody>
      </p:sp>
      <p:sp>
        <p:nvSpPr>
          <p:cNvPr id="18" name="Card 49"/>
          <p:cNvSpPr/>
          <p:nvPr/>
        </p:nvSpPr>
        <p:spPr>
          <a:xfrm>
            <a:off x="5120640" y="4206240"/>
            <a:ext cx="4206240" cy="1188720"/>
          </a:xfrm>
          <a:prstGeom prst="roundRect">
            <a:avLst>
              <a:gd name="adj" fmla="val 9231"/>
            </a:avLst>
          </a:prstGeom>
          <a:solidFill>
            <a:schemeClr val="bg2"/>
          </a:solidFill>
          <a:ln w="12700">
            <a:solidFill>
              <a:schemeClr val="bg2"/>
            </a:solidFill>
            <a:prstDash val="solid"/>
          </a:ln>
        </p:spPr>
      </p:sp>
      <p:sp>
        <p:nvSpPr>
          <p:cNvPr id="19" name="Text 50"/>
          <p:cNvSpPr txBox="1"/>
          <p:nvPr/>
        </p:nvSpPr>
        <p:spPr>
          <a:xfrm>
            <a:off x="5257800" y="4297680"/>
            <a:ext cx="3931920" cy="1005840"/>
          </a:xfrm>
          <a:prstGeom prst="rect">
            <a:avLst/>
          </a:prstGeom>
          <a:noFill/>
          <a:ln/>
        </p:spPr>
        <p:txBody>
          <a:bodyPr wrap="square" lIns="0" tIns="0" rIns="0" bIns="0" rtlCol="0" anchor="ctr"/>
          <a:lstStyle/>
          <a:p>
            <a:pPr algn="ctr" indent="0" marL="0">
              <a:buNone/>
            </a:pPr>
            <a:r>
              <a:rPr lang="en-US" sz="1600" b="1" dirty="0">
                <a:solidFill>
                  <a:schemeClr val="tx2"/>
                </a:solidFill>
              </a:rPr>
              <a:t>Target encoder</a:t>
            </a:r>
            <a:endParaRPr lang="en-US" sz="1500" dirty="0"/>
          </a:p>
          <a:p>
            <a:pPr algn="ctr" indent="0" marL="0">
              <a:buNone/>
            </a:pPr>
            <a:r>
              <a:rPr lang="en-US" sz="1400" dirty="0">
                <a:solidFill>
                  <a:schemeClr val="tx1"/>
                </a:solidFill>
              </a:rPr>
              <a:t>sees the whole clip; a slow moving-average copy of the context encoder</a:t>
            </a:r>
            <a:endParaRPr lang="en-US" sz="1500" dirty="0"/>
          </a:p>
        </p:txBody>
      </p:sp>
      <p:sp>
        <p:nvSpPr>
          <p:cNvPr id="20" name="Card 51"/>
          <p:cNvSpPr/>
          <p:nvPr/>
        </p:nvSpPr>
        <p:spPr>
          <a:xfrm>
            <a:off x="9692640" y="4206240"/>
            <a:ext cx="1920240" cy="1188720"/>
          </a:xfrm>
          <a:prstGeom prst="roundRect">
            <a:avLst>
              <a:gd name="adj" fmla="val 9231"/>
            </a:avLst>
          </a:prstGeom>
          <a:solidFill>
            <a:schemeClr val="tx2"/>
          </a:solidFill>
          <a:ln w="12700">
            <a:solidFill>
              <a:schemeClr val="tx2"/>
            </a:solidFill>
            <a:prstDash val="solid"/>
          </a:ln>
        </p:spPr>
      </p:sp>
      <p:sp>
        <p:nvSpPr>
          <p:cNvPr id="21" name="Text 52"/>
          <p:cNvSpPr txBox="1"/>
          <p:nvPr/>
        </p:nvSpPr>
        <p:spPr>
          <a:xfrm>
            <a:off x="9829800" y="4297680"/>
            <a:ext cx="1645920" cy="1005840"/>
          </a:xfrm>
          <a:prstGeom prst="rect">
            <a:avLst/>
          </a:prstGeom>
          <a:noFill/>
          <a:ln/>
        </p:spPr>
        <p:txBody>
          <a:bodyPr wrap="square" lIns="0" tIns="0" rIns="0" bIns="0" rtlCol="0" anchor="ctr"/>
          <a:lstStyle/>
          <a:p>
            <a:pPr algn="ctr" indent="0" marL="0">
              <a:buNone/>
            </a:pPr>
            <a:r>
              <a:rPr lang="en-US" sz="1600" b="1" dirty="0">
                <a:solidFill>
                  <a:schemeClr val="bg1"/>
                </a:solidFill>
              </a:rPr>
              <a:t>L1 loss</a:t>
            </a:r>
            <a:endParaRPr lang="en-US" sz="1500" dirty="0"/>
          </a:p>
          <a:p>
            <a:pPr algn="ctr" indent="0" marL="0">
              <a:buNone/>
            </a:pPr>
            <a:r>
              <a:rPr lang="en-US" sz="1400" dirty="0">
                <a:solidFill>
                  <a:schemeClr val="bg2"/>
                </a:solidFill>
              </a:rPr>
              <a:t>predicted vs target</a:t>
            </a:r>
            <a:endParaRPr lang="en-US" sz="1500" dirty="0"/>
          </a:p>
        </p:txBody>
      </p:sp>
      <p:sp>
        <p:nvSpPr>
          <p:cNvPr id="22" name="Arrow 53"/>
          <p:cNvSpPr/>
          <p:nvPr/>
        </p:nvSpPr>
        <p:spPr>
          <a:xfrm>
            <a:off x="3794760" y="2926080"/>
            <a:ext cx="0" cy="1874520"/>
          </a:xfrm>
          <a:prstGeom prst="line">
            <a:avLst/>
          </a:prstGeom>
          <a:noFill/>
          <a:ln w="22225">
            <a:solidFill>
              <a:schemeClr val="accent4"/>
            </a:solidFill>
            <a:prstDash val="solid"/>
          </a:ln>
        </p:spPr>
      </p:sp>
      <p:sp>
        <p:nvSpPr>
          <p:cNvPr id="23" name="Arrow 54"/>
          <p:cNvSpPr/>
          <p:nvPr/>
        </p:nvSpPr>
        <p:spPr>
          <a:xfrm>
            <a:off x="3794760" y="4800600"/>
            <a:ext cx="1325880" cy="0"/>
          </a:xfrm>
          <a:prstGeom prst="line">
            <a:avLst/>
          </a:prstGeom>
          <a:noFill/>
          <a:ln w="22225">
            <a:solidFill>
              <a:schemeClr val="accent4"/>
            </a:solidFill>
            <a:prstDash val="solid"/>
            <a:tailEnd type="triangle"/>
          </a:ln>
        </p:spPr>
      </p:sp>
      <p:sp>
        <p:nvSpPr>
          <p:cNvPr id="24" name="Arrow 55"/>
          <p:cNvSpPr/>
          <p:nvPr/>
        </p:nvSpPr>
        <p:spPr>
          <a:xfrm>
            <a:off x="9326880" y="4800600"/>
            <a:ext cx="365760" cy="0"/>
          </a:xfrm>
          <a:prstGeom prst="line">
            <a:avLst/>
          </a:prstGeom>
          <a:noFill/>
          <a:ln w="22225">
            <a:solidFill>
              <a:schemeClr val="accent4"/>
            </a:solidFill>
            <a:prstDash val="solid"/>
            <a:tailEnd type="triangle"/>
          </a:ln>
        </p:spPr>
      </p:sp>
      <p:sp>
        <p:nvSpPr>
          <p:cNvPr id="25" name="Arrow 56"/>
          <p:cNvSpPr/>
          <p:nvPr/>
        </p:nvSpPr>
        <p:spPr>
          <a:xfrm>
            <a:off x="10652760" y="2926080"/>
            <a:ext cx="0" cy="1280160"/>
          </a:xfrm>
          <a:prstGeom prst="line">
            <a:avLst/>
          </a:prstGeom>
          <a:noFill/>
          <a:ln w="22225">
            <a:solidFill>
              <a:schemeClr val="accent4"/>
            </a:solidFill>
            <a:prstDash val="solid"/>
            <a:tailEnd type="triangle"/>
          </a:ln>
        </p:spPr>
      </p:sp>
      <p:sp>
        <p:nvSpPr>
          <p:cNvPr id="26" name="Text 57"/>
          <p:cNvSpPr txBox="1"/>
          <p:nvPr/>
        </p:nvSpPr>
        <p:spPr>
          <a:xfrm>
            <a:off x="548640" y="5623560"/>
            <a:ext cx="11091672" cy="640080"/>
          </a:xfrm>
          <a:prstGeom prst="rect">
            <a:avLst/>
          </a:prstGeom>
          <a:noFill/>
          <a:ln/>
        </p:spPr>
        <p:txBody>
          <a:bodyPr wrap="square" lIns="0" tIns="0" rIns="0" bIns="0" rtlCol="0" anchor="t"/>
          <a:lstStyle/>
          <a:p>
            <a:pPr indent="0" marL="0">
              <a:buNone/>
            </a:pPr>
            <a:r>
              <a:rPr lang="en-US" sz="1500" dirty="0">
                <a:solidFill>
                  <a:schemeClr val="accent4"/>
                </a:solidFill>
              </a:rPr>
              <a:t>No pixels are reconstructed. Gradients update the context encoder and the predictor; the target encoder follows as a moving average.</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Standard V-JEPA places its mask blocks at random</a:t>
            </a:r>
            <a:endParaRPr lang="en-US" sz="3000" dirty="0"/>
          </a:p>
        </p:txBody>
      </p:sp>
      <p:pic>
        <p:nvPicPr>
          <p:cNvPr id="3" name="Block mask illustration" descr="/tmp/claude-2726598/-scratch-frafsani-V-Jepa/3ff876df-97fd-4cf4-8456-71590d0e11a5/scratchpad/deck/mask_block.png">    </p:cNvPr>
          <p:cNvPicPr>
            <a:picLocks noChangeAspect="1"/>
          </p:cNvPicPr>
          <p:nvPr/>
        </p:nvPicPr>
        <p:blipFill>
          <a:blip r:embed="rId1"/>
          <a:stretch>
            <a:fillRect/>
          </a:stretch>
        </p:blipFill>
        <p:spPr>
          <a:xfrm>
            <a:off x="548640" y="1508760"/>
            <a:ext cx="3931920" cy="3931920"/>
          </a:xfrm>
          <a:prstGeom prst="rect">
            <a:avLst/>
          </a:prstGeom>
        </p:spPr>
      </p:pic>
      <p:sp>
        <p:nvSpPr>
          <p:cNvPr id="4" name="Text 58"/>
          <p:cNvSpPr txBox="1"/>
          <p:nvPr/>
        </p:nvSpPr>
        <p:spPr>
          <a:xfrm>
            <a:off x="548640" y="5532120"/>
            <a:ext cx="3931920" cy="457200"/>
          </a:xfrm>
          <a:prstGeom prst="rect">
            <a:avLst/>
          </a:prstGeom>
          <a:noFill/>
          <a:ln/>
        </p:spPr>
        <p:txBody>
          <a:bodyPr wrap="square" lIns="0" tIns="0" rIns="0" bIns="0" rtlCol="0" anchor="t"/>
          <a:lstStyle/>
          <a:p>
            <a:pPr indent="0" marL="0">
              <a:buNone/>
            </a:pPr>
            <a:r>
              <a:rPr lang="en-US" sz="1200" dirty="0">
                <a:solidFill>
                  <a:schemeClr val="accent4"/>
                </a:solidFill>
              </a:rPr>
              <a:t>Illustration: teal patches are hidden, outlined patches stay visible</a:t>
            </a:r>
            <a:endParaRPr lang="en-US" sz="1200" dirty="0"/>
          </a:p>
        </p:txBody>
      </p:sp>
      <p:sp>
        <p:nvSpPr>
          <p:cNvPr id="5" name="Icon circle 59"/>
          <p:cNvSpPr/>
          <p:nvPr/>
        </p:nvSpPr>
        <p:spPr>
          <a:xfrm>
            <a:off x="4937760" y="1508760"/>
            <a:ext cx="548640" cy="548640"/>
          </a:xfrm>
          <a:prstGeom prst="ellipse">
            <a:avLst/>
          </a:prstGeom>
          <a:solidFill>
            <a:schemeClr val="accent1"/>
          </a:solidFill>
          <a:ln w="12700">
            <a:solidFill>
              <a:schemeClr val="accent1"/>
            </a:solidFill>
            <a:prstDash val="solid"/>
          </a:ln>
        </p:spPr>
      </p:sp>
      <p:pic>
        <p:nvPicPr>
          <p:cNvPr id="6" name="Icon 60" descr="preencoded.png">    </p:cNvPr>
          <p:cNvPicPr>
            <a:picLocks noChangeAspect="1"/>
          </p:cNvPicPr>
          <p:nvPr/>
        </p:nvPicPr>
        <p:blipFill>
          <a:blip r:embed="rId2"/>
          <a:stretch>
            <a:fillRect/>
          </a:stretch>
        </p:blipFill>
        <p:spPr>
          <a:xfrm>
            <a:off x="5080406" y="1651406"/>
            <a:ext cx="263347" cy="263347"/>
          </a:xfrm>
          <a:prstGeom prst="rect">
            <a:avLst/>
          </a:prstGeom>
        </p:spPr>
      </p:pic>
      <p:sp>
        <p:nvSpPr>
          <p:cNvPr id="7" name="Text 61"/>
          <p:cNvSpPr txBox="1"/>
          <p:nvPr/>
        </p:nvSpPr>
        <p:spPr>
          <a:xfrm>
            <a:off x="5669280" y="1463040"/>
            <a:ext cx="5943600" cy="960120"/>
          </a:xfrm>
          <a:prstGeom prst="rect">
            <a:avLst/>
          </a:prstGeom>
          <a:noFill/>
          <a:ln/>
        </p:spPr>
        <p:txBody>
          <a:bodyPr wrap="square" lIns="0" tIns="0" rIns="0" bIns="0" rtlCol="0" anchor="t"/>
          <a:lstStyle/>
          <a:p>
            <a:pPr indent="0" marL="0">
              <a:buNone/>
            </a:pPr>
            <a:r>
              <a:rPr lang="en-US" sz="1700" b="1" dirty="0">
                <a:solidFill>
                  <a:schemeClr val="tx2"/>
                </a:solidFill>
              </a:rPr>
              <a:t>Random multi-block masks</a:t>
            </a:r>
            <a:endParaRPr lang="en-US" sz="1500" dirty="0"/>
          </a:p>
          <a:p>
            <a:pPr indent="0" marL="0">
              <a:buNone/>
            </a:pPr>
            <a:r>
              <a:rPr lang="en-US" sz="1400" dirty="0">
                <a:solidFill>
                  <a:schemeClr val="tx1"/>
                </a:solidFill>
              </a:rPr>
              <a:t>One mask uses 8 small blocks (15% of the frame each); a second uses 2 large blocks (70% each)</a:t>
            </a:r>
            <a:endParaRPr lang="en-US" sz="1500" dirty="0"/>
          </a:p>
        </p:txBody>
      </p:sp>
      <p:sp>
        <p:nvSpPr>
          <p:cNvPr id="8" name="Icon circle 62"/>
          <p:cNvSpPr/>
          <p:nvPr/>
        </p:nvSpPr>
        <p:spPr>
          <a:xfrm>
            <a:off x="4937760" y="2560320"/>
            <a:ext cx="548640" cy="548640"/>
          </a:xfrm>
          <a:prstGeom prst="ellipse">
            <a:avLst/>
          </a:prstGeom>
          <a:solidFill>
            <a:schemeClr val="accent1"/>
          </a:solidFill>
          <a:ln w="12700">
            <a:solidFill>
              <a:schemeClr val="accent1"/>
            </a:solidFill>
            <a:prstDash val="solid"/>
          </a:ln>
        </p:spPr>
      </p:sp>
      <p:pic>
        <p:nvPicPr>
          <p:cNvPr id="9" name="Icon 63" descr="preencoded.png">    </p:cNvPr>
          <p:cNvPicPr>
            <a:picLocks noChangeAspect="1"/>
          </p:cNvPicPr>
          <p:nvPr/>
        </p:nvPicPr>
        <p:blipFill>
          <a:blip r:embed="rId3"/>
          <a:stretch>
            <a:fillRect/>
          </a:stretch>
        </p:blipFill>
        <p:spPr>
          <a:xfrm>
            <a:off x="5080406" y="2702966"/>
            <a:ext cx="263347" cy="263347"/>
          </a:xfrm>
          <a:prstGeom prst="rect">
            <a:avLst/>
          </a:prstGeom>
        </p:spPr>
      </p:pic>
      <p:sp>
        <p:nvSpPr>
          <p:cNvPr id="10" name="Text 64"/>
          <p:cNvSpPr txBox="1"/>
          <p:nvPr/>
        </p:nvSpPr>
        <p:spPr>
          <a:xfrm>
            <a:off x="5669280" y="2514600"/>
            <a:ext cx="5943600" cy="960120"/>
          </a:xfrm>
          <a:prstGeom prst="rect">
            <a:avLst/>
          </a:prstGeom>
          <a:noFill/>
          <a:ln/>
        </p:spPr>
        <p:txBody>
          <a:bodyPr wrap="square" lIns="0" tIns="0" rIns="0" bIns="0" rtlCol="0" anchor="t"/>
          <a:lstStyle/>
          <a:p>
            <a:pPr indent="0" marL="0">
              <a:buNone/>
            </a:pPr>
            <a:r>
              <a:rPr lang="en-US" sz="1700" b="1" dirty="0">
                <a:solidFill>
                  <a:schemeClr val="tx2"/>
                </a:solidFill>
              </a:rPr>
              <a:t>Blocks span the whole clip</a:t>
            </a:r>
            <a:endParaRPr lang="en-US" sz="1500" dirty="0"/>
          </a:p>
          <a:p>
            <a:pPr indent="0" marL="0">
              <a:buNone/>
            </a:pPr>
            <a:r>
              <a:rPr lang="en-US" sz="1400" dirty="0">
                <a:solidFill>
                  <a:schemeClr val="tx1"/>
                </a:solidFill>
              </a:rPr>
              <a:t>Each block covers all 8 time slices, so the model cannot copy the answer from another frame</a:t>
            </a:r>
            <a:endParaRPr lang="en-US" sz="1500" dirty="0"/>
          </a:p>
        </p:txBody>
      </p:sp>
      <p:sp>
        <p:nvSpPr>
          <p:cNvPr id="11" name="Icon circle 65"/>
          <p:cNvSpPr/>
          <p:nvPr/>
        </p:nvSpPr>
        <p:spPr>
          <a:xfrm>
            <a:off x="4937760" y="3611880"/>
            <a:ext cx="548640" cy="548640"/>
          </a:xfrm>
          <a:prstGeom prst="ellipse">
            <a:avLst/>
          </a:prstGeom>
          <a:solidFill>
            <a:schemeClr val="accent1"/>
          </a:solidFill>
          <a:ln w="12700">
            <a:solidFill>
              <a:schemeClr val="accent1"/>
            </a:solidFill>
            <a:prstDash val="solid"/>
          </a:ln>
        </p:spPr>
      </p:sp>
      <p:pic>
        <p:nvPicPr>
          <p:cNvPr id="12" name="Icon 66" descr="preencoded.png">    </p:cNvPr>
          <p:cNvPicPr>
            <a:picLocks noChangeAspect="1"/>
          </p:cNvPicPr>
          <p:nvPr/>
        </p:nvPicPr>
        <p:blipFill>
          <a:blip r:embed="rId4"/>
          <a:stretch>
            <a:fillRect/>
          </a:stretch>
        </p:blipFill>
        <p:spPr>
          <a:xfrm>
            <a:off x="5080406" y="3754526"/>
            <a:ext cx="263347" cy="263347"/>
          </a:xfrm>
          <a:prstGeom prst="rect">
            <a:avLst/>
          </a:prstGeom>
        </p:spPr>
      </p:pic>
      <p:sp>
        <p:nvSpPr>
          <p:cNvPr id="13" name="Text 67"/>
          <p:cNvSpPr txBox="1"/>
          <p:nvPr/>
        </p:nvSpPr>
        <p:spPr>
          <a:xfrm>
            <a:off x="5669280" y="3566160"/>
            <a:ext cx="5943600" cy="960120"/>
          </a:xfrm>
          <a:prstGeom prst="rect">
            <a:avLst/>
          </a:prstGeom>
          <a:noFill/>
          <a:ln/>
        </p:spPr>
        <p:txBody>
          <a:bodyPr wrap="square" lIns="0" tIns="0" rIns="0" bIns="0" rtlCol="0" anchor="t"/>
          <a:lstStyle/>
          <a:p>
            <a:pPr indent="0" marL="0">
              <a:buNone/>
            </a:pPr>
            <a:r>
              <a:rPr lang="en-US" sz="1700" b="1" dirty="0">
                <a:solidFill>
                  <a:schemeClr val="tx2"/>
                </a:solidFill>
              </a:rPr>
              <a:t>Placement ignores content</a:t>
            </a:r>
            <a:endParaRPr lang="en-US" sz="1500" dirty="0"/>
          </a:p>
          <a:p>
            <a:pPr indent="0" marL="0">
              <a:buNone/>
            </a:pPr>
            <a:r>
              <a:rPr lang="en-US" sz="1400" dirty="0">
                <a:solidFill>
                  <a:schemeClr val="tx1"/>
                </a:solidFill>
              </a:rPr>
              <a:t>Block positions are uniformly random, by the same rule for every video</a:t>
            </a:r>
            <a:endParaRPr lang="en-US" sz="1500" dirty="0"/>
          </a:p>
        </p:txBody>
      </p:sp>
      <p:sp>
        <p:nvSpPr>
          <p:cNvPr id="14" name="Card 68"/>
          <p:cNvSpPr/>
          <p:nvPr/>
        </p:nvSpPr>
        <p:spPr>
          <a:xfrm>
            <a:off x="4937760" y="4709160"/>
            <a:ext cx="6702552" cy="1188720"/>
          </a:xfrm>
          <a:prstGeom prst="roundRect">
            <a:avLst>
              <a:gd name="adj" fmla="val 9231"/>
            </a:avLst>
          </a:prstGeom>
          <a:solidFill>
            <a:schemeClr val="tx2"/>
          </a:solidFill>
          <a:ln w="12700">
            <a:solidFill>
              <a:schemeClr val="tx2"/>
            </a:solidFill>
            <a:prstDash val="solid"/>
          </a:ln>
        </p:spPr>
      </p:sp>
      <p:sp>
        <p:nvSpPr>
          <p:cNvPr id="15" name="Text 69"/>
          <p:cNvSpPr txBox="1"/>
          <p:nvPr/>
        </p:nvSpPr>
        <p:spPr>
          <a:xfrm>
            <a:off x="5212080" y="4709160"/>
            <a:ext cx="6153912" cy="1188720"/>
          </a:xfrm>
          <a:prstGeom prst="rect">
            <a:avLst/>
          </a:prstGeom>
          <a:noFill/>
          <a:ln/>
        </p:spPr>
        <p:txBody>
          <a:bodyPr wrap="square" lIns="0" tIns="0" rIns="0" bIns="0" rtlCol="0" anchor="ctr"/>
          <a:lstStyle/>
          <a:p>
            <a:pPr indent="0" marL="0">
              <a:buNone/>
            </a:pPr>
            <a:r>
              <a:rPr lang="en-US" sz="1800" b="1" dirty="0">
                <a:solidFill>
                  <a:schemeClr val="bg1"/>
                </a:solidFill>
              </a:rPr>
              <a:t>Question: can a model learn where masking is most useful for these videos?</a:t>
            </a:r>
            <a:endParaRPr lang="en-US" sz="18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umber circle 70"/>
          <p:cNvSpPr/>
          <p:nvPr/>
        </p:nvSpPr>
        <p:spPr>
          <a:xfrm>
            <a:off x="640080" y="2377440"/>
            <a:ext cx="1005840" cy="1005840"/>
          </a:xfrm>
          <a:prstGeom prst="ellipse">
            <a:avLst/>
          </a:prstGeom>
          <a:solidFill>
            <a:schemeClr val="accent2"/>
          </a:solidFill>
          <a:ln w="12700">
            <a:solidFill>
              <a:schemeClr val="accent2"/>
            </a:solidFill>
            <a:prstDash val="solid"/>
          </a:ln>
        </p:spPr>
      </p:sp>
      <p:sp>
        <p:nvSpPr>
          <p:cNvPr id="3" name="Text 71"/>
          <p:cNvSpPr txBox="1"/>
          <p:nvPr/>
        </p:nvSpPr>
        <p:spPr>
          <a:xfrm>
            <a:off x="640080" y="2377440"/>
            <a:ext cx="1005840" cy="1005840"/>
          </a:xfrm>
          <a:prstGeom prst="rect">
            <a:avLst/>
          </a:prstGeom>
          <a:noFill/>
          <a:ln/>
        </p:spPr>
        <p:txBody>
          <a:bodyPr wrap="square" lIns="0" tIns="0" rIns="0" bIns="0" rtlCol="0" anchor="ctr"/>
          <a:lstStyle/>
          <a:p>
            <a:pPr algn="ctr" indent="0" marL="0">
              <a:buNone/>
            </a:pPr>
            <a:r>
              <a:rPr lang="en-US" sz="3700" b="1" dirty="0">
                <a:solidFill>
                  <a:schemeClr val="tx2"/>
                </a:solidFill>
              </a:rPr>
              <a:t>2</a:t>
            </a:r>
            <a:endParaRPr lang="en-US" sz="3700" dirty="0"/>
          </a:p>
        </p:txBody>
      </p:sp>
      <p:sp>
        <p:nvSpPr>
          <p:cNvPr id="4" name="Text 0"/>
          <p:cNvSpPr/>
          <p:nvPr>
            <p:ph idx="100" type="title" hasCustomPrompt="1"/>
          </p:nvPr>
        </p:nvSpPr>
        <p:spPr>
          <a:xfrm>
            <a:off x="2103120" y="2331720"/>
            <a:ext cx="9144000" cy="1097280"/>
          </a:xfrm>
          <a:prstGeom prst="rect">
            <a:avLst/>
          </a:prstGeom>
          <a:noFill/>
          <a:ln/>
        </p:spPr>
        <p:txBody>
          <a:bodyPr wrap="square" lIns="0" tIns="0" rIns="0" bIns="0" rtlCol="0" anchor="ctr"/>
          <a:lstStyle/>
          <a:p>
            <a:pPr algn="l" indent="0" marL="0">
              <a:buNone/>
            </a:pPr>
            <a:r>
              <a:rPr lang="en-US" sz="4000" b="1" dirty="0">
                <a:solidFill>
                  <a:schemeClr val="bg1"/>
                </a:solidFill>
              </a:rPr>
              <a:t>Our modification</a:t>
            </a:r>
            <a:endParaRPr lang="en-US" sz="4000" dirty="0"/>
          </a:p>
        </p:txBody>
      </p:sp>
      <p:sp>
        <p:nvSpPr>
          <p:cNvPr id="5" name="Text 0"/>
          <p:cNvSpPr/>
          <p:nvPr>
            <p:ph idx="101" type="body" hasCustomPrompt="1"/>
          </p:nvPr>
        </p:nvSpPr>
        <p:spPr>
          <a:xfrm>
            <a:off x="2103120" y="3520440"/>
            <a:ext cx="8686800" cy="1097280"/>
          </a:xfrm>
          <a:prstGeom prst="rect">
            <a:avLst/>
          </a:prstGeom>
          <a:noFill/>
          <a:ln/>
        </p:spPr>
        <p:txBody>
          <a:bodyPr wrap="square" lIns="0" tIns="0" rIns="0" bIns="0" rtlCol="0" anchor="t"/>
          <a:lstStyle/>
          <a:p>
            <a:pPr algn="l" indent="0" marL="0">
              <a:buNone/>
            </a:pPr>
            <a:r>
              <a:rPr lang="en-US" sz="2000" dirty="0">
                <a:solidFill>
                  <a:schemeClr val="bg2"/>
                </a:solidFill>
              </a:rPr>
              <a:t>A masking policy trained with reinforcement learning, in two versions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A policy chooses the mask and learns from V-JEPA's loss</a:t>
            </a:r>
            <a:endParaRPr lang="en-US" sz="3000" dirty="0"/>
          </a:p>
        </p:txBody>
      </p:sp>
      <p:sp>
        <p:nvSpPr>
          <p:cNvPr id="3" name="Card 72"/>
          <p:cNvSpPr/>
          <p:nvPr/>
        </p:nvSpPr>
        <p:spPr>
          <a:xfrm>
            <a:off x="548640" y="1645920"/>
            <a:ext cx="3017520" cy="1188720"/>
          </a:xfrm>
          <a:prstGeom prst="roundRect">
            <a:avLst>
              <a:gd name="adj" fmla="val 9231"/>
            </a:avLst>
          </a:prstGeom>
          <a:solidFill>
            <a:schemeClr val="bg2"/>
          </a:solidFill>
          <a:ln w="12700">
            <a:solidFill>
              <a:schemeClr val="bg2"/>
            </a:solidFill>
            <a:prstDash val="solid"/>
          </a:ln>
        </p:spPr>
      </p:sp>
      <p:sp>
        <p:nvSpPr>
          <p:cNvPr id="4" name="Text 73"/>
          <p:cNvSpPr txBox="1"/>
          <p:nvPr/>
        </p:nvSpPr>
        <p:spPr>
          <a:xfrm>
            <a:off x="685800" y="1737360"/>
            <a:ext cx="2743200" cy="1005840"/>
          </a:xfrm>
          <a:prstGeom prst="rect">
            <a:avLst/>
          </a:prstGeom>
          <a:noFill/>
          <a:ln/>
        </p:spPr>
        <p:txBody>
          <a:bodyPr wrap="square" lIns="0" tIns="0" rIns="0" bIns="0" rtlCol="0" anchor="ctr"/>
          <a:lstStyle/>
          <a:p>
            <a:pPr algn="ctr" indent="0" marL="0">
              <a:buNone/>
            </a:pPr>
            <a:r>
              <a:rPr lang="en-US" sz="1600" b="1" dirty="0">
                <a:solidFill>
                  <a:schemeClr val="tx2"/>
                </a:solidFill>
              </a:rPr>
              <a:t>Policy scores every patch</a:t>
            </a:r>
            <a:endParaRPr lang="en-US" sz="1500" dirty="0"/>
          </a:p>
          <a:p>
            <a:pPr algn="ctr" indent="0" marL="0">
              <a:buNone/>
            </a:pPr>
            <a:r>
              <a:rPr lang="en-US" sz="1400" dirty="0">
                <a:solidFill>
                  <a:schemeClr val="tx1"/>
                </a:solidFill>
              </a:rPr>
              <a:t>one score per token of the clip</a:t>
            </a:r>
            <a:endParaRPr lang="en-US" sz="1500" dirty="0"/>
          </a:p>
        </p:txBody>
      </p:sp>
      <p:sp>
        <p:nvSpPr>
          <p:cNvPr id="5" name="Number circle 74"/>
          <p:cNvSpPr/>
          <p:nvPr/>
        </p:nvSpPr>
        <p:spPr>
          <a:xfrm>
            <a:off x="365760" y="1463040"/>
            <a:ext cx="457200" cy="457200"/>
          </a:xfrm>
          <a:prstGeom prst="ellipse">
            <a:avLst/>
          </a:prstGeom>
          <a:solidFill>
            <a:schemeClr val="accent1"/>
          </a:solidFill>
          <a:ln w="12700">
            <a:solidFill>
              <a:schemeClr val="accent1"/>
            </a:solidFill>
            <a:prstDash val="solid"/>
          </a:ln>
        </p:spPr>
      </p:sp>
      <p:sp>
        <p:nvSpPr>
          <p:cNvPr id="6" name="Text 75"/>
          <p:cNvSpPr txBox="1"/>
          <p:nvPr/>
        </p:nvSpPr>
        <p:spPr>
          <a:xfrm>
            <a:off x="365760" y="146304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7" name="Card 76"/>
          <p:cNvSpPr/>
          <p:nvPr/>
        </p:nvSpPr>
        <p:spPr>
          <a:xfrm>
            <a:off x="4206240" y="1645920"/>
            <a:ext cx="3017520" cy="1188720"/>
          </a:xfrm>
          <a:prstGeom prst="roundRect">
            <a:avLst>
              <a:gd name="adj" fmla="val 9231"/>
            </a:avLst>
          </a:prstGeom>
          <a:solidFill>
            <a:schemeClr val="bg2"/>
          </a:solidFill>
          <a:ln w="12700">
            <a:solidFill>
              <a:schemeClr val="bg2"/>
            </a:solidFill>
            <a:prstDash val="solid"/>
          </a:ln>
        </p:spPr>
      </p:sp>
      <p:sp>
        <p:nvSpPr>
          <p:cNvPr id="8" name="Text 77"/>
          <p:cNvSpPr txBox="1"/>
          <p:nvPr/>
        </p:nvSpPr>
        <p:spPr>
          <a:xfrm>
            <a:off x="4343400" y="1737360"/>
            <a:ext cx="2743200" cy="1005840"/>
          </a:xfrm>
          <a:prstGeom prst="rect">
            <a:avLst/>
          </a:prstGeom>
          <a:noFill/>
          <a:ln/>
        </p:spPr>
        <p:txBody>
          <a:bodyPr wrap="square" lIns="0" tIns="0" rIns="0" bIns="0" rtlCol="0" anchor="ctr"/>
          <a:lstStyle/>
          <a:p>
            <a:pPr algn="ctr" indent="0" marL="0">
              <a:buNone/>
            </a:pPr>
            <a:r>
              <a:rPr lang="en-US" sz="1600" b="1" dirty="0">
                <a:solidFill>
                  <a:schemeClr val="tx2"/>
                </a:solidFill>
              </a:rPr>
              <a:t>Sample a mask</a:t>
            </a:r>
            <a:endParaRPr lang="en-US" sz="1500" dirty="0"/>
          </a:p>
          <a:p>
            <a:pPr algn="ctr" indent="0" marL="0">
              <a:buNone/>
            </a:pPr>
            <a:r>
              <a:rPr lang="en-US" sz="1400" dirty="0">
                <a:solidFill>
                  <a:schemeClr val="tx1"/>
                </a:solidFill>
              </a:rPr>
              <a:t>higher scores are chosen more often</a:t>
            </a:r>
            <a:endParaRPr lang="en-US" sz="1500" dirty="0"/>
          </a:p>
        </p:txBody>
      </p:sp>
      <p:sp>
        <p:nvSpPr>
          <p:cNvPr id="9" name="Number circle 78"/>
          <p:cNvSpPr/>
          <p:nvPr/>
        </p:nvSpPr>
        <p:spPr>
          <a:xfrm>
            <a:off x="4023360" y="1463040"/>
            <a:ext cx="457200" cy="457200"/>
          </a:xfrm>
          <a:prstGeom prst="ellipse">
            <a:avLst/>
          </a:prstGeom>
          <a:solidFill>
            <a:schemeClr val="accent1"/>
          </a:solidFill>
          <a:ln w="12700">
            <a:solidFill>
              <a:schemeClr val="accent1"/>
            </a:solidFill>
            <a:prstDash val="solid"/>
          </a:ln>
        </p:spPr>
      </p:sp>
      <p:sp>
        <p:nvSpPr>
          <p:cNvPr id="10" name="Text 79"/>
          <p:cNvSpPr txBox="1"/>
          <p:nvPr/>
        </p:nvSpPr>
        <p:spPr>
          <a:xfrm>
            <a:off x="4023360" y="146304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1" name="Card 80"/>
          <p:cNvSpPr/>
          <p:nvPr/>
        </p:nvSpPr>
        <p:spPr>
          <a:xfrm>
            <a:off x="4206240" y="4343400"/>
            <a:ext cx="3017520" cy="1188720"/>
          </a:xfrm>
          <a:prstGeom prst="roundRect">
            <a:avLst>
              <a:gd name="adj" fmla="val 9231"/>
            </a:avLst>
          </a:prstGeom>
          <a:solidFill>
            <a:schemeClr val="bg2"/>
          </a:solidFill>
          <a:ln w="12700">
            <a:solidFill>
              <a:schemeClr val="bg2"/>
            </a:solidFill>
            <a:prstDash val="solid"/>
          </a:ln>
        </p:spPr>
      </p:sp>
      <p:sp>
        <p:nvSpPr>
          <p:cNvPr id="12" name="Text 81"/>
          <p:cNvSpPr txBox="1"/>
          <p:nvPr/>
        </p:nvSpPr>
        <p:spPr>
          <a:xfrm>
            <a:off x="4343400" y="4434840"/>
            <a:ext cx="2743200" cy="1005840"/>
          </a:xfrm>
          <a:prstGeom prst="rect">
            <a:avLst/>
          </a:prstGeom>
          <a:noFill/>
          <a:ln/>
        </p:spPr>
        <p:txBody>
          <a:bodyPr wrap="square" lIns="0" tIns="0" rIns="0" bIns="0" rtlCol="0" anchor="ctr"/>
          <a:lstStyle/>
          <a:p>
            <a:pPr algn="ctr" indent="0" marL="0">
              <a:buNone/>
            </a:pPr>
            <a:r>
              <a:rPr lang="en-US" sz="1600" b="1" dirty="0">
                <a:solidFill>
                  <a:schemeClr val="tx2"/>
                </a:solidFill>
              </a:rPr>
              <a:t>V-JEPA trains on that mask</a:t>
            </a:r>
            <a:endParaRPr lang="en-US" sz="1500" dirty="0"/>
          </a:p>
          <a:p>
            <a:pPr algn="ctr" indent="0" marL="0">
              <a:buNone/>
            </a:pPr>
            <a:r>
              <a:rPr lang="en-US" sz="1400" dirty="0">
                <a:solidFill>
                  <a:schemeClr val="tx1"/>
                </a:solidFill>
              </a:rPr>
              <a:t>encoder and predictor update as usual</a:t>
            </a:r>
            <a:endParaRPr lang="en-US" sz="1500" dirty="0"/>
          </a:p>
        </p:txBody>
      </p:sp>
      <p:sp>
        <p:nvSpPr>
          <p:cNvPr id="13" name="Number circle 82"/>
          <p:cNvSpPr/>
          <p:nvPr/>
        </p:nvSpPr>
        <p:spPr>
          <a:xfrm>
            <a:off x="4023360" y="4160520"/>
            <a:ext cx="457200" cy="457200"/>
          </a:xfrm>
          <a:prstGeom prst="ellipse">
            <a:avLst/>
          </a:prstGeom>
          <a:solidFill>
            <a:schemeClr val="accent1"/>
          </a:solidFill>
          <a:ln w="12700">
            <a:solidFill>
              <a:schemeClr val="accent1"/>
            </a:solidFill>
            <a:prstDash val="solid"/>
          </a:ln>
        </p:spPr>
      </p:sp>
      <p:sp>
        <p:nvSpPr>
          <p:cNvPr id="14" name="Text 83"/>
          <p:cNvSpPr txBox="1"/>
          <p:nvPr/>
        </p:nvSpPr>
        <p:spPr>
          <a:xfrm>
            <a:off x="4023360" y="416052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5" name="Card 84"/>
          <p:cNvSpPr/>
          <p:nvPr/>
        </p:nvSpPr>
        <p:spPr>
          <a:xfrm>
            <a:off x="548640" y="4343400"/>
            <a:ext cx="3017520" cy="1188720"/>
          </a:xfrm>
          <a:prstGeom prst="roundRect">
            <a:avLst>
              <a:gd name="adj" fmla="val 9231"/>
            </a:avLst>
          </a:prstGeom>
          <a:solidFill>
            <a:schemeClr val="bg2"/>
          </a:solidFill>
          <a:ln w="12700">
            <a:solidFill>
              <a:schemeClr val="bg2"/>
            </a:solidFill>
            <a:prstDash val="solid"/>
          </a:ln>
        </p:spPr>
      </p:sp>
      <p:sp>
        <p:nvSpPr>
          <p:cNvPr id="16" name="Text 85"/>
          <p:cNvSpPr txBox="1"/>
          <p:nvPr/>
        </p:nvSpPr>
        <p:spPr>
          <a:xfrm>
            <a:off x="685800" y="4434840"/>
            <a:ext cx="2743200" cy="1005840"/>
          </a:xfrm>
          <a:prstGeom prst="rect">
            <a:avLst/>
          </a:prstGeom>
          <a:noFill/>
          <a:ln/>
        </p:spPr>
        <p:txBody>
          <a:bodyPr wrap="square" lIns="0" tIns="0" rIns="0" bIns="0" rtlCol="0" anchor="ctr"/>
          <a:lstStyle/>
          <a:p>
            <a:pPr algn="ctr" indent="0" marL="0">
              <a:buNone/>
            </a:pPr>
            <a:r>
              <a:rPr lang="en-US" sz="1600" b="1" dirty="0">
                <a:solidFill>
                  <a:schemeClr val="tx2"/>
                </a:solidFill>
              </a:rPr>
              <a:t>Loss becomes the reward</a:t>
            </a:r>
            <a:endParaRPr lang="en-US" sz="1500" dirty="0"/>
          </a:p>
          <a:p>
            <a:pPr algn="ctr" indent="0" marL="0">
              <a:buNone/>
            </a:pPr>
            <a:r>
              <a:rPr lang="en-US" sz="1400" dirty="0">
                <a:solidFill>
                  <a:schemeClr val="tx1"/>
                </a:solidFill>
              </a:rPr>
              <a:t>the policy is nudged toward better masks</a:t>
            </a:r>
            <a:endParaRPr lang="en-US" sz="1500" dirty="0"/>
          </a:p>
        </p:txBody>
      </p:sp>
      <p:sp>
        <p:nvSpPr>
          <p:cNvPr id="17" name="Number circle 86"/>
          <p:cNvSpPr/>
          <p:nvPr/>
        </p:nvSpPr>
        <p:spPr>
          <a:xfrm>
            <a:off x="365760" y="4160520"/>
            <a:ext cx="457200" cy="457200"/>
          </a:xfrm>
          <a:prstGeom prst="ellipse">
            <a:avLst/>
          </a:prstGeom>
          <a:solidFill>
            <a:schemeClr val="accent1"/>
          </a:solidFill>
          <a:ln w="12700">
            <a:solidFill>
              <a:schemeClr val="accent1"/>
            </a:solidFill>
            <a:prstDash val="solid"/>
          </a:ln>
        </p:spPr>
      </p:sp>
      <p:sp>
        <p:nvSpPr>
          <p:cNvPr id="18" name="Text 87"/>
          <p:cNvSpPr txBox="1"/>
          <p:nvPr/>
        </p:nvSpPr>
        <p:spPr>
          <a:xfrm>
            <a:off x="365760" y="416052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19" name="Arrow 88"/>
          <p:cNvSpPr/>
          <p:nvPr/>
        </p:nvSpPr>
        <p:spPr>
          <a:xfrm>
            <a:off x="3566160" y="2240280"/>
            <a:ext cx="640080" cy="0"/>
          </a:xfrm>
          <a:prstGeom prst="line">
            <a:avLst/>
          </a:prstGeom>
          <a:noFill/>
          <a:ln w="22225">
            <a:solidFill>
              <a:schemeClr val="accent4"/>
            </a:solidFill>
            <a:prstDash val="solid"/>
            <a:tailEnd type="triangle"/>
          </a:ln>
        </p:spPr>
      </p:sp>
      <p:sp>
        <p:nvSpPr>
          <p:cNvPr id="20" name="Arrow 89"/>
          <p:cNvSpPr/>
          <p:nvPr/>
        </p:nvSpPr>
        <p:spPr>
          <a:xfrm>
            <a:off x="5715000" y="2834640"/>
            <a:ext cx="0" cy="1508760"/>
          </a:xfrm>
          <a:prstGeom prst="line">
            <a:avLst/>
          </a:prstGeom>
          <a:noFill/>
          <a:ln w="22225">
            <a:solidFill>
              <a:schemeClr val="accent4"/>
            </a:solidFill>
            <a:prstDash val="solid"/>
            <a:tailEnd type="triangle"/>
          </a:ln>
        </p:spPr>
      </p:sp>
      <p:sp>
        <p:nvSpPr>
          <p:cNvPr id="21" name="Arrow 90"/>
          <p:cNvSpPr/>
          <p:nvPr/>
        </p:nvSpPr>
        <p:spPr>
          <a:xfrm flipH="1">
            <a:off x="3566160" y="4937760"/>
            <a:ext cx="640080" cy="0"/>
          </a:xfrm>
          <a:prstGeom prst="line">
            <a:avLst/>
          </a:prstGeom>
          <a:noFill/>
          <a:ln w="22225">
            <a:solidFill>
              <a:schemeClr val="accent4"/>
            </a:solidFill>
            <a:prstDash val="solid"/>
            <a:tailEnd type="triangle"/>
          </a:ln>
        </p:spPr>
      </p:sp>
      <p:sp>
        <p:nvSpPr>
          <p:cNvPr id="22" name="Arrow 91"/>
          <p:cNvSpPr/>
          <p:nvPr/>
        </p:nvSpPr>
        <p:spPr>
          <a:xfrm flipV="1">
            <a:off x="2057400" y="2834640"/>
            <a:ext cx="0" cy="1508760"/>
          </a:xfrm>
          <a:prstGeom prst="line">
            <a:avLst/>
          </a:prstGeom>
          <a:noFill/>
          <a:ln w="22225">
            <a:solidFill>
              <a:schemeClr val="accent4"/>
            </a:solidFill>
            <a:prstDash val="solid"/>
            <a:tailEnd type="triangle"/>
          </a:ln>
        </p:spPr>
      </p:sp>
      <p:sp>
        <p:nvSpPr>
          <p:cNvPr id="23" name="Text 92"/>
          <p:cNvSpPr txBox="1"/>
          <p:nvPr/>
        </p:nvSpPr>
        <p:spPr>
          <a:xfrm>
            <a:off x="2377440" y="3337560"/>
            <a:ext cx="3017520" cy="365760"/>
          </a:xfrm>
          <a:prstGeom prst="rect">
            <a:avLst/>
          </a:prstGeom>
          <a:noFill/>
          <a:ln/>
        </p:spPr>
        <p:txBody>
          <a:bodyPr wrap="square" lIns="0" tIns="0" rIns="0" bIns="0" rtlCol="0" anchor="t"/>
          <a:lstStyle/>
          <a:p>
            <a:pPr algn="ctr" indent="0" marL="0">
              <a:buNone/>
            </a:pPr>
            <a:r>
              <a:rPr lang="en-US" sz="1400" i="1" dirty="0">
                <a:solidFill>
                  <a:schemeClr val="accent4"/>
                </a:solidFill>
              </a:rPr>
              <a:t>Repeated at every training step</a:t>
            </a:r>
            <a:endParaRPr lang="en-US" sz="1400" dirty="0"/>
          </a:p>
        </p:txBody>
      </p:sp>
      <p:sp>
        <p:nvSpPr>
          <p:cNvPr id="24" name="Card 93"/>
          <p:cNvSpPr/>
          <p:nvPr/>
        </p:nvSpPr>
        <p:spPr>
          <a:xfrm>
            <a:off x="7772400" y="1645920"/>
            <a:ext cx="3867912" cy="3886200"/>
          </a:xfrm>
          <a:prstGeom prst="roundRect">
            <a:avLst>
              <a:gd name="adj" fmla="val 2837"/>
            </a:avLst>
          </a:prstGeom>
          <a:solidFill>
            <a:schemeClr val="bg2"/>
          </a:solidFill>
          <a:ln w="12700">
            <a:solidFill>
              <a:schemeClr val="bg2"/>
            </a:solidFill>
            <a:prstDash val="solid"/>
          </a:ln>
        </p:spPr>
      </p:sp>
      <p:sp>
        <p:nvSpPr>
          <p:cNvPr id="25" name="Icon circle 94"/>
          <p:cNvSpPr/>
          <p:nvPr/>
        </p:nvSpPr>
        <p:spPr>
          <a:xfrm>
            <a:off x="8046720" y="1874520"/>
            <a:ext cx="548640" cy="548640"/>
          </a:xfrm>
          <a:prstGeom prst="ellipse">
            <a:avLst/>
          </a:prstGeom>
          <a:solidFill>
            <a:schemeClr val="accent2"/>
          </a:solidFill>
          <a:ln w="12700">
            <a:solidFill>
              <a:schemeClr val="accent2"/>
            </a:solidFill>
            <a:prstDash val="solid"/>
          </a:ln>
        </p:spPr>
      </p:sp>
      <p:pic>
        <p:nvPicPr>
          <p:cNvPr id="26" name="Icon 95" descr="preencoded.png">    </p:cNvPr>
          <p:cNvPicPr>
            <a:picLocks noChangeAspect="1"/>
          </p:cNvPicPr>
          <p:nvPr/>
        </p:nvPicPr>
        <p:blipFill>
          <a:blip r:embed="rId1"/>
          <a:stretch>
            <a:fillRect/>
          </a:stretch>
        </p:blipFill>
        <p:spPr>
          <a:xfrm>
            <a:off x="8189366" y="2017166"/>
            <a:ext cx="263347" cy="263347"/>
          </a:xfrm>
          <a:prstGeom prst="rect">
            <a:avLst/>
          </a:prstGeom>
        </p:spPr>
      </p:pic>
      <p:sp>
        <p:nvSpPr>
          <p:cNvPr id="27" name="Text 96"/>
          <p:cNvSpPr txBox="1"/>
          <p:nvPr/>
        </p:nvSpPr>
        <p:spPr>
          <a:xfrm>
            <a:off x="8732520" y="1874520"/>
            <a:ext cx="2743200" cy="548640"/>
          </a:xfrm>
          <a:prstGeom prst="rect">
            <a:avLst/>
          </a:prstGeom>
          <a:noFill/>
          <a:ln/>
        </p:spPr>
        <p:txBody>
          <a:bodyPr wrap="square" lIns="0" tIns="0" rIns="0" bIns="0" rtlCol="0" anchor="ctr"/>
          <a:lstStyle/>
          <a:p>
            <a:pPr indent="0" marL="0">
              <a:buNone/>
            </a:pPr>
            <a:r>
              <a:rPr lang="en-US" sz="1800" b="1" dirty="0">
                <a:solidFill>
                  <a:schemeClr val="tx2"/>
                </a:solidFill>
              </a:rPr>
              <a:t>Why reinforcement learning?</a:t>
            </a:r>
            <a:endParaRPr lang="en-US" sz="1800" dirty="0"/>
          </a:p>
        </p:txBody>
      </p:sp>
      <p:sp>
        <p:nvSpPr>
          <p:cNvPr id="28" name="Text 97"/>
          <p:cNvSpPr txBox="1"/>
          <p:nvPr/>
        </p:nvSpPr>
        <p:spPr>
          <a:xfrm>
            <a:off x="8046720" y="2651760"/>
            <a:ext cx="3319272"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Choosing a mask is a discrete decision, so the V-JEPA loss cannot be back-propagated into the policy</a:t>
            </a:r>
            <a:endParaRPr lang="en-US" sz="1500" dirty="0"/>
          </a:p>
          <a:p>
            <a:pPr marL="342900" indent="-342900">
              <a:spcAft>
                <a:spcPts val="800"/>
              </a:spcAft>
              <a:buSzPct val="100000"/>
              <a:buChar char="•"/>
            </a:pPr>
            <a:r>
              <a:rPr lang="en-US" sz="1500" dirty="0">
                <a:solidFill>
                  <a:schemeClr val="tx1"/>
                </a:solidFill>
              </a:rPr>
              <a:t>The policy therefore learns from rewards computed from that loss</a:t>
            </a:r>
            <a:endParaRPr lang="en-US" sz="1500" dirty="0"/>
          </a:p>
          <a:p>
            <a:pPr marL="342900" indent="-342900">
              <a:spcAft>
                <a:spcPts val="800"/>
              </a:spcAft>
              <a:buSzPct val="100000"/>
              <a:buChar char="•"/>
            </a:pPr>
            <a:r>
              <a:rPr lang="en-US" sz="1500" dirty="0">
                <a:solidFill>
                  <a:schemeClr val="tx1"/>
                </a:solidFill>
              </a:rPr>
              <a:t>Two versions were built: REINFORCE and PPO</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Version 1: REINFORCE decides where the mask blocks go</a:t>
            </a:r>
            <a:endParaRPr lang="en-US" sz="3000" dirty="0"/>
          </a:p>
        </p:txBody>
      </p:sp>
      <p:pic>
        <p:nvPicPr>
          <p:cNvPr id="3" name="Motion map" descr="/tmp/claude-2726598/-scratch-frafsani-V-Jepa/3ff876df-97fd-4cf4-8456-71590d0e11a5/scratchpad/deck/motion.png">    </p:cNvPr>
          <p:cNvPicPr>
            <a:picLocks noChangeAspect="1"/>
          </p:cNvPicPr>
          <p:nvPr/>
        </p:nvPicPr>
        <p:blipFill>
          <a:blip r:embed="rId1"/>
          <a:stretch>
            <a:fillRect/>
          </a:stretch>
        </p:blipFill>
        <p:spPr>
          <a:xfrm>
            <a:off x="548640" y="1508760"/>
            <a:ext cx="3931920" cy="3931920"/>
          </a:xfrm>
          <a:prstGeom prst="rect">
            <a:avLst/>
          </a:prstGeom>
        </p:spPr>
      </p:pic>
      <p:sp>
        <p:nvSpPr>
          <p:cNvPr id="4" name="Text 98"/>
          <p:cNvSpPr txBox="1"/>
          <p:nvPr/>
        </p:nvSpPr>
        <p:spPr>
          <a:xfrm>
            <a:off x="548640" y="5532120"/>
            <a:ext cx="3931920" cy="457200"/>
          </a:xfrm>
          <a:prstGeom prst="rect">
            <a:avLst/>
          </a:prstGeom>
          <a:noFill/>
          <a:ln/>
        </p:spPr>
        <p:txBody>
          <a:bodyPr wrap="square" lIns="0" tIns="0" rIns="0" bIns="0" rtlCol="0" anchor="t"/>
          <a:lstStyle/>
          <a:p>
            <a:pPr indent="0" marL="0">
              <a:buNone/>
            </a:pPr>
            <a:r>
              <a:rPr lang="en-US" sz="1200" dirty="0">
                <a:solidFill>
                  <a:schemeClr val="accent4"/>
                </a:solidFill>
              </a:rPr>
              <a:t>Real motion map of a training clip: brighter patches change more between frames</a:t>
            </a:r>
            <a:endParaRPr lang="en-US" sz="1200" dirty="0"/>
          </a:p>
        </p:txBody>
      </p:sp>
      <p:sp>
        <p:nvSpPr>
          <p:cNvPr id="5" name="Number circle 99"/>
          <p:cNvSpPr/>
          <p:nvPr/>
        </p:nvSpPr>
        <p:spPr>
          <a:xfrm>
            <a:off x="4937760" y="1554480"/>
            <a:ext cx="502920" cy="502920"/>
          </a:xfrm>
          <a:prstGeom prst="ellipse">
            <a:avLst/>
          </a:prstGeom>
          <a:solidFill>
            <a:schemeClr val="accent1"/>
          </a:solidFill>
          <a:ln w="12700">
            <a:solidFill>
              <a:schemeClr val="accent1"/>
            </a:solidFill>
            <a:prstDash val="solid"/>
          </a:ln>
        </p:spPr>
      </p:sp>
      <p:sp>
        <p:nvSpPr>
          <p:cNvPr id="6" name="Text 100"/>
          <p:cNvSpPr txBox="1"/>
          <p:nvPr/>
        </p:nvSpPr>
        <p:spPr>
          <a:xfrm>
            <a:off x="4937760" y="1554480"/>
            <a:ext cx="502920" cy="502920"/>
          </a:xfrm>
          <a:prstGeom prst="rect">
            <a:avLst/>
          </a:prstGeom>
          <a:noFill/>
          <a:ln/>
        </p:spPr>
        <p:txBody>
          <a:bodyPr wrap="square" lIns="0" tIns="0" rIns="0" bIns="0" rtlCol="0" anchor="ctr"/>
          <a:lstStyle/>
          <a:p>
            <a:pPr algn="ctr" indent="0" marL="0">
              <a:buNone/>
            </a:pPr>
            <a:r>
              <a:rPr lang="en-US" sz="1900" b="1" dirty="0">
                <a:solidFill>
                  <a:schemeClr val="bg1"/>
                </a:solidFill>
              </a:rPr>
              <a:t>1</a:t>
            </a:r>
            <a:endParaRPr lang="en-US" sz="1900" dirty="0"/>
          </a:p>
        </p:txBody>
      </p:sp>
      <p:sp>
        <p:nvSpPr>
          <p:cNvPr id="7" name="Text 101"/>
          <p:cNvSpPr txBox="1"/>
          <p:nvPr/>
        </p:nvSpPr>
        <p:spPr>
          <a:xfrm>
            <a:off x="5669280" y="1508760"/>
            <a:ext cx="5943600" cy="914400"/>
          </a:xfrm>
          <a:prstGeom prst="rect">
            <a:avLst/>
          </a:prstGeom>
          <a:noFill/>
          <a:ln/>
        </p:spPr>
        <p:txBody>
          <a:bodyPr wrap="square" lIns="0" tIns="0" rIns="0" bIns="0" rtlCol="0" anchor="t"/>
          <a:lstStyle/>
          <a:p>
            <a:pPr indent="0" marL="0">
              <a:buNone/>
            </a:pPr>
            <a:r>
              <a:rPr lang="en-US" sz="1800" b="1" dirty="0">
                <a:solidFill>
                  <a:schemeClr val="tx2"/>
                </a:solidFill>
              </a:rPr>
              <a:t>Score every patch</a:t>
            </a:r>
            <a:endParaRPr lang="en-US" sz="1500" dirty="0"/>
          </a:p>
          <a:p>
            <a:pPr indent="0" marL="0">
              <a:buNone/>
            </a:pPr>
            <a:r>
              <a:rPr lang="en-US" sz="1500" dirty="0">
                <a:solidFill>
                  <a:schemeClr val="tx1"/>
                </a:solidFill>
              </a:rPr>
              <a:t>A small transformer score, plus a learned weight times the motion map</a:t>
            </a:r>
            <a:endParaRPr lang="en-US" sz="1500" dirty="0"/>
          </a:p>
        </p:txBody>
      </p:sp>
      <p:sp>
        <p:nvSpPr>
          <p:cNvPr id="8" name="Number circle 102"/>
          <p:cNvSpPr/>
          <p:nvPr/>
        </p:nvSpPr>
        <p:spPr>
          <a:xfrm>
            <a:off x="4937760" y="2578608"/>
            <a:ext cx="502920" cy="502920"/>
          </a:xfrm>
          <a:prstGeom prst="ellipse">
            <a:avLst/>
          </a:prstGeom>
          <a:solidFill>
            <a:schemeClr val="accent1"/>
          </a:solidFill>
          <a:ln w="12700">
            <a:solidFill>
              <a:schemeClr val="accent1"/>
            </a:solidFill>
            <a:prstDash val="solid"/>
          </a:ln>
        </p:spPr>
      </p:sp>
      <p:sp>
        <p:nvSpPr>
          <p:cNvPr id="9" name="Text 103"/>
          <p:cNvSpPr txBox="1"/>
          <p:nvPr/>
        </p:nvSpPr>
        <p:spPr>
          <a:xfrm>
            <a:off x="4937760" y="2578608"/>
            <a:ext cx="502920" cy="502920"/>
          </a:xfrm>
          <a:prstGeom prst="rect">
            <a:avLst/>
          </a:prstGeom>
          <a:noFill/>
          <a:ln/>
        </p:spPr>
        <p:txBody>
          <a:bodyPr wrap="square" lIns="0" tIns="0" rIns="0" bIns="0" rtlCol="0" anchor="ctr"/>
          <a:lstStyle/>
          <a:p>
            <a:pPr algn="ctr" indent="0" marL="0">
              <a:buNone/>
            </a:pPr>
            <a:r>
              <a:rPr lang="en-US" sz="1900" b="1" dirty="0">
                <a:solidFill>
                  <a:schemeClr val="bg1"/>
                </a:solidFill>
              </a:rPr>
              <a:t>2</a:t>
            </a:r>
            <a:endParaRPr lang="en-US" sz="1900" dirty="0"/>
          </a:p>
        </p:txBody>
      </p:sp>
      <p:sp>
        <p:nvSpPr>
          <p:cNvPr id="10" name="Text 104"/>
          <p:cNvSpPr txBox="1"/>
          <p:nvPr/>
        </p:nvSpPr>
        <p:spPr>
          <a:xfrm>
            <a:off x="5669280" y="2532888"/>
            <a:ext cx="5943600" cy="914400"/>
          </a:xfrm>
          <a:prstGeom prst="rect">
            <a:avLst/>
          </a:prstGeom>
          <a:noFill/>
          <a:ln/>
        </p:spPr>
        <p:txBody>
          <a:bodyPr wrap="square" lIns="0" tIns="0" rIns="0" bIns="0" rtlCol="0" anchor="t"/>
          <a:lstStyle/>
          <a:p>
            <a:pPr indent="0" marL="0">
              <a:buNone/>
            </a:pPr>
            <a:r>
              <a:rPr lang="en-US" sz="1800" b="1" dirty="0">
                <a:solidFill>
                  <a:schemeClr val="tx2"/>
                </a:solidFill>
              </a:rPr>
              <a:t>Place the blocks</a:t>
            </a:r>
            <a:endParaRPr lang="en-US" sz="1500" dirty="0"/>
          </a:p>
          <a:p>
            <a:pPr indent="0" marL="0">
              <a:buNone/>
            </a:pPr>
            <a:r>
              <a:rPr lang="en-US" sz="1500" dirty="0">
                <a:solidFill>
                  <a:schemeClr val="tx1"/>
                </a:solidFill>
              </a:rPr>
              <a:t>Block centres are sampled from the scores; block sizes stay random as in V-JEPA</a:t>
            </a:r>
            <a:endParaRPr lang="en-US" sz="1500" dirty="0"/>
          </a:p>
        </p:txBody>
      </p:sp>
      <p:sp>
        <p:nvSpPr>
          <p:cNvPr id="11" name="Number circle 105"/>
          <p:cNvSpPr/>
          <p:nvPr/>
        </p:nvSpPr>
        <p:spPr>
          <a:xfrm>
            <a:off x="4937760" y="3602736"/>
            <a:ext cx="502920" cy="502920"/>
          </a:xfrm>
          <a:prstGeom prst="ellipse">
            <a:avLst/>
          </a:prstGeom>
          <a:solidFill>
            <a:schemeClr val="accent1"/>
          </a:solidFill>
          <a:ln w="12700">
            <a:solidFill>
              <a:schemeClr val="accent1"/>
            </a:solidFill>
            <a:prstDash val="solid"/>
          </a:ln>
        </p:spPr>
      </p:sp>
      <p:sp>
        <p:nvSpPr>
          <p:cNvPr id="12" name="Text 106"/>
          <p:cNvSpPr txBox="1"/>
          <p:nvPr/>
        </p:nvSpPr>
        <p:spPr>
          <a:xfrm>
            <a:off x="4937760" y="3602736"/>
            <a:ext cx="502920" cy="502920"/>
          </a:xfrm>
          <a:prstGeom prst="rect">
            <a:avLst/>
          </a:prstGeom>
          <a:noFill/>
          <a:ln/>
        </p:spPr>
        <p:txBody>
          <a:bodyPr wrap="square" lIns="0" tIns="0" rIns="0" bIns="0" rtlCol="0" anchor="ctr"/>
          <a:lstStyle/>
          <a:p>
            <a:pPr algn="ctr" indent="0" marL="0">
              <a:buNone/>
            </a:pPr>
            <a:r>
              <a:rPr lang="en-US" sz="1900" b="1" dirty="0">
                <a:solidFill>
                  <a:schemeClr val="bg1"/>
                </a:solidFill>
              </a:rPr>
              <a:t>3</a:t>
            </a:r>
            <a:endParaRPr lang="en-US" sz="1900" dirty="0"/>
          </a:p>
        </p:txBody>
      </p:sp>
      <p:sp>
        <p:nvSpPr>
          <p:cNvPr id="13" name="Text 107"/>
          <p:cNvSpPr txBox="1"/>
          <p:nvPr/>
        </p:nvSpPr>
        <p:spPr>
          <a:xfrm>
            <a:off x="5669280" y="3557016"/>
            <a:ext cx="5943600" cy="914400"/>
          </a:xfrm>
          <a:prstGeom prst="rect">
            <a:avLst/>
          </a:prstGeom>
          <a:noFill/>
          <a:ln/>
        </p:spPr>
        <p:txBody>
          <a:bodyPr wrap="square" lIns="0" tIns="0" rIns="0" bIns="0" rtlCol="0" anchor="t"/>
          <a:lstStyle/>
          <a:p>
            <a:pPr indent="0" marL="0">
              <a:buNone/>
            </a:pPr>
            <a:r>
              <a:rPr lang="en-US" sz="1800" b="1" dirty="0">
                <a:solidFill>
                  <a:schemeClr val="tx2"/>
                </a:solidFill>
              </a:rPr>
              <a:t>Reward</a:t>
            </a:r>
            <a:endParaRPr lang="en-US" sz="1500" dirty="0"/>
          </a:p>
          <a:p>
            <a:pPr indent="0" marL="0">
              <a:buNone/>
            </a:pPr>
            <a:r>
              <a:rPr lang="en-US" sz="1500" dirty="0">
                <a:solidFill>
                  <a:schemeClr val="tx1"/>
                </a:solidFill>
              </a:rPr>
              <a:t>Minus the clip's prediction loss, so easier masks earn more</a:t>
            </a:r>
            <a:endParaRPr lang="en-US" sz="1500" dirty="0"/>
          </a:p>
        </p:txBody>
      </p:sp>
      <p:sp>
        <p:nvSpPr>
          <p:cNvPr id="14" name="Number circle 108"/>
          <p:cNvSpPr/>
          <p:nvPr/>
        </p:nvSpPr>
        <p:spPr>
          <a:xfrm>
            <a:off x="4937760" y="4626864"/>
            <a:ext cx="502920" cy="502920"/>
          </a:xfrm>
          <a:prstGeom prst="ellipse">
            <a:avLst/>
          </a:prstGeom>
          <a:solidFill>
            <a:schemeClr val="accent1"/>
          </a:solidFill>
          <a:ln w="12700">
            <a:solidFill>
              <a:schemeClr val="accent1"/>
            </a:solidFill>
            <a:prstDash val="solid"/>
          </a:ln>
        </p:spPr>
      </p:sp>
      <p:sp>
        <p:nvSpPr>
          <p:cNvPr id="15" name="Text 109"/>
          <p:cNvSpPr txBox="1"/>
          <p:nvPr/>
        </p:nvSpPr>
        <p:spPr>
          <a:xfrm>
            <a:off x="4937760" y="4626864"/>
            <a:ext cx="502920" cy="502920"/>
          </a:xfrm>
          <a:prstGeom prst="rect">
            <a:avLst/>
          </a:prstGeom>
          <a:noFill/>
          <a:ln/>
        </p:spPr>
        <p:txBody>
          <a:bodyPr wrap="square" lIns="0" tIns="0" rIns="0" bIns="0" rtlCol="0" anchor="ctr"/>
          <a:lstStyle/>
          <a:p>
            <a:pPr algn="ctr" indent="0" marL="0">
              <a:buNone/>
            </a:pPr>
            <a:r>
              <a:rPr lang="en-US" sz="1900" b="1" dirty="0">
                <a:solidFill>
                  <a:schemeClr val="bg1"/>
                </a:solidFill>
              </a:rPr>
              <a:t>4</a:t>
            </a:r>
            <a:endParaRPr lang="en-US" sz="1900" dirty="0"/>
          </a:p>
        </p:txBody>
      </p:sp>
      <p:sp>
        <p:nvSpPr>
          <p:cNvPr id="16" name="Text 110"/>
          <p:cNvSpPr txBox="1"/>
          <p:nvPr/>
        </p:nvSpPr>
        <p:spPr>
          <a:xfrm>
            <a:off x="5669280" y="4581144"/>
            <a:ext cx="5943600" cy="914400"/>
          </a:xfrm>
          <a:prstGeom prst="rect">
            <a:avLst/>
          </a:prstGeom>
          <a:noFill/>
          <a:ln/>
        </p:spPr>
        <p:txBody>
          <a:bodyPr wrap="square" lIns="0" tIns="0" rIns="0" bIns="0" rtlCol="0" anchor="t"/>
          <a:lstStyle/>
          <a:p>
            <a:pPr indent="0" marL="0">
              <a:buNone/>
            </a:pPr>
            <a:r>
              <a:rPr lang="en-US" sz="1800" b="1" dirty="0">
                <a:solidFill>
                  <a:schemeClr val="tx2"/>
                </a:solidFill>
              </a:rPr>
              <a:t>Update</a:t>
            </a:r>
            <a:endParaRPr lang="en-US" sz="1500" dirty="0"/>
          </a:p>
          <a:p>
            <a:pPr indent="0" marL="0">
              <a:buNone/>
            </a:pPr>
            <a:r>
              <a:rPr lang="en-US" sz="1500" dirty="0">
                <a:solidFill>
                  <a:schemeClr val="tx1"/>
                </a:solidFill>
              </a:rPr>
              <a:t>REINFORCE with a moving-average baseline and an entropy bonus</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Version 2: PPO picks which tokens stay visible</a:t>
            </a:r>
            <a:endParaRPr lang="en-US" sz="3000" dirty="0"/>
          </a:p>
        </p:txBody>
      </p:sp>
      <p:pic>
        <p:nvPicPr>
          <p:cNvPr id="3" name="Token mask illustration" descr="/tmp/claude-2726598/-scratch-frafsani-V-Jepa/3ff876df-97fd-4cf4-8456-71590d0e11a5/scratchpad/deck/mask_token.png">    </p:cNvPr>
          <p:cNvPicPr>
            <a:picLocks noChangeAspect="1"/>
          </p:cNvPicPr>
          <p:nvPr/>
        </p:nvPicPr>
        <p:blipFill>
          <a:blip r:embed="rId1"/>
          <a:stretch>
            <a:fillRect/>
          </a:stretch>
        </p:blipFill>
        <p:spPr>
          <a:xfrm>
            <a:off x="548640" y="1508760"/>
            <a:ext cx="3931920" cy="3931920"/>
          </a:xfrm>
          <a:prstGeom prst="rect">
            <a:avLst/>
          </a:prstGeom>
        </p:spPr>
      </p:pic>
      <p:sp>
        <p:nvSpPr>
          <p:cNvPr id="4" name="Text 111"/>
          <p:cNvSpPr txBox="1"/>
          <p:nvPr/>
        </p:nvSpPr>
        <p:spPr>
          <a:xfrm>
            <a:off x="548640" y="5532120"/>
            <a:ext cx="3931920" cy="457200"/>
          </a:xfrm>
          <a:prstGeom prst="rect">
            <a:avLst/>
          </a:prstGeom>
          <a:noFill/>
          <a:ln/>
        </p:spPr>
        <p:txBody>
          <a:bodyPr wrap="square" lIns="0" tIns="0" rIns="0" bIns="0" rtlCol="0" anchor="t"/>
          <a:lstStyle/>
          <a:p>
            <a:pPr indent="0" marL="0">
              <a:buNone/>
            </a:pPr>
            <a:r>
              <a:rPr lang="en-US" sz="1200" dirty="0">
                <a:solidFill>
                  <a:schemeClr val="accent4"/>
                </a:solidFill>
              </a:rPr>
              <a:t>Illustration: 10% of patches stay visible (outlined); the other 90% are predicted</a:t>
            </a:r>
            <a:endParaRPr lang="en-US" sz="1200" dirty="0"/>
          </a:p>
        </p:txBody>
      </p:sp>
      <p:sp>
        <p:nvSpPr>
          <p:cNvPr id="5" name="Number circle 112"/>
          <p:cNvSpPr/>
          <p:nvPr/>
        </p:nvSpPr>
        <p:spPr>
          <a:xfrm>
            <a:off x="4937760" y="1508760"/>
            <a:ext cx="457200" cy="457200"/>
          </a:xfrm>
          <a:prstGeom prst="ellipse">
            <a:avLst/>
          </a:prstGeom>
          <a:solidFill>
            <a:schemeClr val="accent1"/>
          </a:solidFill>
          <a:ln w="12700">
            <a:solidFill>
              <a:schemeClr val="accent1"/>
            </a:solidFill>
            <a:prstDash val="solid"/>
          </a:ln>
        </p:spPr>
      </p:sp>
      <p:sp>
        <p:nvSpPr>
          <p:cNvPr id="6" name="Text 113"/>
          <p:cNvSpPr txBox="1"/>
          <p:nvPr/>
        </p:nvSpPr>
        <p:spPr>
          <a:xfrm>
            <a:off x="4937760" y="150876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7" name="Text 114"/>
          <p:cNvSpPr txBox="1"/>
          <p:nvPr/>
        </p:nvSpPr>
        <p:spPr>
          <a:xfrm>
            <a:off x="5623560" y="1481328"/>
            <a:ext cx="5989320" cy="512064"/>
          </a:xfrm>
          <a:prstGeom prst="rect">
            <a:avLst/>
          </a:prstGeom>
          <a:noFill/>
          <a:ln/>
        </p:spPr>
        <p:txBody>
          <a:bodyPr wrap="square" lIns="0" tIns="0" rIns="0" bIns="0" rtlCol="0" anchor="ctr"/>
          <a:lstStyle/>
          <a:p>
            <a:pPr indent="0" marL="0">
              <a:buNone/>
            </a:pPr>
            <a:r>
              <a:rPr lang="en-US" sz="1600" b="1" dirty="0">
                <a:solidFill>
                  <a:schemeClr val="tx2"/>
                </a:solidFill>
              </a:rPr>
              <a:t>Input  </a:t>
            </a:r>
            <a:pPr indent="0" marL="0">
              <a:buNone/>
            </a:pPr>
            <a:r>
              <a:rPr lang="en-US" sz="1400" dirty="0">
                <a:solidFill>
                  <a:schemeClr val="tx1"/>
                </a:solidFill>
              </a:rPr>
              <a:t>The encoder's own patch embeddings of the clip</a:t>
            </a:r>
            <a:endParaRPr lang="en-US" sz="1500" dirty="0"/>
          </a:p>
        </p:txBody>
      </p:sp>
      <p:sp>
        <p:nvSpPr>
          <p:cNvPr id="8" name="Number circle 115"/>
          <p:cNvSpPr/>
          <p:nvPr/>
        </p:nvSpPr>
        <p:spPr>
          <a:xfrm>
            <a:off x="4937760" y="2295144"/>
            <a:ext cx="457200" cy="457200"/>
          </a:xfrm>
          <a:prstGeom prst="ellipse">
            <a:avLst/>
          </a:prstGeom>
          <a:solidFill>
            <a:schemeClr val="accent1"/>
          </a:solidFill>
          <a:ln w="12700">
            <a:solidFill>
              <a:schemeClr val="accent1"/>
            </a:solidFill>
            <a:prstDash val="solid"/>
          </a:ln>
        </p:spPr>
      </p:sp>
      <p:sp>
        <p:nvSpPr>
          <p:cNvPr id="9" name="Text 116"/>
          <p:cNvSpPr txBox="1"/>
          <p:nvPr/>
        </p:nvSpPr>
        <p:spPr>
          <a:xfrm>
            <a:off x="4937760" y="2295144"/>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0" name="Text 117"/>
          <p:cNvSpPr txBox="1"/>
          <p:nvPr/>
        </p:nvSpPr>
        <p:spPr>
          <a:xfrm>
            <a:off x="5623560" y="2267712"/>
            <a:ext cx="5989320" cy="512064"/>
          </a:xfrm>
          <a:prstGeom prst="rect">
            <a:avLst/>
          </a:prstGeom>
          <a:noFill/>
          <a:ln/>
        </p:spPr>
        <p:txBody>
          <a:bodyPr wrap="square" lIns="0" tIns="0" rIns="0" bIns="0" rtlCol="0" anchor="ctr"/>
          <a:lstStyle/>
          <a:p>
            <a:pPr indent="0" marL="0">
              <a:buNone/>
            </a:pPr>
            <a:r>
              <a:rPr lang="en-US" sz="1600" b="1" dirty="0">
                <a:solidFill>
                  <a:schemeClr val="tx2"/>
                </a:solidFill>
              </a:rPr>
              <a:t>Actor  </a:t>
            </a:r>
            <a:pPr indent="0" marL="0">
              <a:buNone/>
            </a:pPr>
            <a:r>
              <a:rPr lang="en-US" sz="1400" dirty="0">
                <a:solidFill>
                  <a:schemeClr val="tx1"/>
                </a:solidFill>
              </a:rPr>
              <a:t>A trajectory-attention block follows each patch through time and scores it</a:t>
            </a:r>
            <a:endParaRPr lang="en-US" sz="1500" dirty="0"/>
          </a:p>
        </p:txBody>
      </p:sp>
      <p:sp>
        <p:nvSpPr>
          <p:cNvPr id="11" name="Number circle 118"/>
          <p:cNvSpPr/>
          <p:nvPr/>
        </p:nvSpPr>
        <p:spPr>
          <a:xfrm>
            <a:off x="4937760" y="3081528"/>
            <a:ext cx="457200" cy="457200"/>
          </a:xfrm>
          <a:prstGeom prst="ellipse">
            <a:avLst/>
          </a:prstGeom>
          <a:solidFill>
            <a:schemeClr val="accent1"/>
          </a:solidFill>
          <a:ln w="12700">
            <a:solidFill>
              <a:schemeClr val="accent1"/>
            </a:solidFill>
            <a:prstDash val="solid"/>
          </a:ln>
        </p:spPr>
      </p:sp>
      <p:sp>
        <p:nvSpPr>
          <p:cNvPr id="12" name="Text 119"/>
          <p:cNvSpPr txBox="1"/>
          <p:nvPr/>
        </p:nvSpPr>
        <p:spPr>
          <a:xfrm>
            <a:off x="4937760" y="3081528"/>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3" name="Text 120"/>
          <p:cNvSpPr txBox="1"/>
          <p:nvPr/>
        </p:nvSpPr>
        <p:spPr>
          <a:xfrm>
            <a:off x="5623560" y="3054096"/>
            <a:ext cx="5989320" cy="512064"/>
          </a:xfrm>
          <a:prstGeom prst="rect">
            <a:avLst/>
          </a:prstGeom>
          <a:noFill/>
          <a:ln/>
        </p:spPr>
        <p:txBody>
          <a:bodyPr wrap="square" lIns="0" tIns="0" rIns="0" bIns="0" rtlCol="0" anchor="ctr"/>
          <a:lstStyle/>
          <a:p>
            <a:pPr indent="0" marL="0">
              <a:buNone/>
            </a:pPr>
            <a:r>
              <a:rPr lang="en-US" sz="1600" b="1" dirty="0">
                <a:solidFill>
                  <a:schemeClr val="tx2"/>
                </a:solidFill>
              </a:rPr>
              <a:t>Action  </a:t>
            </a:r>
            <a:pPr indent="0" marL="0">
              <a:buNone/>
            </a:pPr>
            <a:r>
              <a:rPr lang="en-US" sz="1400" dirty="0">
                <a:solidFill>
                  <a:schemeClr val="tx1"/>
                </a:solidFill>
              </a:rPr>
              <a:t>Sample 156 of 1,568 tokens to keep visible; the other 1,412 become targets</a:t>
            </a:r>
            <a:endParaRPr lang="en-US" sz="1500" dirty="0"/>
          </a:p>
        </p:txBody>
      </p:sp>
      <p:sp>
        <p:nvSpPr>
          <p:cNvPr id="14" name="Number circle 121"/>
          <p:cNvSpPr/>
          <p:nvPr/>
        </p:nvSpPr>
        <p:spPr>
          <a:xfrm>
            <a:off x="4937760" y="3867912"/>
            <a:ext cx="457200" cy="457200"/>
          </a:xfrm>
          <a:prstGeom prst="ellipse">
            <a:avLst/>
          </a:prstGeom>
          <a:solidFill>
            <a:schemeClr val="accent1"/>
          </a:solidFill>
          <a:ln w="12700">
            <a:solidFill>
              <a:schemeClr val="accent1"/>
            </a:solidFill>
            <a:prstDash val="solid"/>
          </a:ln>
        </p:spPr>
      </p:sp>
      <p:sp>
        <p:nvSpPr>
          <p:cNvPr id="15" name="Text 122"/>
          <p:cNvSpPr txBox="1"/>
          <p:nvPr/>
        </p:nvSpPr>
        <p:spPr>
          <a:xfrm>
            <a:off x="4937760" y="3867912"/>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16" name="Text 123"/>
          <p:cNvSpPr txBox="1"/>
          <p:nvPr/>
        </p:nvSpPr>
        <p:spPr>
          <a:xfrm>
            <a:off x="5623560" y="3840480"/>
            <a:ext cx="5989320" cy="512064"/>
          </a:xfrm>
          <a:prstGeom prst="rect">
            <a:avLst/>
          </a:prstGeom>
          <a:noFill/>
          <a:ln/>
        </p:spPr>
        <p:txBody>
          <a:bodyPr wrap="square" lIns="0" tIns="0" rIns="0" bIns="0" rtlCol="0" anchor="ctr"/>
          <a:lstStyle/>
          <a:p>
            <a:pPr indent="0" marL="0">
              <a:buNone/>
            </a:pPr>
            <a:r>
              <a:rPr lang="en-US" sz="1600" b="1" dirty="0">
                <a:solidFill>
                  <a:schemeClr val="tx2"/>
                </a:solidFill>
              </a:rPr>
              <a:t>Reward  </a:t>
            </a:r>
            <a:pPr indent="0" marL="0">
              <a:buNone/>
            </a:pPr>
            <a:r>
              <a:rPr lang="en-US" sz="1400" dirty="0">
                <a:solidFill>
                  <a:schemeClr val="tx1"/>
                </a:solidFill>
              </a:rPr>
              <a:t>Each target token's prediction loss, so harder tokens earn more</a:t>
            </a:r>
            <a:endParaRPr lang="en-US" sz="1500" dirty="0"/>
          </a:p>
        </p:txBody>
      </p:sp>
      <p:sp>
        <p:nvSpPr>
          <p:cNvPr id="17" name="Number circle 124"/>
          <p:cNvSpPr/>
          <p:nvPr/>
        </p:nvSpPr>
        <p:spPr>
          <a:xfrm>
            <a:off x="4937760" y="4654296"/>
            <a:ext cx="457200" cy="457200"/>
          </a:xfrm>
          <a:prstGeom prst="ellipse">
            <a:avLst/>
          </a:prstGeom>
          <a:solidFill>
            <a:schemeClr val="accent1"/>
          </a:solidFill>
          <a:ln w="12700">
            <a:solidFill>
              <a:schemeClr val="accent1"/>
            </a:solidFill>
            <a:prstDash val="solid"/>
          </a:ln>
        </p:spPr>
      </p:sp>
      <p:sp>
        <p:nvSpPr>
          <p:cNvPr id="18" name="Text 125"/>
          <p:cNvSpPr txBox="1"/>
          <p:nvPr/>
        </p:nvSpPr>
        <p:spPr>
          <a:xfrm>
            <a:off x="4937760" y="4654296"/>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19" name="Text 126"/>
          <p:cNvSpPr txBox="1"/>
          <p:nvPr/>
        </p:nvSpPr>
        <p:spPr>
          <a:xfrm>
            <a:off x="5623560" y="4626864"/>
            <a:ext cx="5989320" cy="512064"/>
          </a:xfrm>
          <a:prstGeom prst="rect">
            <a:avLst/>
          </a:prstGeom>
          <a:noFill/>
          <a:ln/>
        </p:spPr>
        <p:txBody>
          <a:bodyPr wrap="square" lIns="0" tIns="0" rIns="0" bIns="0" rtlCol="0" anchor="ctr"/>
          <a:lstStyle/>
          <a:p>
            <a:pPr indent="0" marL="0">
              <a:buNone/>
            </a:pPr>
            <a:r>
              <a:rPr lang="en-US" sz="1600" b="1" dirty="0">
                <a:solidFill>
                  <a:schemeClr val="tx2"/>
                </a:solidFill>
              </a:rPr>
              <a:t>Update  </a:t>
            </a:r>
            <a:pPr indent="0" marL="0">
              <a:buNone/>
            </a:pPr>
            <a:r>
              <a:rPr lang="en-US" sz="1400" dirty="0">
                <a:solidFill>
                  <a:schemeClr val="tx1"/>
                </a:solidFill>
              </a:rPr>
              <a:t>PPO with a critic network; the first 10 epochs use random masks</a:t>
            </a:r>
            <a:endParaRPr lang="en-US" sz="1500" dirty="0"/>
          </a:p>
        </p:txBody>
      </p:sp>
      <p:sp>
        <p:nvSpPr>
          <p:cNvPr id="20" name="Text 127"/>
          <p:cNvSpPr txBox="1"/>
          <p:nvPr/>
        </p:nvSpPr>
        <p:spPr>
          <a:xfrm>
            <a:off x="4937760" y="5532120"/>
            <a:ext cx="6675120" cy="457200"/>
          </a:xfrm>
          <a:prstGeom prst="rect">
            <a:avLst/>
          </a:prstGeom>
          <a:noFill/>
          <a:ln/>
        </p:spPr>
        <p:txBody>
          <a:bodyPr wrap="square" lIns="0" tIns="0" rIns="0" bIns="0" rtlCol="0" anchor="t"/>
          <a:lstStyle/>
          <a:p>
            <a:pPr indent="0" marL="0">
              <a:buNone/>
            </a:pPr>
            <a:r>
              <a:rPr lang="en-US" sz="1200" dirty="0">
                <a:solidFill>
                  <a:schemeClr val="accent4"/>
                </a:solidFill>
              </a:rPr>
              <a:t>Adapted from TATS (Rai et al., ICCV Workshops 2025), which was designed for VideoMAE pixel reconstruction.</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The versions differ in what they choose and reward</a:t>
            </a:r>
            <a:endParaRPr lang="en-US" sz="3000" dirty="0"/>
          </a:p>
        </p:txBody>
      </p:sp>
      <p:graphicFrame>
        <p:nvGraphicFramePr>
          <p:cNvPr id="12" name="Comparison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130552"/>
                <a:gridCol w="4480560"/>
                <a:gridCol w="4480560"/>
              </a:tblGrid>
              <a:tr h="548640">
                <a:tc>
                  <a:txBody>
                    <a:bodyPr/>
                    <a:lstStyle/>
                    <a:p>
                      <a:pPr indent="0" marL="0">
                        <a:buNone/>
                      </a:pPr>
                      <a:endParaRPr lang="en-US" sz="15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REINFORCE</a:t>
                      </a:r>
                      <a:endParaRPr lang="en-US" sz="15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PPO (TATS-style)</a:t>
                      </a:r>
                      <a:endParaRPr lang="en-US" sz="15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tx2"/>
                    </a:solidFill>
                  </a:tcPr>
                </a:tc>
              </a:tr>
              <a:tr h="548640">
                <a:tc>
                  <a:txBody>
                    <a:bodyPr/>
                    <a:lstStyle/>
                    <a:p>
                      <a:pPr indent="0" marL="0">
                        <a:buNone/>
                      </a:pPr>
                      <a:r>
                        <a:rPr lang="en-US" sz="1400" b="1" dirty="0">
                          <a:solidFill>
                            <a:schemeClr val="tx2"/>
                          </a:solidFill>
                        </a:rPr>
                        <a:t>Chooses</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Where the rectangular mask blocks go</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indent="0" marL="0">
                        <a:buNone/>
                      </a:pPr>
                      <a:r>
                        <a:rPr lang="en-US" sz="1400" dirty="0">
                          <a:solidFill>
                            <a:schemeClr val="tx1"/>
                          </a:solidFill>
                        </a:rPr>
                        <a:t>Which individual tokens stay visible</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r>
              <a:tr h="548640">
                <a:tc>
                  <a:txBody>
                    <a:bodyPr/>
                    <a:lstStyle/>
                    <a:p>
                      <a:pPr indent="0" marL="0">
                        <a:buNone/>
                      </a:pPr>
                      <a:r>
                        <a:rPr lang="en-US" sz="1400" b="1" dirty="0">
                          <a:solidFill>
                            <a:schemeClr val="tx2"/>
                          </a:solidFill>
                        </a:rPr>
                        <a:t>Looks at</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Small transformer plus a frame-difference motion map</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indent="0" marL="0">
                        <a:buNone/>
                      </a:pPr>
                      <a:r>
                        <a:rPr lang="en-US" sz="1400" dirty="0">
                          <a:solidFill>
                            <a:schemeClr val="tx1"/>
                          </a:solidFill>
                        </a:rPr>
                        <a:t>Trajectory attention over encoder embeddings</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r>
              <a:tr h="548640">
                <a:tc>
                  <a:txBody>
                    <a:bodyPr/>
                    <a:lstStyle/>
                    <a:p>
                      <a:pPr indent="0" marL="0">
                        <a:buNone/>
                      </a:pPr>
                      <a:r>
                        <a:rPr lang="en-US" sz="1400" b="1" dirty="0">
                          <a:solidFill>
                            <a:schemeClr val="tx2"/>
                          </a:solidFill>
                        </a:rPr>
                        <a:t>Reward</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Lower prediction loss: favours easy masks</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indent="0" marL="0">
                        <a:buNone/>
                      </a:pPr>
                      <a:r>
                        <a:rPr lang="en-US" sz="1400" dirty="0">
                          <a:solidFill>
                            <a:schemeClr val="tx1"/>
                          </a:solidFill>
                        </a:rPr>
                        <a:t>Higher per-token loss: favours hard masks</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r>
              <a:tr h="548640">
                <a:tc>
                  <a:txBody>
                    <a:bodyPr/>
                    <a:lstStyle/>
                    <a:p>
                      <a:pPr indent="0" marL="0">
                        <a:buNone/>
                      </a:pPr>
                      <a:r>
                        <a:rPr lang="en-US" sz="1400" b="1" dirty="0">
                          <a:solidFill>
                            <a:schemeClr val="tx2"/>
                          </a:solidFill>
                        </a:rPr>
                        <a:t>Learning rule</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REINFORCE with a moving-average baseline</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indent="0" marL="0">
                        <a:buNone/>
                      </a:pPr>
                      <a:r>
                        <a:rPr lang="en-US" sz="1400" dirty="0">
                          <a:solidFill>
                            <a:schemeClr val="tx1"/>
                          </a:solidFill>
                        </a:rPr>
                        <a:t>PPO: actor, critic and clipped updates</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r>
              <a:tr h="548640">
                <a:tc>
                  <a:txBody>
                    <a:bodyPr/>
                    <a:lstStyle/>
                    <a:p>
                      <a:pPr indent="0" marL="0">
                        <a:buNone/>
                      </a:pPr>
                      <a:r>
                        <a:rPr lang="en-US" sz="1400" b="1" dirty="0">
                          <a:solidFill>
                            <a:schemeClr val="tx2"/>
                          </a:solidFill>
                        </a:rPr>
                        <a:t>Visible context</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About 270 and 55 tokens in the two masks</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indent="0" marL="0">
                        <a:buNone/>
                      </a:pPr>
                      <a:r>
                        <a:rPr lang="en-US" sz="1400" dirty="0">
                          <a:solidFill>
                            <a:schemeClr val="tx1"/>
                          </a:solidFill>
                        </a:rPr>
                        <a:t>156 tokens (10%) in one mask</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r>
              <a:tr h="548640">
                <a:tc>
                  <a:txBody>
                    <a:bodyPr/>
                    <a:lstStyle/>
                    <a:p>
                      <a:pPr indent="0" marL="0">
                        <a:buNone/>
                      </a:pPr>
                      <a:r>
                        <a:rPr lang="en-US" sz="1400" b="1" dirty="0">
                          <a:solidFill>
                            <a:schemeClr val="tx2"/>
                          </a:solidFill>
                        </a:rPr>
                        <a:t>Origin</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Designed in this project</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indent="0" marL="0">
                        <a:buNone/>
                      </a:pPr>
                      <a:r>
                        <a:rPr lang="en-US" sz="1400" dirty="0">
                          <a:solidFill>
                            <a:schemeClr val="tx1"/>
                          </a:solidFill>
                        </a:rPr>
                        <a:t>Ported from TATS (VideoMAE) to V-JEPA</a:t>
                      </a:r>
                      <a:endParaRPr lang="en-US" sz="1400" dirty="0"/>
                    </a:p>
                  </a:txBody>
                  <a:tcPr marL="137160" marR="137160"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r>
            </a:tbl>
          </a:graphicData>
        </a:graphic>
      </p:graphicFrame>
      <p:sp>
        <p:nvSpPr>
          <p:cNvPr id="4" name="Text 128"/>
          <p:cNvSpPr txBox="1"/>
          <p:nvPr/>
        </p:nvSpPr>
        <p:spPr>
          <a:xfrm>
            <a:off x="548640" y="5577840"/>
            <a:ext cx="11091672" cy="457200"/>
          </a:xfrm>
          <a:prstGeom prst="rect">
            <a:avLst/>
          </a:prstGeom>
          <a:noFill/>
          <a:ln/>
        </p:spPr>
        <p:txBody>
          <a:bodyPr wrap="square" lIns="0" tIns="0" rIns="0" bIns="0" rtlCol="0" anchor="t"/>
          <a:lstStyle/>
          <a:p>
            <a:pPr indent="0" marL="0">
              <a:buNone/>
            </a:pPr>
            <a:r>
              <a:rPr lang="en-US" sz="1500" i="1" dirty="0">
                <a:solidFill>
                  <a:schemeClr val="accent3"/>
                </a:solidFill>
              </a:rPr>
              <a:t>The two rewards point in opposite directions, so a final method has to commit to one hypothesis.</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The first PPO run crashed; four fixes made it stable</a:t>
            </a:r>
            <a:endParaRPr lang="en-US" sz="3000" dirty="0"/>
          </a:p>
        </p:txBody>
      </p:sp>
      <p:sp>
        <p:nvSpPr>
          <p:cNvPr id="3" name="Card 129"/>
          <p:cNvSpPr/>
          <p:nvPr/>
        </p:nvSpPr>
        <p:spPr>
          <a:xfrm>
            <a:off x="548640" y="1508760"/>
            <a:ext cx="3749040" cy="4343400"/>
          </a:xfrm>
          <a:prstGeom prst="roundRect">
            <a:avLst>
              <a:gd name="adj" fmla="val 2927"/>
            </a:avLst>
          </a:prstGeom>
          <a:solidFill>
            <a:schemeClr val="tx2"/>
          </a:solidFill>
          <a:ln w="12700">
            <a:solidFill>
              <a:schemeClr val="tx2"/>
            </a:solidFill>
            <a:prstDash val="solid"/>
          </a:ln>
        </p:spPr>
      </p:sp>
      <p:sp>
        <p:nvSpPr>
          <p:cNvPr id="4" name="Text 130"/>
          <p:cNvSpPr txBox="1"/>
          <p:nvPr/>
        </p:nvSpPr>
        <p:spPr>
          <a:xfrm>
            <a:off x="822960" y="1691640"/>
            <a:ext cx="3200400" cy="411480"/>
          </a:xfrm>
          <a:prstGeom prst="rect">
            <a:avLst/>
          </a:prstGeom>
          <a:noFill/>
          <a:ln/>
        </p:spPr>
        <p:txBody>
          <a:bodyPr wrap="square" lIns="0" tIns="0" rIns="0" bIns="0" rtlCol="0" anchor="t"/>
          <a:lstStyle/>
          <a:p>
            <a:pPr indent="0" marL="0">
              <a:buNone/>
            </a:pPr>
            <a:r>
              <a:rPr lang="en-US" sz="1800" b="1" dirty="0">
                <a:solidFill>
                  <a:schemeClr val="accent2"/>
                </a:solidFill>
              </a:rPr>
              <a:t>First run, epoch 11</a:t>
            </a:r>
            <a:endParaRPr lang="en-US" sz="1800" dirty="0"/>
          </a:p>
        </p:txBody>
      </p:sp>
      <p:sp>
        <p:nvSpPr>
          <p:cNvPr id="5" name="Text 131"/>
          <p:cNvSpPr txBox="1"/>
          <p:nvPr/>
        </p:nvSpPr>
        <p:spPr>
          <a:xfrm>
            <a:off x="822960" y="2194560"/>
            <a:ext cx="3200400" cy="731520"/>
          </a:xfrm>
          <a:prstGeom prst="rect">
            <a:avLst/>
          </a:prstGeom>
          <a:noFill/>
          <a:ln/>
        </p:spPr>
        <p:txBody>
          <a:bodyPr wrap="square" lIns="0" tIns="0" rIns="0" bIns="0" rtlCol="0" anchor="ctr"/>
          <a:lstStyle/>
          <a:p>
            <a:pPr indent="0" marL="0">
              <a:buNone/>
            </a:pPr>
            <a:r>
              <a:rPr lang="en-US" sz="3600" b="1" dirty="0">
                <a:solidFill>
                  <a:schemeClr val="bg1"/>
                </a:solidFill>
              </a:rPr>
              <a:t>5.6 to 0.1</a:t>
            </a:r>
            <a:endParaRPr lang="en-US" sz="3600" dirty="0"/>
          </a:p>
        </p:txBody>
      </p:sp>
      <p:sp>
        <p:nvSpPr>
          <p:cNvPr id="6" name="Text 132"/>
          <p:cNvSpPr txBox="1"/>
          <p:nvPr/>
        </p:nvSpPr>
        <p:spPr>
          <a:xfrm>
            <a:off x="822960" y="2926080"/>
            <a:ext cx="3200400" cy="365760"/>
          </a:xfrm>
          <a:prstGeom prst="rect">
            <a:avLst/>
          </a:prstGeom>
          <a:noFill/>
          <a:ln/>
        </p:spPr>
        <p:txBody>
          <a:bodyPr wrap="square" lIns="0" tIns="0" rIns="0" bIns="0" rtlCol="0" anchor="t"/>
          <a:lstStyle/>
          <a:p>
            <a:pPr indent="0" marL="0">
              <a:buNone/>
            </a:pPr>
            <a:r>
              <a:rPr lang="en-US" sz="1400" dirty="0">
                <a:solidFill>
                  <a:schemeClr val="bg2"/>
                </a:solidFill>
              </a:rPr>
              <a:t>policy entropy within about 20 steps</a:t>
            </a:r>
            <a:endParaRPr lang="en-US" sz="1400" dirty="0"/>
          </a:p>
        </p:txBody>
      </p:sp>
      <p:sp>
        <p:nvSpPr>
          <p:cNvPr id="7" name="Text 133"/>
          <p:cNvSpPr txBox="1"/>
          <p:nvPr/>
        </p:nvSpPr>
        <p:spPr>
          <a:xfrm>
            <a:off x="822960" y="3429000"/>
            <a:ext cx="3200400" cy="731520"/>
          </a:xfrm>
          <a:prstGeom prst="rect">
            <a:avLst/>
          </a:prstGeom>
          <a:noFill/>
          <a:ln/>
        </p:spPr>
        <p:txBody>
          <a:bodyPr wrap="square" lIns="0" tIns="0" rIns="0" bIns="0" rtlCol="0" anchor="ctr"/>
          <a:lstStyle/>
          <a:p>
            <a:pPr indent="0" marL="0">
              <a:buNone/>
            </a:pPr>
            <a:r>
              <a:rPr lang="en-US" sz="3600" b="1" dirty="0">
                <a:solidFill>
                  <a:schemeClr val="bg1"/>
                </a:solidFill>
              </a:rPr>
              <a:t>2.7 x 10</a:t>
            </a:r>
            <a:pPr indent="0" marL="0">
              <a:buNone/>
            </a:pPr>
            <a:r>
              <a:rPr lang="en-US" sz="3600" b="1" baseline="30000" dirty="0">
                <a:solidFill>
                  <a:schemeClr val="bg1"/>
                </a:solidFill>
              </a:rPr>
              <a:t>15</a:t>
            </a:r>
            <a:endParaRPr lang="en-US" sz="3600" dirty="0"/>
          </a:p>
        </p:txBody>
      </p:sp>
      <p:sp>
        <p:nvSpPr>
          <p:cNvPr id="8" name="Text 134"/>
          <p:cNvSpPr txBox="1"/>
          <p:nvPr/>
        </p:nvSpPr>
        <p:spPr>
          <a:xfrm>
            <a:off x="822960" y="4160520"/>
            <a:ext cx="3200400" cy="365760"/>
          </a:xfrm>
          <a:prstGeom prst="rect">
            <a:avLst/>
          </a:prstGeom>
          <a:noFill/>
          <a:ln/>
        </p:spPr>
        <p:txBody>
          <a:bodyPr wrap="square" lIns="0" tIns="0" rIns="0" bIns="0" rtlCol="0" anchor="t"/>
          <a:lstStyle/>
          <a:p>
            <a:pPr indent="0" marL="0">
              <a:buNone/>
            </a:pPr>
            <a:r>
              <a:rPr lang="en-US" sz="1400" dirty="0">
                <a:solidFill>
                  <a:schemeClr val="bg2"/>
                </a:solidFill>
              </a:rPr>
              <a:t>policy loss just before the crash</a:t>
            </a:r>
            <a:endParaRPr lang="en-US" sz="1400" dirty="0"/>
          </a:p>
        </p:txBody>
      </p:sp>
      <p:sp>
        <p:nvSpPr>
          <p:cNvPr id="9" name="Text 135"/>
          <p:cNvSpPr txBox="1"/>
          <p:nvPr/>
        </p:nvSpPr>
        <p:spPr>
          <a:xfrm>
            <a:off x="822960" y="4754880"/>
            <a:ext cx="3200400" cy="822960"/>
          </a:xfrm>
          <a:prstGeom prst="rect">
            <a:avLst/>
          </a:prstGeom>
          <a:noFill/>
          <a:ln/>
        </p:spPr>
        <p:txBody>
          <a:bodyPr wrap="square" lIns="0" tIns="0" rIns="0" bIns="0" rtlCol="0" anchor="t"/>
          <a:lstStyle/>
          <a:p>
            <a:pPr indent="0" marL="0">
              <a:buNone/>
            </a:pPr>
            <a:r>
              <a:rPr lang="en-US" sz="1400" dirty="0">
                <a:solidFill>
                  <a:schemeClr val="bg2"/>
                </a:solidFill>
              </a:rPr>
              <a:t>Scores became NaN and mask sampling failed.</a:t>
            </a:r>
            <a:endParaRPr lang="en-US" sz="1400" dirty="0"/>
          </a:p>
        </p:txBody>
      </p:sp>
      <p:sp>
        <p:nvSpPr>
          <p:cNvPr id="10" name="Card 136"/>
          <p:cNvSpPr/>
          <p:nvPr/>
        </p:nvSpPr>
        <p:spPr>
          <a:xfrm>
            <a:off x="4572000" y="1508760"/>
            <a:ext cx="3474720" cy="1783080"/>
          </a:xfrm>
          <a:prstGeom prst="roundRect">
            <a:avLst>
              <a:gd name="adj" fmla="val 6154"/>
            </a:avLst>
          </a:prstGeom>
          <a:solidFill>
            <a:schemeClr val="bg2"/>
          </a:solidFill>
          <a:ln w="12700">
            <a:solidFill>
              <a:schemeClr val="bg2"/>
            </a:solidFill>
            <a:prstDash val="solid"/>
          </a:ln>
        </p:spPr>
      </p:sp>
      <p:sp>
        <p:nvSpPr>
          <p:cNvPr id="11" name="Number circle 137"/>
          <p:cNvSpPr/>
          <p:nvPr/>
        </p:nvSpPr>
        <p:spPr>
          <a:xfrm>
            <a:off x="4754880" y="1691640"/>
            <a:ext cx="411480" cy="411480"/>
          </a:xfrm>
          <a:prstGeom prst="ellipse">
            <a:avLst/>
          </a:prstGeom>
          <a:solidFill>
            <a:schemeClr val="accent1"/>
          </a:solidFill>
          <a:ln w="12700">
            <a:solidFill>
              <a:schemeClr val="accent1"/>
            </a:solidFill>
            <a:prstDash val="solid"/>
          </a:ln>
        </p:spPr>
      </p:sp>
      <p:sp>
        <p:nvSpPr>
          <p:cNvPr id="12" name="Text 138"/>
          <p:cNvSpPr txBox="1"/>
          <p:nvPr/>
        </p:nvSpPr>
        <p:spPr>
          <a:xfrm>
            <a:off x="4754880" y="16916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3" name="Text 139"/>
          <p:cNvSpPr txBox="1"/>
          <p:nvPr/>
        </p:nvSpPr>
        <p:spPr>
          <a:xfrm>
            <a:off x="5303520" y="1691640"/>
            <a:ext cx="2606040" cy="411480"/>
          </a:xfrm>
          <a:prstGeom prst="rect">
            <a:avLst/>
          </a:prstGeom>
          <a:noFill/>
          <a:ln/>
        </p:spPr>
        <p:txBody>
          <a:bodyPr wrap="square" lIns="0" tIns="0" rIns="0" bIns="0" rtlCol="0" anchor="ctr"/>
          <a:lstStyle/>
          <a:p>
            <a:pPr indent="0" marL="0">
              <a:buNone/>
            </a:pPr>
            <a:r>
              <a:rPr lang="en-US" sz="1600" b="1" dirty="0">
                <a:solidFill>
                  <a:schemeClr val="tx2"/>
                </a:solidFill>
              </a:rPr>
              <a:t>Normalised policy input</a:t>
            </a:r>
            <a:endParaRPr lang="en-US" sz="1600" dirty="0"/>
          </a:p>
        </p:txBody>
      </p:sp>
      <p:sp>
        <p:nvSpPr>
          <p:cNvPr id="14" name="Text 140"/>
          <p:cNvSpPr txBox="1"/>
          <p:nvPr/>
        </p:nvSpPr>
        <p:spPr>
          <a:xfrm>
            <a:off x="4754880" y="2221992"/>
            <a:ext cx="3108960" cy="1005840"/>
          </a:xfrm>
          <a:prstGeom prst="rect">
            <a:avLst/>
          </a:prstGeom>
          <a:noFill/>
          <a:ln/>
        </p:spPr>
        <p:txBody>
          <a:bodyPr wrap="square" lIns="0" tIns="0" rIns="0" bIns="0" rtlCol="0" anchor="t"/>
          <a:lstStyle/>
          <a:p>
            <a:pPr indent="0" marL="0">
              <a:buNone/>
            </a:pPr>
            <a:r>
              <a:rPr lang="en-US" sz="1400" dirty="0">
                <a:solidFill>
                  <a:schemeClr val="tx1"/>
                </a:solidFill>
              </a:rPr>
              <a:t>Encoder embeddings grew large and made the untrained policy almost deterministic. A LayerNorm removed this root cause.</a:t>
            </a:r>
            <a:endParaRPr lang="en-US" sz="1400" dirty="0"/>
          </a:p>
        </p:txBody>
      </p:sp>
      <p:sp>
        <p:nvSpPr>
          <p:cNvPr id="15" name="Card 141"/>
          <p:cNvSpPr/>
          <p:nvPr/>
        </p:nvSpPr>
        <p:spPr>
          <a:xfrm>
            <a:off x="8165592" y="1508760"/>
            <a:ext cx="3474720" cy="1783080"/>
          </a:xfrm>
          <a:prstGeom prst="roundRect">
            <a:avLst>
              <a:gd name="adj" fmla="val 6154"/>
            </a:avLst>
          </a:prstGeom>
          <a:solidFill>
            <a:schemeClr val="bg2"/>
          </a:solidFill>
          <a:ln w="12700">
            <a:solidFill>
              <a:schemeClr val="bg2"/>
            </a:solidFill>
            <a:prstDash val="solid"/>
          </a:ln>
        </p:spPr>
      </p:sp>
      <p:sp>
        <p:nvSpPr>
          <p:cNvPr id="16" name="Number circle 142"/>
          <p:cNvSpPr/>
          <p:nvPr/>
        </p:nvSpPr>
        <p:spPr>
          <a:xfrm>
            <a:off x="8348472" y="1691640"/>
            <a:ext cx="411480" cy="411480"/>
          </a:xfrm>
          <a:prstGeom prst="ellipse">
            <a:avLst/>
          </a:prstGeom>
          <a:solidFill>
            <a:schemeClr val="accent1"/>
          </a:solidFill>
          <a:ln w="12700">
            <a:solidFill>
              <a:schemeClr val="accent1"/>
            </a:solidFill>
            <a:prstDash val="solid"/>
          </a:ln>
        </p:spPr>
      </p:sp>
      <p:sp>
        <p:nvSpPr>
          <p:cNvPr id="17" name="Text 143"/>
          <p:cNvSpPr txBox="1"/>
          <p:nvPr/>
        </p:nvSpPr>
        <p:spPr>
          <a:xfrm>
            <a:off x="8348472" y="16916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8" name="Text 144"/>
          <p:cNvSpPr txBox="1"/>
          <p:nvPr/>
        </p:nvSpPr>
        <p:spPr>
          <a:xfrm>
            <a:off x="8897112" y="1691640"/>
            <a:ext cx="2606040" cy="411480"/>
          </a:xfrm>
          <a:prstGeom prst="rect">
            <a:avLst/>
          </a:prstGeom>
          <a:noFill/>
          <a:ln/>
        </p:spPr>
        <p:txBody>
          <a:bodyPr wrap="square" lIns="0" tIns="0" rIns="0" bIns="0" rtlCol="0" anchor="ctr"/>
          <a:lstStyle/>
          <a:p>
            <a:pPr indent="0" marL="0">
              <a:buNone/>
            </a:pPr>
            <a:r>
              <a:rPr lang="en-US" sz="1600" b="1" dirty="0">
                <a:solidFill>
                  <a:schemeClr val="tx2"/>
                </a:solidFill>
              </a:rPr>
              <a:t>Probability floor</a:t>
            </a:r>
            <a:endParaRPr lang="en-US" sz="1600" dirty="0"/>
          </a:p>
        </p:txBody>
      </p:sp>
      <p:sp>
        <p:nvSpPr>
          <p:cNvPr id="19" name="Text 145"/>
          <p:cNvSpPr txBox="1"/>
          <p:nvPr/>
        </p:nvSpPr>
        <p:spPr>
          <a:xfrm>
            <a:off x="8348472" y="2221992"/>
            <a:ext cx="3108960" cy="1005840"/>
          </a:xfrm>
          <a:prstGeom prst="rect">
            <a:avLst/>
          </a:prstGeom>
          <a:noFill/>
          <a:ln/>
        </p:spPr>
        <p:txBody>
          <a:bodyPr wrap="square" lIns="0" tIns="0" rIns="0" bIns="0" rtlCol="0" anchor="t"/>
          <a:lstStyle/>
          <a:p>
            <a:pPr indent="0" marL="0">
              <a:buNone/>
            </a:pPr>
            <a:r>
              <a:rPr lang="en-US" sz="1400" dirty="0">
                <a:solidFill>
                  <a:schemeClr val="tx1"/>
                </a:solidFill>
              </a:rPr>
              <a:t>Every token keeps a small chance of being picked, so log-probabilities stay bounded.</a:t>
            </a:r>
            <a:endParaRPr lang="en-US" sz="1400" dirty="0"/>
          </a:p>
        </p:txBody>
      </p:sp>
      <p:sp>
        <p:nvSpPr>
          <p:cNvPr id="20" name="Card 146"/>
          <p:cNvSpPr/>
          <p:nvPr/>
        </p:nvSpPr>
        <p:spPr>
          <a:xfrm>
            <a:off x="4572000" y="3429000"/>
            <a:ext cx="3474720" cy="1783080"/>
          </a:xfrm>
          <a:prstGeom prst="roundRect">
            <a:avLst>
              <a:gd name="adj" fmla="val 6154"/>
            </a:avLst>
          </a:prstGeom>
          <a:solidFill>
            <a:schemeClr val="bg2"/>
          </a:solidFill>
          <a:ln w="12700">
            <a:solidFill>
              <a:schemeClr val="bg2"/>
            </a:solidFill>
            <a:prstDash val="solid"/>
          </a:ln>
        </p:spPr>
      </p:sp>
      <p:sp>
        <p:nvSpPr>
          <p:cNvPr id="21" name="Number circle 147"/>
          <p:cNvSpPr/>
          <p:nvPr/>
        </p:nvSpPr>
        <p:spPr>
          <a:xfrm>
            <a:off x="4754880" y="3611880"/>
            <a:ext cx="411480" cy="411480"/>
          </a:xfrm>
          <a:prstGeom prst="ellipse">
            <a:avLst/>
          </a:prstGeom>
          <a:solidFill>
            <a:schemeClr val="accent1"/>
          </a:solidFill>
          <a:ln w="12700">
            <a:solidFill>
              <a:schemeClr val="accent1"/>
            </a:solidFill>
            <a:prstDash val="solid"/>
          </a:ln>
        </p:spPr>
      </p:sp>
      <p:sp>
        <p:nvSpPr>
          <p:cNvPr id="22" name="Text 148"/>
          <p:cNvSpPr txBox="1"/>
          <p:nvPr/>
        </p:nvSpPr>
        <p:spPr>
          <a:xfrm>
            <a:off x="4754880" y="361188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3" name="Text 149"/>
          <p:cNvSpPr txBox="1"/>
          <p:nvPr/>
        </p:nvSpPr>
        <p:spPr>
          <a:xfrm>
            <a:off x="5303520" y="3611880"/>
            <a:ext cx="2606040" cy="411480"/>
          </a:xfrm>
          <a:prstGeom prst="rect">
            <a:avLst/>
          </a:prstGeom>
          <a:noFill/>
          <a:ln/>
        </p:spPr>
        <p:txBody>
          <a:bodyPr wrap="square" lIns="0" tIns="0" rIns="0" bIns="0" rtlCol="0" anchor="ctr"/>
          <a:lstStyle/>
          <a:p>
            <a:pPr indent="0" marL="0">
              <a:buNone/>
            </a:pPr>
            <a:r>
              <a:rPr lang="en-US" sz="1600" b="1" dirty="0">
                <a:solidFill>
                  <a:schemeClr val="tx2"/>
                </a:solidFill>
              </a:rPr>
              <a:t>Bounded PPO loss</a:t>
            </a:r>
            <a:endParaRPr lang="en-US" sz="1600" dirty="0"/>
          </a:p>
        </p:txBody>
      </p:sp>
      <p:sp>
        <p:nvSpPr>
          <p:cNvPr id="24" name="Text 150"/>
          <p:cNvSpPr txBox="1"/>
          <p:nvPr/>
        </p:nvSpPr>
        <p:spPr>
          <a:xfrm>
            <a:off x="4754880" y="4142232"/>
            <a:ext cx="3108960" cy="1005840"/>
          </a:xfrm>
          <a:prstGeom prst="rect">
            <a:avLst/>
          </a:prstGeom>
          <a:noFill/>
          <a:ln/>
        </p:spPr>
        <p:txBody>
          <a:bodyPr wrap="square" lIns="0" tIns="0" rIns="0" bIns="0" rtlCol="0" anchor="t"/>
          <a:lstStyle/>
          <a:p>
            <a:pPr indent="0" marL="0">
              <a:buNone/>
            </a:pPr>
            <a:r>
              <a:rPr lang="en-US" sz="1400" dirty="0">
                <a:solidFill>
                  <a:schemeClr val="tx1"/>
                </a:solidFill>
              </a:rPr>
              <a:t>Clamped ratio, dual-clip for negative advantages, and updates with non-finite gradients are skipped.</a:t>
            </a:r>
            <a:endParaRPr lang="en-US" sz="1400" dirty="0"/>
          </a:p>
        </p:txBody>
      </p:sp>
      <p:sp>
        <p:nvSpPr>
          <p:cNvPr id="25" name="Card 151"/>
          <p:cNvSpPr/>
          <p:nvPr/>
        </p:nvSpPr>
        <p:spPr>
          <a:xfrm>
            <a:off x="8165592" y="3429000"/>
            <a:ext cx="3474720" cy="1783080"/>
          </a:xfrm>
          <a:prstGeom prst="roundRect">
            <a:avLst>
              <a:gd name="adj" fmla="val 6154"/>
            </a:avLst>
          </a:prstGeom>
          <a:solidFill>
            <a:schemeClr val="bg2"/>
          </a:solidFill>
          <a:ln w="12700">
            <a:solidFill>
              <a:schemeClr val="bg2"/>
            </a:solidFill>
            <a:prstDash val="solid"/>
          </a:ln>
        </p:spPr>
      </p:sp>
      <p:sp>
        <p:nvSpPr>
          <p:cNvPr id="26" name="Number circle 152"/>
          <p:cNvSpPr/>
          <p:nvPr/>
        </p:nvSpPr>
        <p:spPr>
          <a:xfrm>
            <a:off x="8348472" y="3611880"/>
            <a:ext cx="411480" cy="411480"/>
          </a:xfrm>
          <a:prstGeom prst="ellipse">
            <a:avLst/>
          </a:prstGeom>
          <a:solidFill>
            <a:schemeClr val="accent1"/>
          </a:solidFill>
          <a:ln w="12700">
            <a:solidFill>
              <a:schemeClr val="accent1"/>
            </a:solidFill>
            <a:prstDash val="solid"/>
          </a:ln>
        </p:spPr>
      </p:sp>
      <p:sp>
        <p:nvSpPr>
          <p:cNvPr id="27" name="Text 153"/>
          <p:cNvSpPr txBox="1"/>
          <p:nvPr/>
        </p:nvSpPr>
        <p:spPr>
          <a:xfrm>
            <a:off x="8348472" y="361188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8" name="Text 154"/>
          <p:cNvSpPr txBox="1"/>
          <p:nvPr/>
        </p:nvSpPr>
        <p:spPr>
          <a:xfrm>
            <a:off x="8897112" y="3611880"/>
            <a:ext cx="2606040" cy="411480"/>
          </a:xfrm>
          <a:prstGeom prst="rect">
            <a:avLst/>
          </a:prstGeom>
          <a:noFill/>
          <a:ln/>
        </p:spPr>
        <p:txBody>
          <a:bodyPr wrap="square" lIns="0" tIns="0" rIns="0" bIns="0" rtlCol="0" anchor="ctr"/>
          <a:lstStyle/>
          <a:p>
            <a:pPr indent="0" marL="0">
              <a:buNone/>
            </a:pPr>
            <a:r>
              <a:rPr lang="en-US" sz="1600" b="1" dirty="0">
                <a:solidFill>
                  <a:schemeClr val="tx2"/>
                </a:solidFill>
              </a:rPr>
              <a:t>Repeatable scoring</a:t>
            </a:r>
            <a:endParaRPr lang="en-US" sz="1600" dirty="0"/>
          </a:p>
        </p:txBody>
      </p:sp>
      <p:sp>
        <p:nvSpPr>
          <p:cNvPr id="29" name="Text 155"/>
          <p:cNvSpPr txBox="1"/>
          <p:nvPr/>
        </p:nvSpPr>
        <p:spPr>
          <a:xfrm>
            <a:off x="8348472" y="4142232"/>
            <a:ext cx="3108960" cy="1005840"/>
          </a:xfrm>
          <a:prstGeom prst="rect">
            <a:avLst/>
          </a:prstGeom>
          <a:noFill/>
          <a:ln/>
        </p:spPr>
        <p:txBody>
          <a:bodyPr wrap="square" lIns="0" tIns="0" rIns="0" bIns="0" rtlCol="0" anchor="t"/>
          <a:lstStyle/>
          <a:p>
            <a:pPr indent="0" marL="0">
              <a:buNone/>
            </a:pPr>
            <a:r>
              <a:rPr lang="en-US" sz="1400" dirty="0">
                <a:solidFill>
                  <a:schemeClr val="tx1"/>
                </a:solidFill>
              </a:rPr>
              <a:t>Attention landmarks are chosen deterministically, so the update sees the same scores as sampling.</a:t>
            </a:r>
            <a:endParaRPr lang="en-US" sz="1400" dirty="0"/>
          </a:p>
        </p:txBody>
      </p:sp>
      <p:sp>
        <p:nvSpPr>
          <p:cNvPr id="30" name="Text 156"/>
          <p:cNvSpPr txBox="1"/>
          <p:nvPr/>
        </p:nvSpPr>
        <p:spPr>
          <a:xfrm>
            <a:off x="4572000" y="5440680"/>
            <a:ext cx="7068312" cy="457200"/>
          </a:xfrm>
          <a:prstGeom prst="rect">
            <a:avLst/>
          </a:prstGeom>
          <a:noFill/>
          <a:ln/>
        </p:spPr>
        <p:txBody>
          <a:bodyPr wrap="square" lIns="0" tIns="0" rIns="0" bIns="0" rtlCol="0" anchor="t"/>
          <a:lstStyle/>
          <a:p>
            <a:pPr indent="0" marL="0">
              <a:buNone/>
            </a:pPr>
            <a:r>
              <a:rPr lang="en-US" sz="1500" b="1" dirty="0">
                <a:solidFill>
                  <a:schemeClr val="accent6"/>
                </a:solidFill>
              </a:rPr>
              <a:t>Result: 290 PPO epochs completed with no skipped updates and no low-entropy warnings.</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Number circle 157"/>
          <p:cNvSpPr/>
          <p:nvPr/>
        </p:nvSpPr>
        <p:spPr>
          <a:xfrm>
            <a:off x="640080" y="2377440"/>
            <a:ext cx="1005840" cy="1005840"/>
          </a:xfrm>
          <a:prstGeom prst="ellipse">
            <a:avLst/>
          </a:prstGeom>
          <a:solidFill>
            <a:schemeClr val="accent2"/>
          </a:solidFill>
          <a:ln w="12700">
            <a:solidFill>
              <a:schemeClr val="accent2"/>
            </a:solidFill>
            <a:prstDash val="solid"/>
          </a:ln>
        </p:spPr>
      </p:sp>
      <p:sp>
        <p:nvSpPr>
          <p:cNvPr id="3" name="Text 158"/>
          <p:cNvSpPr txBox="1"/>
          <p:nvPr/>
        </p:nvSpPr>
        <p:spPr>
          <a:xfrm>
            <a:off x="640080" y="2377440"/>
            <a:ext cx="1005840" cy="1005840"/>
          </a:xfrm>
          <a:prstGeom prst="rect">
            <a:avLst/>
          </a:prstGeom>
          <a:noFill/>
          <a:ln/>
        </p:spPr>
        <p:txBody>
          <a:bodyPr wrap="square" lIns="0" tIns="0" rIns="0" bIns="0" rtlCol="0" anchor="ctr"/>
          <a:lstStyle/>
          <a:p>
            <a:pPr algn="ctr" indent="0" marL="0">
              <a:buNone/>
            </a:pPr>
            <a:r>
              <a:rPr lang="en-US" sz="3700" b="1" dirty="0">
                <a:solidFill>
                  <a:schemeClr val="tx2"/>
                </a:solidFill>
              </a:rPr>
              <a:t>3</a:t>
            </a:r>
            <a:endParaRPr lang="en-US" sz="3700" dirty="0"/>
          </a:p>
        </p:txBody>
      </p:sp>
      <p:sp>
        <p:nvSpPr>
          <p:cNvPr id="4" name="Text 0"/>
          <p:cNvSpPr/>
          <p:nvPr>
            <p:ph idx="100" type="title" hasCustomPrompt="1"/>
          </p:nvPr>
        </p:nvSpPr>
        <p:spPr>
          <a:xfrm>
            <a:off x="2103120" y="2331720"/>
            <a:ext cx="9144000" cy="1097280"/>
          </a:xfrm>
          <a:prstGeom prst="rect">
            <a:avLst/>
          </a:prstGeom>
          <a:noFill/>
          <a:ln/>
        </p:spPr>
        <p:txBody>
          <a:bodyPr wrap="square" lIns="0" tIns="0" rIns="0" bIns="0" rtlCol="0" anchor="ctr"/>
          <a:lstStyle/>
          <a:p>
            <a:pPr algn="l" indent="0" marL="0">
              <a:buNone/>
            </a:pPr>
            <a:r>
              <a:rPr lang="en-US" sz="4000" b="1" dirty="0">
                <a:solidFill>
                  <a:schemeClr val="bg1"/>
                </a:solidFill>
              </a:rPr>
              <a:t>Pretraining results</a:t>
            </a:r>
            <a:endParaRPr lang="en-US" sz="4000" dirty="0"/>
          </a:p>
        </p:txBody>
      </p:sp>
      <p:sp>
        <p:nvSpPr>
          <p:cNvPr id="5" name="Text 0"/>
          <p:cNvSpPr/>
          <p:nvPr>
            <p:ph idx="101" type="body" hasCustomPrompt="1"/>
          </p:nvPr>
        </p:nvSpPr>
        <p:spPr>
          <a:xfrm>
            <a:off x="2103120" y="3520440"/>
            <a:ext cx="8686800" cy="1097280"/>
          </a:xfrm>
          <a:prstGeom prst="rect">
            <a:avLst/>
          </a:prstGeom>
          <a:noFill/>
          <a:ln/>
        </p:spPr>
        <p:txBody>
          <a:bodyPr wrap="square" lIns="0" tIns="0" rIns="0" bIns="0" rtlCol="0" anchor="t"/>
          <a:lstStyle/>
          <a:p>
            <a:pPr algn="l" indent="0" marL="0">
              <a:buNone/>
            </a:pPr>
            <a:r>
              <a:rPr lang="en-US" sz="2000" dirty="0">
                <a:solidFill>
                  <a:schemeClr val="bg2"/>
                </a:solidFill>
              </a:rPr>
              <a:t>Cost, loss curves, and what the two policies actually learned</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All runs share one training setup; only the masking changes</a:t>
            </a:r>
            <a:endParaRPr lang="en-US" sz="3000" dirty="0"/>
          </a:p>
        </p:txBody>
      </p:sp>
      <p:sp>
        <p:nvSpPr>
          <p:cNvPr id="3" name="Card 159"/>
          <p:cNvSpPr/>
          <p:nvPr/>
        </p:nvSpPr>
        <p:spPr>
          <a:xfrm>
            <a:off x="548640" y="1508760"/>
            <a:ext cx="2286000" cy="1371600"/>
          </a:xfrm>
          <a:prstGeom prst="roundRect">
            <a:avLst>
              <a:gd name="adj" fmla="val 8000"/>
            </a:avLst>
          </a:prstGeom>
          <a:solidFill>
            <a:schemeClr val="bg2"/>
          </a:solidFill>
          <a:ln w="12700">
            <a:solidFill>
              <a:schemeClr val="bg2"/>
            </a:solidFill>
            <a:prstDash val="solid"/>
          </a:ln>
        </p:spPr>
      </p:sp>
      <p:sp>
        <p:nvSpPr>
          <p:cNvPr id="4" name="Text 160"/>
          <p:cNvSpPr txBox="1"/>
          <p:nvPr/>
        </p:nvSpPr>
        <p:spPr>
          <a:xfrm>
            <a:off x="731520" y="1645920"/>
            <a:ext cx="1920240" cy="594360"/>
          </a:xfrm>
          <a:prstGeom prst="rect">
            <a:avLst/>
          </a:prstGeom>
          <a:noFill/>
          <a:ln/>
        </p:spPr>
        <p:txBody>
          <a:bodyPr wrap="square" lIns="0" tIns="0" rIns="0" bIns="0" rtlCol="0" anchor="ctr"/>
          <a:lstStyle/>
          <a:p>
            <a:pPr indent="0" marL="0">
              <a:buNone/>
            </a:pPr>
            <a:r>
              <a:rPr lang="en-US" sz="2400" b="1" dirty="0">
                <a:solidFill>
                  <a:schemeClr val="accent1"/>
                </a:solidFill>
              </a:rPr>
              <a:t>ViT-L/16</a:t>
            </a:r>
            <a:endParaRPr lang="en-US" sz="2400" dirty="0"/>
          </a:p>
        </p:txBody>
      </p:sp>
      <p:sp>
        <p:nvSpPr>
          <p:cNvPr id="5" name="Text 161"/>
          <p:cNvSpPr txBox="1"/>
          <p:nvPr/>
        </p:nvSpPr>
        <p:spPr>
          <a:xfrm>
            <a:off x="731520" y="2286000"/>
            <a:ext cx="1920240" cy="365760"/>
          </a:xfrm>
          <a:prstGeom prst="rect">
            <a:avLst/>
          </a:prstGeom>
          <a:noFill/>
          <a:ln/>
        </p:spPr>
        <p:txBody>
          <a:bodyPr wrap="square" lIns="0" tIns="0" rIns="0" bIns="0" rtlCol="0" anchor="t"/>
          <a:lstStyle/>
          <a:p>
            <a:pPr indent="0" marL="0">
              <a:buNone/>
            </a:pPr>
            <a:r>
              <a:rPr lang="en-US" sz="1400" dirty="0">
                <a:solidFill>
                  <a:schemeClr val="accent4"/>
                </a:solidFill>
              </a:rPr>
              <a:t>encoder</a:t>
            </a:r>
            <a:endParaRPr lang="en-US" sz="1400" dirty="0"/>
          </a:p>
        </p:txBody>
      </p:sp>
      <p:sp>
        <p:nvSpPr>
          <p:cNvPr id="6" name="Card 162"/>
          <p:cNvSpPr/>
          <p:nvPr/>
        </p:nvSpPr>
        <p:spPr>
          <a:xfrm>
            <a:off x="2971800" y="1508760"/>
            <a:ext cx="2286000" cy="1371600"/>
          </a:xfrm>
          <a:prstGeom prst="roundRect">
            <a:avLst>
              <a:gd name="adj" fmla="val 8000"/>
            </a:avLst>
          </a:prstGeom>
          <a:solidFill>
            <a:schemeClr val="bg2"/>
          </a:solidFill>
          <a:ln w="12700">
            <a:solidFill>
              <a:schemeClr val="bg2"/>
            </a:solidFill>
            <a:prstDash val="solid"/>
          </a:ln>
        </p:spPr>
      </p:sp>
      <p:sp>
        <p:nvSpPr>
          <p:cNvPr id="7" name="Text 163"/>
          <p:cNvSpPr txBox="1"/>
          <p:nvPr/>
        </p:nvSpPr>
        <p:spPr>
          <a:xfrm>
            <a:off x="3154680" y="1645920"/>
            <a:ext cx="1920240" cy="594360"/>
          </a:xfrm>
          <a:prstGeom prst="rect">
            <a:avLst/>
          </a:prstGeom>
          <a:noFill/>
          <a:ln/>
        </p:spPr>
        <p:txBody>
          <a:bodyPr wrap="square" lIns="0" tIns="0" rIns="0" bIns="0" rtlCol="0" anchor="ctr"/>
          <a:lstStyle/>
          <a:p>
            <a:pPr indent="0" marL="0">
              <a:buNone/>
            </a:pPr>
            <a:r>
              <a:rPr lang="en-US" sz="2400" b="1" dirty="0">
                <a:solidFill>
                  <a:schemeClr val="accent1"/>
                </a:solidFill>
              </a:rPr>
              <a:t>16 x 224 px</a:t>
            </a:r>
            <a:endParaRPr lang="en-US" sz="2400" dirty="0"/>
          </a:p>
        </p:txBody>
      </p:sp>
      <p:sp>
        <p:nvSpPr>
          <p:cNvPr id="8" name="Text 164"/>
          <p:cNvSpPr txBox="1"/>
          <p:nvPr/>
        </p:nvSpPr>
        <p:spPr>
          <a:xfrm>
            <a:off x="3154680" y="2286000"/>
            <a:ext cx="1920240" cy="365760"/>
          </a:xfrm>
          <a:prstGeom prst="rect">
            <a:avLst/>
          </a:prstGeom>
          <a:noFill/>
          <a:ln/>
        </p:spPr>
        <p:txBody>
          <a:bodyPr wrap="square" lIns="0" tIns="0" rIns="0" bIns="0" rtlCol="0" anchor="t"/>
          <a:lstStyle/>
          <a:p>
            <a:pPr indent="0" marL="0">
              <a:buNone/>
            </a:pPr>
            <a:r>
              <a:rPr lang="en-US" sz="1400" dirty="0">
                <a:solidFill>
                  <a:schemeClr val="accent4"/>
                </a:solidFill>
              </a:rPr>
              <a:t>frames per clip</a:t>
            </a:r>
            <a:endParaRPr lang="en-US" sz="1400" dirty="0"/>
          </a:p>
        </p:txBody>
      </p:sp>
      <p:sp>
        <p:nvSpPr>
          <p:cNvPr id="9" name="Card 165"/>
          <p:cNvSpPr/>
          <p:nvPr/>
        </p:nvSpPr>
        <p:spPr>
          <a:xfrm>
            <a:off x="548640" y="3017520"/>
            <a:ext cx="2286000" cy="1371600"/>
          </a:xfrm>
          <a:prstGeom prst="roundRect">
            <a:avLst>
              <a:gd name="adj" fmla="val 8000"/>
            </a:avLst>
          </a:prstGeom>
          <a:solidFill>
            <a:schemeClr val="bg2"/>
          </a:solidFill>
          <a:ln w="12700">
            <a:solidFill>
              <a:schemeClr val="bg2"/>
            </a:solidFill>
            <a:prstDash val="solid"/>
          </a:ln>
        </p:spPr>
      </p:sp>
      <p:sp>
        <p:nvSpPr>
          <p:cNvPr id="10" name="Text 166"/>
          <p:cNvSpPr txBox="1"/>
          <p:nvPr/>
        </p:nvSpPr>
        <p:spPr>
          <a:xfrm>
            <a:off x="731520" y="3154680"/>
            <a:ext cx="1920240" cy="594360"/>
          </a:xfrm>
          <a:prstGeom prst="rect">
            <a:avLst/>
          </a:prstGeom>
          <a:noFill/>
          <a:ln/>
        </p:spPr>
        <p:txBody>
          <a:bodyPr wrap="square" lIns="0" tIns="0" rIns="0" bIns="0" rtlCol="0" anchor="ctr"/>
          <a:lstStyle/>
          <a:p>
            <a:pPr indent="0" marL="0">
              <a:buNone/>
            </a:pPr>
            <a:r>
              <a:rPr lang="en-US" sz="2400" b="1" dirty="0">
                <a:solidFill>
                  <a:schemeClr val="accent1"/>
                </a:solidFill>
              </a:rPr>
              <a:t>24</a:t>
            </a:r>
            <a:endParaRPr lang="en-US" sz="2400" dirty="0"/>
          </a:p>
        </p:txBody>
      </p:sp>
      <p:sp>
        <p:nvSpPr>
          <p:cNvPr id="11" name="Text 167"/>
          <p:cNvSpPr txBox="1"/>
          <p:nvPr/>
        </p:nvSpPr>
        <p:spPr>
          <a:xfrm>
            <a:off x="731520" y="3794760"/>
            <a:ext cx="1920240" cy="365760"/>
          </a:xfrm>
          <a:prstGeom prst="rect">
            <a:avLst/>
          </a:prstGeom>
          <a:noFill/>
          <a:ln/>
        </p:spPr>
        <p:txBody>
          <a:bodyPr wrap="square" lIns="0" tIns="0" rIns="0" bIns="0" rtlCol="0" anchor="t"/>
          <a:lstStyle/>
          <a:p>
            <a:pPr indent="0" marL="0">
              <a:buNone/>
            </a:pPr>
            <a:r>
              <a:rPr lang="en-US" sz="1400" dirty="0">
                <a:solidFill>
                  <a:schemeClr val="accent4"/>
                </a:solidFill>
              </a:rPr>
              <a:t>clips per batch</a:t>
            </a:r>
            <a:endParaRPr lang="en-US" sz="1400" dirty="0"/>
          </a:p>
        </p:txBody>
      </p:sp>
      <p:sp>
        <p:nvSpPr>
          <p:cNvPr id="12" name="Card 168"/>
          <p:cNvSpPr/>
          <p:nvPr/>
        </p:nvSpPr>
        <p:spPr>
          <a:xfrm>
            <a:off x="2971800" y="3017520"/>
            <a:ext cx="2286000" cy="1371600"/>
          </a:xfrm>
          <a:prstGeom prst="roundRect">
            <a:avLst>
              <a:gd name="adj" fmla="val 8000"/>
            </a:avLst>
          </a:prstGeom>
          <a:solidFill>
            <a:schemeClr val="bg2"/>
          </a:solidFill>
          <a:ln w="12700">
            <a:solidFill>
              <a:schemeClr val="bg2"/>
            </a:solidFill>
            <a:prstDash val="solid"/>
          </a:ln>
        </p:spPr>
      </p:sp>
      <p:sp>
        <p:nvSpPr>
          <p:cNvPr id="13" name="Text 169"/>
          <p:cNvSpPr txBox="1"/>
          <p:nvPr/>
        </p:nvSpPr>
        <p:spPr>
          <a:xfrm>
            <a:off x="3154680" y="3154680"/>
            <a:ext cx="1920240" cy="594360"/>
          </a:xfrm>
          <a:prstGeom prst="rect">
            <a:avLst/>
          </a:prstGeom>
          <a:noFill/>
          <a:ln/>
        </p:spPr>
        <p:txBody>
          <a:bodyPr wrap="square" lIns="0" tIns="0" rIns="0" bIns="0" rtlCol="0" anchor="ctr"/>
          <a:lstStyle/>
          <a:p>
            <a:pPr indent="0" marL="0">
              <a:buNone/>
            </a:pPr>
            <a:r>
              <a:rPr lang="en-US" sz="2400" b="1" dirty="0">
                <a:solidFill>
                  <a:schemeClr val="accent1"/>
                </a:solidFill>
              </a:rPr>
              <a:t>300 x 300</a:t>
            </a:r>
            <a:endParaRPr lang="en-US" sz="2400" dirty="0"/>
          </a:p>
        </p:txBody>
      </p:sp>
      <p:sp>
        <p:nvSpPr>
          <p:cNvPr id="14" name="Text 170"/>
          <p:cNvSpPr txBox="1"/>
          <p:nvPr/>
        </p:nvSpPr>
        <p:spPr>
          <a:xfrm>
            <a:off x="3154680" y="3794760"/>
            <a:ext cx="1920240" cy="365760"/>
          </a:xfrm>
          <a:prstGeom prst="rect">
            <a:avLst/>
          </a:prstGeom>
          <a:noFill/>
          <a:ln/>
        </p:spPr>
        <p:txBody>
          <a:bodyPr wrap="square" lIns="0" tIns="0" rIns="0" bIns="0" rtlCol="0" anchor="t"/>
          <a:lstStyle/>
          <a:p>
            <a:pPr indent="0" marL="0">
              <a:buNone/>
            </a:pPr>
            <a:r>
              <a:rPr lang="en-US" sz="1400" dirty="0">
                <a:solidFill>
                  <a:schemeClr val="accent4"/>
                </a:solidFill>
              </a:rPr>
              <a:t>epochs x steps</a:t>
            </a:r>
            <a:endParaRPr lang="en-US" sz="1400" dirty="0"/>
          </a:p>
        </p:txBody>
      </p:sp>
      <p:sp>
        <p:nvSpPr>
          <p:cNvPr id="15" name="Card 171"/>
          <p:cNvSpPr/>
          <p:nvPr/>
        </p:nvSpPr>
        <p:spPr>
          <a:xfrm>
            <a:off x="548640" y="4526280"/>
            <a:ext cx="2286000" cy="1371600"/>
          </a:xfrm>
          <a:prstGeom prst="roundRect">
            <a:avLst>
              <a:gd name="adj" fmla="val 8000"/>
            </a:avLst>
          </a:prstGeom>
          <a:solidFill>
            <a:schemeClr val="bg2"/>
          </a:solidFill>
          <a:ln w="12700">
            <a:solidFill>
              <a:schemeClr val="bg2"/>
            </a:solidFill>
            <a:prstDash val="solid"/>
          </a:ln>
        </p:spPr>
      </p:sp>
      <p:sp>
        <p:nvSpPr>
          <p:cNvPr id="16" name="Text 172"/>
          <p:cNvSpPr txBox="1"/>
          <p:nvPr/>
        </p:nvSpPr>
        <p:spPr>
          <a:xfrm>
            <a:off x="731520" y="4663440"/>
            <a:ext cx="1920240" cy="594360"/>
          </a:xfrm>
          <a:prstGeom prst="rect">
            <a:avLst/>
          </a:prstGeom>
          <a:noFill/>
          <a:ln/>
        </p:spPr>
        <p:txBody>
          <a:bodyPr wrap="square" lIns="0" tIns="0" rIns="0" bIns="0" rtlCol="0" anchor="ctr"/>
          <a:lstStyle/>
          <a:p>
            <a:pPr indent="0" marL="0">
              <a:buNone/>
            </a:pPr>
            <a:r>
              <a:rPr lang="en-US" sz="2400" b="1" dirty="0">
                <a:solidFill>
                  <a:schemeClr val="accent1"/>
                </a:solidFill>
              </a:rPr>
              <a:t>1 x A100</a:t>
            </a:r>
            <a:endParaRPr lang="en-US" sz="2400" dirty="0"/>
          </a:p>
        </p:txBody>
      </p:sp>
      <p:sp>
        <p:nvSpPr>
          <p:cNvPr id="17" name="Text 173"/>
          <p:cNvSpPr txBox="1"/>
          <p:nvPr/>
        </p:nvSpPr>
        <p:spPr>
          <a:xfrm>
            <a:off x="731520" y="5303520"/>
            <a:ext cx="1920240" cy="365760"/>
          </a:xfrm>
          <a:prstGeom prst="rect">
            <a:avLst/>
          </a:prstGeom>
          <a:noFill/>
          <a:ln/>
        </p:spPr>
        <p:txBody>
          <a:bodyPr wrap="square" lIns="0" tIns="0" rIns="0" bIns="0" rtlCol="0" anchor="t"/>
          <a:lstStyle/>
          <a:p>
            <a:pPr indent="0" marL="0">
              <a:buNone/>
            </a:pPr>
            <a:r>
              <a:rPr lang="en-US" sz="1400" dirty="0">
                <a:solidFill>
                  <a:schemeClr val="accent4"/>
                </a:solidFill>
              </a:rPr>
              <a:t>GPU per run</a:t>
            </a:r>
            <a:endParaRPr lang="en-US" sz="1400" dirty="0"/>
          </a:p>
        </p:txBody>
      </p:sp>
      <p:sp>
        <p:nvSpPr>
          <p:cNvPr id="18" name="Card 174"/>
          <p:cNvSpPr/>
          <p:nvPr/>
        </p:nvSpPr>
        <p:spPr>
          <a:xfrm>
            <a:off x="2971800" y="4526280"/>
            <a:ext cx="2286000" cy="1371600"/>
          </a:xfrm>
          <a:prstGeom prst="roundRect">
            <a:avLst>
              <a:gd name="adj" fmla="val 8000"/>
            </a:avLst>
          </a:prstGeom>
          <a:solidFill>
            <a:schemeClr val="bg2"/>
          </a:solidFill>
          <a:ln w="12700">
            <a:solidFill>
              <a:schemeClr val="bg2"/>
            </a:solidFill>
            <a:prstDash val="solid"/>
          </a:ln>
        </p:spPr>
      </p:sp>
      <p:sp>
        <p:nvSpPr>
          <p:cNvPr id="19" name="Text 175"/>
          <p:cNvSpPr txBox="1"/>
          <p:nvPr/>
        </p:nvSpPr>
        <p:spPr>
          <a:xfrm>
            <a:off x="3154680" y="4663440"/>
            <a:ext cx="1920240" cy="594360"/>
          </a:xfrm>
          <a:prstGeom prst="rect">
            <a:avLst/>
          </a:prstGeom>
          <a:noFill/>
          <a:ln/>
        </p:spPr>
        <p:txBody>
          <a:bodyPr wrap="square" lIns="0" tIns="0" rIns="0" bIns="0" rtlCol="0" anchor="ctr"/>
          <a:lstStyle/>
          <a:p>
            <a:pPr indent="0" marL="0">
              <a:buNone/>
            </a:pPr>
            <a:r>
              <a:rPr lang="en-US" sz="2400" b="1" dirty="0">
                <a:solidFill>
                  <a:schemeClr val="accent1"/>
                </a:solidFill>
              </a:rPr>
              <a:t>434</a:t>
            </a:r>
            <a:endParaRPr lang="en-US" sz="2400" dirty="0"/>
          </a:p>
        </p:txBody>
      </p:sp>
      <p:sp>
        <p:nvSpPr>
          <p:cNvPr id="20" name="Text 176"/>
          <p:cNvSpPr txBox="1"/>
          <p:nvPr/>
        </p:nvSpPr>
        <p:spPr>
          <a:xfrm>
            <a:off x="3154680" y="5303520"/>
            <a:ext cx="1920240" cy="365760"/>
          </a:xfrm>
          <a:prstGeom prst="rect">
            <a:avLst/>
          </a:prstGeom>
          <a:noFill/>
          <a:ln/>
        </p:spPr>
        <p:txBody>
          <a:bodyPr wrap="square" lIns="0" tIns="0" rIns="0" bIns="0" rtlCol="0" anchor="t"/>
          <a:lstStyle/>
          <a:p>
            <a:pPr indent="0" marL="0">
              <a:buNone/>
            </a:pPr>
            <a:r>
              <a:rPr lang="en-US" sz="1400" dirty="0">
                <a:solidFill>
                  <a:schemeClr val="accent4"/>
                </a:solidFill>
              </a:rPr>
              <a:t>training videos</a:t>
            </a:r>
            <a:endParaRPr lang="en-US" sz="1400" dirty="0"/>
          </a:p>
        </p:txBody>
      </p:sp>
      <p:graphicFrame>
        <p:nvGraphicFramePr>
          <p:cNvPr id="15" name="Cost table"/>
          <p:cNvGraphicFramePr>
            <a:graphicFrameLocks noGrp="1"/>
          </p:cNvGraphicFramePr>
          <p:nvPr>
            <p:extLst>
              <p:ext uri="{D42A27DB-BD31-4B8C-83A1-F6EECF244321}">
                <p14:modId xmlns:p14="http://schemas.microsoft.com/office/powerpoint/2010/main" val="1579011935"/>
              </p:ext>
            </p:extLst>
          </p:nvPr>
        </p:nvGraphicFramePr>
        <p:xfrm>
          <a:off x="5669280" y="1508760"/>
          <a:ext cx="5971032" cy="914400"/>
        </p:xfrm>
        <a:graphic>
          <a:graphicData uri="http://schemas.openxmlformats.org/drawingml/2006/table">
            <a:tbl>
              <a:tblPr/>
              <a:tblGrid>
                <a:gridCol w="1463040"/>
                <a:gridCol w="2130552"/>
                <a:gridCol w="1188720"/>
                <a:gridCol w="1188720"/>
              </a:tblGrid>
              <a:tr h="777240">
                <a:tc>
                  <a:txBody>
                    <a:bodyPr/>
                    <a:lstStyle/>
                    <a:p>
                      <a:pPr indent="0" marL="0">
                        <a:buNone/>
                      </a:pPr>
                      <a:r>
                        <a:rPr lang="en-US" sz="1500" b="1" dirty="0">
                          <a:solidFill>
                            <a:schemeClr val="bg1"/>
                          </a:solidFill>
                        </a:rPr>
                        <a:t>Run</a:t>
                      </a:r>
                      <a:endParaRPr lang="en-US" sz="15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Masking</a:t>
                      </a:r>
                      <a:endParaRPr lang="en-US" sz="15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GPU memory</a:t>
                      </a:r>
                      <a:endParaRPr lang="en-US" sz="15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Time per step</a:t>
                      </a:r>
                      <a:endParaRPr lang="en-US" sz="15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tx2"/>
                    </a:solidFill>
                  </a:tcPr>
                </a:tc>
              </a:tr>
              <a:tr h="777240">
                <a:tc>
                  <a:txBody>
                    <a:bodyPr/>
                    <a:lstStyle/>
                    <a:p>
                      <a:pPr indent="0" marL="0">
                        <a:buNone/>
                      </a:pPr>
                      <a:r>
                        <a:rPr lang="en-US" sz="1400" b="1" dirty="0">
                          <a:solidFill>
                            <a:schemeClr val="tx2"/>
                          </a:solidFill>
                        </a:rPr>
                        <a:t>Plain V-JEPA</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Random blocks</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indent="0" marL="0">
                        <a:buNone/>
                      </a:pPr>
                      <a:r>
                        <a:rPr lang="en-US" sz="1400" dirty="0">
                          <a:solidFill>
                            <a:schemeClr val="tx1"/>
                          </a:solidFill>
                        </a:rPr>
                        <a:t>34.7 GB</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indent="0" marL="0">
                        <a:buNone/>
                      </a:pPr>
                      <a:r>
                        <a:rPr lang="en-US" sz="1400" dirty="0">
                          <a:solidFill>
                            <a:schemeClr val="tx1"/>
                          </a:solidFill>
                        </a:rPr>
                        <a:t>1.06 s</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r>
              <a:tr h="777240">
                <a:tc>
                  <a:txBody>
                    <a:bodyPr/>
                    <a:lstStyle/>
                    <a:p>
                      <a:pPr indent="0" marL="0">
                        <a:buNone/>
                      </a:pPr>
                      <a:r>
                        <a:rPr lang="en-US" sz="1400" b="1" dirty="0">
                          <a:solidFill>
                            <a:schemeClr val="tx2"/>
                          </a:solidFill>
                        </a:rPr>
                        <a:t>REINFORCE</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Learned block placement</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indent="0" marL="0">
                        <a:buNone/>
                      </a:pPr>
                      <a:r>
                        <a:rPr lang="en-US" sz="1400" dirty="0">
                          <a:solidFill>
                            <a:schemeClr val="tx1"/>
                          </a:solidFill>
                        </a:rPr>
                        <a:t>45.3 GB</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indent="0" marL="0">
                        <a:buNone/>
                      </a:pPr>
                      <a:r>
                        <a:rPr lang="en-US" sz="1400" dirty="0">
                          <a:solidFill>
                            <a:schemeClr val="tx1"/>
                          </a:solidFill>
                        </a:rPr>
                        <a:t>0.63 s</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r>
              <a:tr h="777240">
                <a:tc>
                  <a:txBody>
                    <a:bodyPr/>
                    <a:lstStyle/>
                    <a:p>
                      <a:pPr indent="0" marL="0">
                        <a:buNone/>
                      </a:pPr>
                      <a:r>
                        <a:rPr lang="en-US" sz="1400" b="1" dirty="0">
                          <a:solidFill>
                            <a:schemeClr val="tx2"/>
                          </a:solidFill>
                        </a:rPr>
                        <a:t>PPO</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Learned token selection</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indent="0" marL="0">
                        <a:buNone/>
                      </a:pPr>
                      <a:r>
                        <a:rPr lang="en-US" sz="1400" dirty="0">
                          <a:solidFill>
                            <a:schemeClr val="tx1"/>
                          </a:solidFill>
                        </a:rPr>
                        <a:t>17.1 GB</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indent="0" marL="0">
                        <a:buNone/>
                      </a:pPr>
                      <a:r>
                        <a:rPr lang="en-US" sz="1400" dirty="0">
                          <a:solidFill>
                            <a:schemeClr val="tx1"/>
                          </a:solidFill>
                        </a:rPr>
                        <a:t>0.55 s</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r>
            </a:tbl>
          </a:graphicData>
        </a:graphic>
      </p:graphicFrame>
      <p:sp>
        <p:nvSpPr>
          <p:cNvPr id="22" name="Text 177"/>
          <p:cNvSpPr txBox="1"/>
          <p:nvPr/>
        </p:nvSpPr>
        <p:spPr>
          <a:xfrm>
            <a:off x="5669280" y="4846320"/>
            <a:ext cx="5971032" cy="548640"/>
          </a:xfrm>
          <a:prstGeom prst="rect">
            <a:avLst/>
          </a:prstGeom>
          <a:noFill/>
          <a:ln/>
        </p:spPr>
        <p:txBody>
          <a:bodyPr wrap="square" lIns="0" tIns="0" rIns="0" bIns="0" rtlCol="0" anchor="t"/>
          <a:lstStyle/>
          <a:p>
            <a:pPr indent="0" marL="0">
              <a:buNone/>
            </a:pPr>
            <a:r>
              <a:rPr lang="en-US" sz="1500" dirty="0">
                <a:solidFill>
                  <a:schemeClr val="tx1"/>
                </a:solidFill>
              </a:rPr>
              <a:t>PPO keeps only 156 tokens visible, so the context encoder does much less work.</a:t>
            </a:r>
            <a:endParaRPr lang="en-US" sz="1500" dirty="0"/>
          </a:p>
        </p:txBody>
      </p:sp>
      <p:sp>
        <p:nvSpPr>
          <p:cNvPr id="23" name="Text 178"/>
          <p:cNvSpPr txBox="1"/>
          <p:nvPr/>
        </p:nvSpPr>
        <p:spPr>
          <a:xfrm>
            <a:off x="5669280" y="5486400"/>
            <a:ext cx="5971032" cy="548640"/>
          </a:xfrm>
          <a:prstGeom prst="rect">
            <a:avLst/>
          </a:prstGeom>
          <a:noFill/>
          <a:ln/>
        </p:spPr>
        <p:txBody>
          <a:bodyPr wrap="square" lIns="0" tIns="0" rIns="0" bIns="0" rtlCol="0" anchor="t"/>
          <a:lstStyle/>
          <a:p>
            <a:pPr indent="0" marL="0">
              <a:buNone/>
            </a:pPr>
            <a:r>
              <a:rPr lang="en-US" sz="1200" dirty="0">
                <a:solidFill>
                  <a:schemeClr val="accent4"/>
                </a:solidFill>
              </a:rPr>
              <a:t>Single runs on a shared cluster at different times: memory is reliable, timings are indicative only.</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All runs show the same loss pattern: a drop, then a rise</a:t>
            </a:r>
            <a:endParaRPr lang="en-US" sz="3000" dirty="0"/>
          </a:p>
        </p:txBody>
      </p:sp>
      <p:graphicFrame>
        <p:nvGraphicFramePr>
          <p:cNvPr id="3" name="Loss chart" descr=""/>
          <p:cNvGraphicFramePr/>
          <p:nvPr/>
        </p:nvGraphicFramePr>
        <p:xfrm>
          <a:off x="548640" y="1417320"/>
          <a:ext cx="7406640" cy="4343400"/>
        </p:xfrm>
        <a:graphic xmlns:a="http://schemas.openxmlformats.org/drawingml/2006/main">
          <a:graphicData uri="http://schemas.openxmlformats.org/drawingml/2006/chart">
            <c:chart xmlns:c="http://schemas.openxmlformats.org/drawingml/2006/chart" r:id="rId1"/>
          </a:graphicData>
        </a:graphic>
      </p:graphicFrame>
      <p:sp>
        <p:nvSpPr>
          <p:cNvPr id="4" name="Text 179"/>
          <p:cNvSpPr txBox="1"/>
          <p:nvPr/>
        </p:nvSpPr>
        <p:spPr>
          <a:xfrm>
            <a:off x="548640" y="5806440"/>
            <a:ext cx="7406640" cy="365760"/>
          </a:xfrm>
          <a:prstGeom prst="rect">
            <a:avLst/>
          </a:prstGeom>
          <a:noFill/>
          <a:ln/>
        </p:spPr>
        <p:txBody>
          <a:bodyPr wrap="square" lIns="0" tIns="0" rIns="0" bIns="0" rtlCol="0" anchor="t"/>
          <a:lstStyle/>
          <a:p>
            <a:pPr indent="0" marL="0">
              <a:buNone/>
            </a:pPr>
            <a:r>
              <a:rPr lang="en-US" sz="1200" dirty="0">
                <a:solidFill>
                  <a:schemeClr val="accent4"/>
                </a:solidFill>
              </a:rPr>
              <a:t>Average loss per epoch, 5-epoch moving average. PPO epochs 1 to 10 use random token masks.</a:t>
            </a:r>
            <a:endParaRPr lang="en-US" sz="1200" dirty="0"/>
          </a:p>
        </p:txBody>
      </p:sp>
      <p:sp>
        <p:nvSpPr>
          <p:cNvPr id="5" name="Text 180"/>
          <p:cNvSpPr txBox="1"/>
          <p:nvPr/>
        </p:nvSpPr>
        <p:spPr>
          <a:xfrm>
            <a:off x="8229600" y="1554480"/>
            <a:ext cx="3410712" cy="4206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Loss falls to about 0.02 to 0.04 early, then climbs and levels off</a:t>
            </a:r>
            <a:endParaRPr lang="en-US" sz="1500" dirty="0"/>
          </a:p>
          <a:p>
            <a:pPr marL="342900" indent="-342900">
              <a:spcAft>
                <a:spcPts val="800"/>
              </a:spcAft>
              <a:buSzPct val="100000"/>
              <a:buChar char="•"/>
            </a:pPr>
            <a:r>
              <a:rPr lang="en-US" sz="1500" dirty="0">
                <a:solidFill>
                  <a:schemeClr val="tx1"/>
                </a:solidFill>
              </a:rPr>
              <a:t>Mean of the last 20 epochs: plain 0.068, REINFORCE 0.055, PPO 0.089</a:t>
            </a:r>
            <a:endParaRPr lang="en-US" sz="1500" dirty="0"/>
          </a:p>
          <a:p>
            <a:pPr marL="342900" indent="-342900">
              <a:spcAft>
                <a:spcPts val="800"/>
              </a:spcAft>
              <a:buSzPct val="100000"/>
              <a:buChar char="•"/>
            </a:pPr>
            <a:r>
              <a:rPr lang="en-US" sz="1500" dirty="0">
                <a:solidFill>
                  <a:schemeClr val="tx1"/>
                </a:solidFill>
              </a:rPr>
              <a:t>The prediction target keeps changing, so a rising loss does not mean worse features</a:t>
            </a:r>
            <a:endParaRPr lang="en-US" sz="1500" dirty="0"/>
          </a:p>
          <a:p>
            <a:pPr marL="342900" indent="-342900">
              <a:spcAft>
                <a:spcPts val="800"/>
              </a:spcAft>
              <a:buSzPct val="100000"/>
              <a:buChar char="•"/>
            </a:pPr>
            <a:r>
              <a:rPr lang="en-US" sz="1500" dirty="0">
                <a:solidFill>
                  <a:schemeClr val="tx1"/>
                </a:solidFill>
              </a:rPr>
              <a:t>Runs with different masks cannot be ranked by loss</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Both policies stayed close to random masking</a:t>
            </a:r>
            <a:endParaRPr lang="en-US" sz="3000" dirty="0"/>
          </a:p>
        </p:txBody>
      </p:sp>
      <p:graphicFrame>
        <p:nvGraphicFramePr>
          <p:cNvPr id="3" name="Motion weight chart" descr=""/>
          <p:cNvGraphicFramePr/>
          <p:nvPr/>
        </p:nvGraphicFramePr>
        <p:xfrm>
          <a:off x="548640" y="1417320"/>
          <a:ext cx="6035040" cy="4343400"/>
        </p:xfrm>
        <a:graphic xmlns:a="http://schemas.openxmlformats.org/drawingml/2006/main">
          <a:graphicData uri="http://schemas.openxmlformats.org/drawingml/2006/chart">
            <c:chart xmlns:c="http://schemas.openxmlformats.org/drawingml/2006/chart" r:id="rId1"/>
          </a:graphicData>
        </a:graphic>
      </p:graphicFrame>
      <p:sp>
        <p:nvSpPr>
          <p:cNvPr id="4" name="Text 181"/>
          <p:cNvSpPr txBox="1"/>
          <p:nvPr/>
        </p:nvSpPr>
        <p:spPr>
          <a:xfrm>
            <a:off x="548640" y="5806440"/>
            <a:ext cx="6035040" cy="365760"/>
          </a:xfrm>
          <a:prstGeom prst="rect">
            <a:avLst/>
          </a:prstGeom>
          <a:noFill/>
          <a:ln/>
        </p:spPr>
        <p:txBody>
          <a:bodyPr wrap="square" lIns="0" tIns="0" rIns="0" bIns="0" rtlCol="0" anchor="t"/>
          <a:lstStyle/>
          <a:p>
            <a:pPr indent="0" marL="0">
              <a:buNone/>
            </a:pPr>
            <a:r>
              <a:rPr lang="en-US" sz="1200" dirty="0">
                <a:solidFill>
                  <a:schemeClr val="accent4"/>
                </a:solidFill>
              </a:rPr>
              <a:t>A positive weight sends masks toward motion; a negative weight sends them away.</a:t>
            </a:r>
            <a:endParaRPr lang="en-US" sz="1200" dirty="0"/>
          </a:p>
        </p:txBody>
      </p:sp>
      <p:sp>
        <p:nvSpPr>
          <p:cNvPr id="5" name="Card 182"/>
          <p:cNvSpPr/>
          <p:nvPr/>
        </p:nvSpPr>
        <p:spPr>
          <a:xfrm>
            <a:off x="6858000" y="1463040"/>
            <a:ext cx="4782312" cy="1325880"/>
          </a:xfrm>
          <a:prstGeom prst="roundRect">
            <a:avLst>
              <a:gd name="adj" fmla="val 8276"/>
            </a:avLst>
          </a:prstGeom>
          <a:solidFill>
            <a:schemeClr val="bg2"/>
          </a:solidFill>
          <a:ln w="12700">
            <a:solidFill>
              <a:schemeClr val="bg2"/>
            </a:solidFill>
            <a:prstDash val="solid"/>
          </a:ln>
        </p:spPr>
      </p:sp>
      <p:sp>
        <p:nvSpPr>
          <p:cNvPr id="6" name="Text 183"/>
          <p:cNvSpPr txBox="1"/>
          <p:nvPr/>
        </p:nvSpPr>
        <p:spPr>
          <a:xfrm>
            <a:off x="7086600" y="1572768"/>
            <a:ext cx="4343400" cy="548640"/>
          </a:xfrm>
          <a:prstGeom prst="rect">
            <a:avLst/>
          </a:prstGeom>
          <a:noFill/>
          <a:ln/>
        </p:spPr>
        <p:txBody>
          <a:bodyPr wrap="square" lIns="0" tIns="0" rIns="0" bIns="0" rtlCol="0" anchor="ctr"/>
          <a:lstStyle/>
          <a:p>
            <a:pPr indent="0" marL="0">
              <a:buNone/>
            </a:pPr>
            <a:r>
              <a:rPr lang="en-US" sz="2800" b="1" dirty="0">
                <a:solidFill>
                  <a:schemeClr val="accent3"/>
                </a:solidFill>
              </a:rPr>
              <a:t>-0.28</a:t>
            </a:r>
            <a:endParaRPr lang="en-US" sz="2800" dirty="0"/>
          </a:p>
        </p:txBody>
      </p:sp>
      <p:sp>
        <p:nvSpPr>
          <p:cNvPr id="7" name="Text 184"/>
          <p:cNvSpPr txBox="1"/>
          <p:nvPr/>
        </p:nvSpPr>
        <p:spPr>
          <a:xfrm>
            <a:off x="7086600" y="2148840"/>
            <a:ext cx="4343400" cy="594360"/>
          </a:xfrm>
          <a:prstGeom prst="rect">
            <a:avLst/>
          </a:prstGeom>
          <a:noFill/>
          <a:ln/>
        </p:spPr>
        <p:txBody>
          <a:bodyPr wrap="square" lIns="0" tIns="0" rIns="0" bIns="0" rtlCol="0" anchor="t"/>
          <a:lstStyle/>
          <a:p>
            <a:pPr indent="0" marL="0">
              <a:buNone/>
            </a:pPr>
            <a:r>
              <a:rPr lang="en-US" sz="1400" dirty="0">
                <a:solidFill>
                  <a:schemeClr val="tx1"/>
                </a:solidFill>
              </a:rPr>
              <a:t>REINFORCE motion weight at epoch 300 (started at 1.0): it learned to avoid moving regions</a:t>
            </a:r>
            <a:endParaRPr lang="en-US" sz="1400" dirty="0"/>
          </a:p>
        </p:txBody>
      </p:sp>
      <p:sp>
        <p:nvSpPr>
          <p:cNvPr id="8" name="Card 185"/>
          <p:cNvSpPr/>
          <p:nvPr/>
        </p:nvSpPr>
        <p:spPr>
          <a:xfrm>
            <a:off x="6858000" y="2926080"/>
            <a:ext cx="4782312" cy="1325880"/>
          </a:xfrm>
          <a:prstGeom prst="roundRect">
            <a:avLst>
              <a:gd name="adj" fmla="val 8276"/>
            </a:avLst>
          </a:prstGeom>
          <a:solidFill>
            <a:schemeClr val="bg2"/>
          </a:solidFill>
          <a:ln w="12700">
            <a:solidFill>
              <a:schemeClr val="bg2"/>
            </a:solidFill>
            <a:prstDash val="solid"/>
          </a:ln>
        </p:spPr>
      </p:sp>
      <p:sp>
        <p:nvSpPr>
          <p:cNvPr id="9" name="Text 186"/>
          <p:cNvSpPr txBox="1"/>
          <p:nvPr/>
        </p:nvSpPr>
        <p:spPr>
          <a:xfrm>
            <a:off x="7086600" y="3035808"/>
            <a:ext cx="4343400" cy="548640"/>
          </a:xfrm>
          <a:prstGeom prst="rect">
            <a:avLst/>
          </a:prstGeom>
          <a:noFill/>
          <a:ln/>
        </p:spPr>
        <p:txBody>
          <a:bodyPr wrap="square" lIns="0" tIns="0" rIns="0" bIns="0" rtlCol="0" anchor="ctr"/>
          <a:lstStyle/>
          <a:p>
            <a:pPr indent="0" marL="0">
              <a:buNone/>
            </a:pPr>
            <a:r>
              <a:rPr lang="en-US" sz="2800" b="1" dirty="0">
                <a:solidFill>
                  <a:schemeClr val="accent3"/>
                </a:solidFill>
              </a:rPr>
              <a:t>7.18 of 7.36</a:t>
            </a:r>
            <a:endParaRPr lang="en-US" sz="2800" dirty="0"/>
          </a:p>
        </p:txBody>
      </p:sp>
      <p:sp>
        <p:nvSpPr>
          <p:cNvPr id="10" name="Text 187"/>
          <p:cNvSpPr txBox="1"/>
          <p:nvPr/>
        </p:nvSpPr>
        <p:spPr>
          <a:xfrm>
            <a:off x="7086600" y="3611880"/>
            <a:ext cx="4343400" cy="594360"/>
          </a:xfrm>
          <a:prstGeom prst="rect">
            <a:avLst/>
          </a:prstGeom>
          <a:noFill/>
          <a:ln/>
        </p:spPr>
        <p:txBody>
          <a:bodyPr wrap="square" lIns="0" tIns="0" rIns="0" bIns="0" rtlCol="0" anchor="t"/>
          <a:lstStyle/>
          <a:p>
            <a:pPr indent="0" marL="0">
              <a:buNone/>
            </a:pPr>
            <a:r>
              <a:rPr lang="en-US" sz="1400" dirty="0">
                <a:solidFill>
                  <a:schemeClr val="tx1"/>
                </a:solidFill>
              </a:rPr>
              <a:t>REINFORCE entropy at epoch 300 against the maximum, which means uniform random</a:t>
            </a:r>
            <a:endParaRPr lang="en-US" sz="1400" dirty="0"/>
          </a:p>
        </p:txBody>
      </p:sp>
      <p:sp>
        <p:nvSpPr>
          <p:cNvPr id="11" name="Card 188"/>
          <p:cNvSpPr/>
          <p:nvPr/>
        </p:nvSpPr>
        <p:spPr>
          <a:xfrm>
            <a:off x="6858000" y="4389120"/>
            <a:ext cx="4782312" cy="1325880"/>
          </a:xfrm>
          <a:prstGeom prst="roundRect">
            <a:avLst>
              <a:gd name="adj" fmla="val 8276"/>
            </a:avLst>
          </a:prstGeom>
          <a:solidFill>
            <a:schemeClr val="bg2"/>
          </a:solidFill>
          <a:ln w="12700">
            <a:solidFill>
              <a:schemeClr val="bg2"/>
            </a:solidFill>
            <a:prstDash val="solid"/>
          </a:ln>
        </p:spPr>
      </p:sp>
      <p:sp>
        <p:nvSpPr>
          <p:cNvPr id="12" name="Text 189"/>
          <p:cNvSpPr txBox="1"/>
          <p:nvPr/>
        </p:nvSpPr>
        <p:spPr>
          <a:xfrm>
            <a:off x="7086600" y="4498848"/>
            <a:ext cx="4343400" cy="548640"/>
          </a:xfrm>
          <a:prstGeom prst="rect">
            <a:avLst/>
          </a:prstGeom>
          <a:noFill/>
          <a:ln/>
        </p:spPr>
        <p:txBody>
          <a:bodyPr wrap="square" lIns="0" tIns="0" rIns="0" bIns="0" rtlCol="0" anchor="ctr"/>
          <a:lstStyle/>
          <a:p>
            <a:pPr indent="0" marL="0">
              <a:buNone/>
            </a:pPr>
            <a:r>
              <a:rPr lang="en-US" sz="2800" b="1" dirty="0">
                <a:solidFill>
                  <a:schemeClr val="accent1"/>
                </a:solidFill>
              </a:rPr>
              <a:t>6.48 of 7.36</a:t>
            </a:r>
            <a:endParaRPr lang="en-US" sz="2800" dirty="0"/>
          </a:p>
        </p:txBody>
      </p:sp>
      <p:sp>
        <p:nvSpPr>
          <p:cNvPr id="13" name="Text 190"/>
          <p:cNvSpPr txBox="1"/>
          <p:nvPr/>
        </p:nvSpPr>
        <p:spPr>
          <a:xfrm>
            <a:off x="7086600" y="5074920"/>
            <a:ext cx="4343400" cy="594360"/>
          </a:xfrm>
          <a:prstGeom prst="rect">
            <a:avLst/>
          </a:prstGeom>
          <a:noFill/>
          <a:ln/>
        </p:spPr>
        <p:txBody>
          <a:bodyPr wrap="square" lIns="0" tIns="0" rIns="0" bIns="0" rtlCol="0" anchor="t"/>
          <a:lstStyle/>
          <a:p>
            <a:pPr indent="0" marL="0">
              <a:buNone/>
            </a:pPr>
            <a:r>
              <a:rPr lang="en-US" sz="1400" dirty="0">
                <a:solidFill>
                  <a:schemeClr val="tx1"/>
                </a:solidFill>
              </a:rPr>
              <a:t>PPO entropy at epoch 300: a mild preference, still close to uniform</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Number circle 191"/>
          <p:cNvSpPr/>
          <p:nvPr/>
        </p:nvSpPr>
        <p:spPr>
          <a:xfrm>
            <a:off x="640080" y="2377440"/>
            <a:ext cx="1005840" cy="1005840"/>
          </a:xfrm>
          <a:prstGeom prst="ellipse">
            <a:avLst/>
          </a:prstGeom>
          <a:solidFill>
            <a:schemeClr val="accent2"/>
          </a:solidFill>
          <a:ln w="12700">
            <a:solidFill>
              <a:schemeClr val="accent2"/>
            </a:solidFill>
            <a:prstDash val="solid"/>
          </a:ln>
        </p:spPr>
      </p:sp>
      <p:sp>
        <p:nvSpPr>
          <p:cNvPr id="3" name="Text 192"/>
          <p:cNvSpPr txBox="1"/>
          <p:nvPr/>
        </p:nvSpPr>
        <p:spPr>
          <a:xfrm>
            <a:off x="640080" y="2377440"/>
            <a:ext cx="1005840" cy="1005840"/>
          </a:xfrm>
          <a:prstGeom prst="rect">
            <a:avLst/>
          </a:prstGeom>
          <a:noFill/>
          <a:ln/>
        </p:spPr>
        <p:txBody>
          <a:bodyPr wrap="square" lIns="0" tIns="0" rIns="0" bIns="0" rtlCol="0" anchor="ctr"/>
          <a:lstStyle/>
          <a:p>
            <a:pPr algn="ctr" indent="0" marL="0">
              <a:buNone/>
            </a:pPr>
            <a:r>
              <a:rPr lang="en-US" sz="3700" b="1" dirty="0">
                <a:solidFill>
                  <a:schemeClr val="tx2"/>
                </a:solidFill>
              </a:rPr>
              <a:t>4</a:t>
            </a:r>
            <a:endParaRPr lang="en-US" sz="3700" dirty="0"/>
          </a:p>
        </p:txBody>
      </p:sp>
      <p:sp>
        <p:nvSpPr>
          <p:cNvPr id="4" name="Text 0"/>
          <p:cNvSpPr/>
          <p:nvPr>
            <p:ph idx="100" type="title" hasCustomPrompt="1"/>
          </p:nvPr>
        </p:nvSpPr>
        <p:spPr>
          <a:xfrm>
            <a:off x="2103120" y="2331720"/>
            <a:ext cx="9144000" cy="1097280"/>
          </a:xfrm>
          <a:prstGeom prst="rect">
            <a:avLst/>
          </a:prstGeom>
          <a:noFill/>
          <a:ln/>
        </p:spPr>
        <p:txBody>
          <a:bodyPr wrap="square" lIns="0" tIns="0" rIns="0" bIns="0" rtlCol="0" anchor="ctr"/>
          <a:lstStyle/>
          <a:p>
            <a:pPr algn="l" indent="0" marL="0">
              <a:buNone/>
            </a:pPr>
            <a:r>
              <a:rPr lang="en-US" sz="4000" b="1" dirty="0">
                <a:solidFill>
                  <a:schemeClr val="bg1"/>
                </a:solidFill>
              </a:rPr>
              <a:t>Classification</a:t>
            </a:r>
            <a:endParaRPr lang="en-US" sz="4000" dirty="0"/>
          </a:p>
        </p:txBody>
      </p:sp>
      <p:sp>
        <p:nvSpPr>
          <p:cNvPr id="5" name="Text 0"/>
          <p:cNvSpPr/>
          <p:nvPr>
            <p:ph idx="101" type="body" hasCustomPrompt="1"/>
          </p:nvPr>
        </p:nvSpPr>
        <p:spPr>
          <a:xfrm>
            <a:off x="2103120" y="3520440"/>
            <a:ext cx="8686800" cy="1097280"/>
          </a:xfrm>
          <a:prstGeom prst="rect">
            <a:avLst/>
          </a:prstGeom>
          <a:noFill/>
          <a:ln/>
        </p:spPr>
        <p:txBody>
          <a:bodyPr wrap="square" lIns="0" tIns="0" rIns="0" bIns="0" rtlCol="0" anchor="t"/>
          <a:lstStyle/>
          <a:p>
            <a:pPr algn="l" indent="0" marL="0">
              <a:buNone/>
            </a:pPr>
            <a:r>
              <a:rPr lang="en-US" sz="2000" dirty="0">
                <a:solidFill>
                  <a:schemeClr val="bg2"/>
                </a:solidFill>
              </a:rPr>
              <a:t>Testing the frozen encoders on the standard-plane task</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A linear classifier on frozen features labels every frame</a:t>
            </a:r>
            <a:endParaRPr lang="en-US" sz="3000" dirty="0"/>
          </a:p>
        </p:txBody>
      </p:sp>
      <p:sp>
        <p:nvSpPr>
          <p:cNvPr id="3" name="Card 193"/>
          <p:cNvSpPr/>
          <p:nvPr/>
        </p:nvSpPr>
        <p:spPr>
          <a:xfrm>
            <a:off x="548640" y="1874520"/>
            <a:ext cx="1920240" cy="1600200"/>
          </a:xfrm>
          <a:prstGeom prst="roundRect">
            <a:avLst>
              <a:gd name="adj" fmla="val 6857"/>
            </a:avLst>
          </a:prstGeom>
          <a:solidFill>
            <a:schemeClr val="bg2"/>
          </a:solidFill>
          <a:ln w="12700">
            <a:solidFill>
              <a:schemeClr val="bg2"/>
            </a:solidFill>
            <a:prstDash val="solid"/>
          </a:ln>
        </p:spPr>
      </p:sp>
      <p:sp>
        <p:nvSpPr>
          <p:cNvPr id="4" name="Text 194"/>
          <p:cNvSpPr txBox="1"/>
          <p:nvPr/>
        </p:nvSpPr>
        <p:spPr>
          <a:xfrm>
            <a:off x="685800" y="1965960"/>
            <a:ext cx="1645920" cy="1417320"/>
          </a:xfrm>
          <a:prstGeom prst="rect">
            <a:avLst/>
          </a:prstGeom>
          <a:noFill/>
          <a:ln/>
        </p:spPr>
        <p:txBody>
          <a:bodyPr wrap="square" lIns="0" tIns="0" rIns="0" bIns="0" rtlCol="0" anchor="ctr"/>
          <a:lstStyle/>
          <a:p>
            <a:pPr algn="ctr" indent="0" marL="0">
              <a:buNone/>
            </a:pPr>
            <a:r>
              <a:rPr lang="en-US" sz="1600" b="1" dirty="0">
                <a:solidFill>
                  <a:schemeClr val="tx2"/>
                </a:solidFill>
              </a:rPr>
              <a:t>Frozen encoder</a:t>
            </a:r>
            <a:endParaRPr lang="en-US" sz="1500" dirty="0"/>
          </a:p>
          <a:p>
            <a:pPr algn="ctr" indent="0" marL="0">
              <a:buNone/>
            </a:pPr>
            <a:r>
              <a:rPr lang="en-US" sz="1400" dirty="0">
                <a:solidFill>
                  <a:schemeClr val="tx1"/>
                </a:solidFill>
              </a:rPr>
              <a:t>pretrained weights are never updated</a:t>
            </a:r>
            <a:endParaRPr lang="en-US" sz="1500" dirty="0"/>
          </a:p>
        </p:txBody>
      </p:sp>
      <p:sp>
        <p:nvSpPr>
          <p:cNvPr id="5" name="Number circle 195"/>
          <p:cNvSpPr/>
          <p:nvPr/>
        </p:nvSpPr>
        <p:spPr>
          <a:xfrm>
            <a:off x="1280160" y="1600200"/>
            <a:ext cx="457200" cy="457200"/>
          </a:xfrm>
          <a:prstGeom prst="ellipse">
            <a:avLst/>
          </a:prstGeom>
          <a:solidFill>
            <a:schemeClr val="accent1"/>
          </a:solidFill>
          <a:ln w="12700">
            <a:solidFill>
              <a:schemeClr val="accent1"/>
            </a:solidFill>
            <a:prstDash val="solid"/>
          </a:ln>
        </p:spPr>
      </p:sp>
      <p:sp>
        <p:nvSpPr>
          <p:cNvPr id="6" name="Text 196"/>
          <p:cNvSpPr txBox="1"/>
          <p:nvPr/>
        </p:nvSpPr>
        <p:spPr>
          <a:xfrm>
            <a:off x="1280160" y="160020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7" name="Arrow 197"/>
          <p:cNvSpPr/>
          <p:nvPr/>
        </p:nvSpPr>
        <p:spPr>
          <a:xfrm>
            <a:off x="2468880" y="2670048"/>
            <a:ext cx="365760" cy="0"/>
          </a:xfrm>
          <a:prstGeom prst="line">
            <a:avLst/>
          </a:prstGeom>
          <a:noFill/>
          <a:ln w="22225">
            <a:solidFill>
              <a:schemeClr val="accent4"/>
            </a:solidFill>
            <a:prstDash val="solid"/>
            <a:tailEnd type="triangle"/>
          </a:ln>
        </p:spPr>
      </p:sp>
      <p:sp>
        <p:nvSpPr>
          <p:cNvPr id="8" name="Card 198"/>
          <p:cNvSpPr/>
          <p:nvPr/>
        </p:nvSpPr>
        <p:spPr>
          <a:xfrm>
            <a:off x="2834640" y="1874520"/>
            <a:ext cx="1920240" cy="1600200"/>
          </a:xfrm>
          <a:prstGeom prst="roundRect">
            <a:avLst>
              <a:gd name="adj" fmla="val 6857"/>
            </a:avLst>
          </a:prstGeom>
          <a:solidFill>
            <a:schemeClr val="bg2"/>
          </a:solidFill>
          <a:ln w="12700">
            <a:solidFill>
              <a:schemeClr val="bg2"/>
            </a:solidFill>
            <a:prstDash val="solid"/>
          </a:ln>
        </p:spPr>
      </p:sp>
      <p:sp>
        <p:nvSpPr>
          <p:cNvPr id="9" name="Text 199"/>
          <p:cNvSpPr txBox="1"/>
          <p:nvPr/>
        </p:nvSpPr>
        <p:spPr>
          <a:xfrm>
            <a:off x="2971800" y="1965960"/>
            <a:ext cx="1645920" cy="1417320"/>
          </a:xfrm>
          <a:prstGeom prst="rect">
            <a:avLst/>
          </a:prstGeom>
          <a:noFill/>
          <a:ln/>
        </p:spPr>
        <p:txBody>
          <a:bodyPr wrap="square" lIns="0" tIns="0" rIns="0" bIns="0" rtlCol="0" anchor="ctr"/>
          <a:lstStyle/>
          <a:p>
            <a:pPr algn="ctr" indent="0" marL="0">
              <a:buNone/>
            </a:pPr>
            <a:r>
              <a:rPr lang="en-US" sz="1600" b="1" dirty="0">
                <a:solidFill>
                  <a:schemeClr val="tx2"/>
                </a:solidFill>
              </a:rPr>
              <a:t>16-frame windows</a:t>
            </a:r>
            <a:endParaRPr lang="en-US" sz="1500" dirty="0"/>
          </a:p>
          <a:p>
            <a:pPr algn="ctr" indent="0" marL="0">
              <a:buNone/>
            </a:pPr>
            <a:r>
              <a:rPr lang="en-US" sz="1400" dirty="0">
                <a:solidFill>
                  <a:schemeClr val="tx1"/>
                </a:solidFill>
              </a:rPr>
              <a:t>slide along each video, 8 frames apart</a:t>
            </a:r>
            <a:endParaRPr lang="en-US" sz="1500" dirty="0"/>
          </a:p>
        </p:txBody>
      </p:sp>
      <p:sp>
        <p:nvSpPr>
          <p:cNvPr id="10" name="Number circle 200"/>
          <p:cNvSpPr/>
          <p:nvPr/>
        </p:nvSpPr>
        <p:spPr>
          <a:xfrm>
            <a:off x="3566160" y="1600200"/>
            <a:ext cx="457200" cy="457200"/>
          </a:xfrm>
          <a:prstGeom prst="ellipse">
            <a:avLst/>
          </a:prstGeom>
          <a:solidFill>
            <a:schemeClr val="accent1"/>
          </a:solidFill>
          <a:ln w="12700">
            <a:solidFill>
              <a:schemeClr val="accent1"/>
            </a:solidFill>
            <a:prstDash val="solid"/>
          </a:ln>
        </p:spPr>
      </p:sp>
      <p:sp>
        <p:nvSpPr>
          <p:cNvPr id="11" name="Text 201"/>
          <p:cNvSpPr txBox="1"/>
          <p:nvPr/>
        </p:nvSpPr>
        <p:spPr>
          <a:xfrm>
            <a:off x="3566160" y="160020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2" name="Arrow 202"/>
          <p:cNvSpPr/>
          <p:nvPr/>
        </p:nvSpPr>
        <p:spPr>
          <a:xfrm>
            <a:off x="4754880" y="2670048"/>
            <a:ext cx="365760" cy="0"/>
          </a:xfrm>
          <a:prstGeom prst="line">
            <a:avLst/>
          </a:prstGeom>
          <a:noFill/>
          <a:ln w="22225">
            <a:solidFill>
              <a:schemeClr val="accent4"/>
            </a:solidFill>
            <a:prstDash val="solid"/>
            <a:tailEnd type="triangle"/>
          </a:ln>
        </p:spPr>
      </p:sp>
      <p:sp>
        <p:nvSpPr>
          <p:cNvPr id="13" name="Card 203"/>
          <p:cNvSpPr/>
          <p:nvPr/>
        </p:nvSpPr>
        <p:spPr>
          <a:xfrm>
            <a:off x="5120640" y="1874520"/>
            <a:ext cx="1920240" cy="1600200"/>
          </a:xfrm>
          <a:prstGeom prst="roundRect">
            <a:avLst>
              <a:gd name="adj" fmla="val 6857"/>
            </a:avLst>
          </a:prstGeom>
          <a:solidFill>
            <a:schemeClr val="bg2"/>
          </a:solidFill>
          <a:ln w="12700">
            <a:solidFill>
              <a:schemeClr val="bg2"/>
            </a:solidFill>
            <a:prstDash val="solid"/>
          </a:ln>
        </p:spPr>
      </p:sp>
      <p:sp>
        <p:nvSpPr>
          <p:cNvPr id="14" name="Text 204"/>
          <p:cNvSpPr txBox="1"/>
          <p:nvPr/>
        </p:nvSpPr>
        <p:spPr>
          <a:xfrm>
            <a:off x="5257800" y="1965960"/>
            <a:ext cx="1645920" cy="1417320"/>
          </a:xfrm>
          <a:prstGeom prst="rect">
            <a:avLst/>
          </a:prstGeom>
          <a:noFill/>
          <a:ln/>
        </p:spPr>
        <p:txBody>
          <a:bodyPr wrap="square" lIns="0" tIns="0" rIns="0" bIns="0" rtlCol="0" anchor="ctr"/>
          <a:lstStyle/>
          <a:p>
            <a:pPr algn="ctr" indent="0" marL="0">
              <a:buNone/>
            </a:pPr>
            <a:r>
              <a:rPr lang="en-US" sz="1600" b="1" dirty="0">
                <a:solidFill>
                  <a:schemeClr val="tx2"/>
                </a:solidFill>
              </a:rPr>
              <a:t>One feature per 2 frames</a:t>
            </a:r>
            <a:endParaRPr lang="en-US" sz="1500" dirty="0"/>
          </a:p>
          <a:p>
            <a:pPr algn="ctr" indent="0" marL="0">
              <a:buNone/>
            </a:pPr>
            <a:r>
              <a:rPr lang="en-US" sz="1400" dirty="0">
                <a:solidFill>
                  <a:schemeClr val="tx1"/>
                </a:solidFill>
              </a:rPr>
              <a:t>average of the 196 patch tokens</a:t>
            </a:r>
            <a:endParaRPr lang="en-US" sz="1500" dirty="0"/>
          </a:p>
        </p:txBody>
      </p:sp>
      <p:sp>
        <p:nvSpPr>
          <p:cNvPr id="15" name="Number circle 205"/>
          <p:cNvSpPr/>
          <p:nvPr/>
        </p:nvSpPr>
        <p:spPr>
          <a:xfrm>
            <a:off x="5852160" y="1600200"/>
            <a:ext cx="457200" cy="457200"/>
          </a:xfrm>
          <a:prstGeom prst="ellipse">
            <a:avLst/>
          </a:prstGeom>
          <a:solidFill>
            <a:schemeClr val="accent1"/>
          </a:solidFill>
          <a:ln w="12700">
            <a:solidFill>
              <a:schemeClr val="accent1"/>
            </a:solidFill>
            <a:prstDash val="solid"/>
          </a:ln>
        </p:spPr>
      </p:sp>
      <p:sp>
        <p:nvSpPr>
          <p:cNvPr id="16" name="Text 206"/>
          <p:cNvSpPr txBox="1"/>
          <p:nvPr/>
        </p:nvSpPr>
        <p:spPr>
          <a:xfrm>
            <a:off x="5852160" y="160020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7" name="Arrow 207"/>
          <p:cNvSpPr/>
          <p:nvPr/>
        </p:nvSpPr>
        <p:spPr>
          <a:xfrm>
            <a:off x="7040880" y="2670048"/>
            <a:ext cx="365760" cy="0"/>
          </a:xfrm>
          <a:prstGeom prst="line">
            <a:avLst/>
          </a:prstGeom>
          <a:noFill/>
          <a:ln w="22225">
            <a:solidFill>
              <a:schemeClr val="accent4"/>
            </a:solidFill>
            <a:prstDash val="solid"/>
            <a:tailEnd type="triangle"/>
          </a:ln>
        </p:spPr>
      </p:sp>
      <p:sp>
        <p:nvSpPr>
          <p:cNvPr id="18" name="Card 208"/>
          <p:cNvSpPr/>
          <p:nvPr/>
        </p:nvSpPr>
        <p:spPr>
          <a:xfrm>
            <a:off x="7406640" y="1874520"/>
            <a:ext cx="1920240" cy="1600200"/>
          </a:xfrm>
          <a:prstGeom prst="roundRect">
            <a:avLst>
              <a:gd name="adj" fmla="val 6857"/>
            </a:avLst>
          </a:prstGeom>
          <a:solidFill>
            <a:schemeClr val="bg2"/>
          </a:solidFill>
          <a:ln w="12700">
            <a:solidFill>
              <a:schemeClr val="bg2"/>
            </a:solidFill>
            <a:prstDash val="solid"/>
          </a:ln>
        </p:spPr>
      </p:sp>
      <p:sp>
        <p:nvSpPr>
          <p:cNvPr id="19" name="Text 209"/>
          <p:cNvSpPr txBox="1"/>
          <p:nvPr/>
        </p:nvSpPr>
        <p:spPr>
          <a:xfrm>
            <a:off x="7543800" y="1965960"/>
            <a:ext cx="1645920" cy="1417320"/>
          </a:xfrm>
          <a:prstGeom prst="rect">
            <a:avLst/>
          </a:prstGeom>
          <a:noFill/>
          <a:ln/>
        </p:spPr>
        <p:txBody>
          <a:bodyPr wrap="square" lIns="0" tIns="0" rIns="0" bIns="0" rtlCol="0" anchor="ctr"/>
          <a:lstStyle/>
          <a:p>
            <a:pPr algn="ctr" indent="0" marL="0">
              <a:buNone/>
            </a:pPr>
            <a:r>
              <a:rPr lang="en-US" sz="1600" b="1" dirty="0">
                <a:solidFill>
                  <a:schemeClr val="tx2"/>
                </a:solidFill>
              </a:rPr>
              <a:t>Linear classifier</a:t>
            </a:r>
            <a:endParaRPr lang="en-US" sz="1500" dirty="0"/>
          </a:p>
          <a:p>
            <a:pPr algn="ctr" indent="0" marL="0">
              <a:buNone/>
            </a:pPr>
            <a:r>
              <a:rPr lang="en-US" sz="1400" dirty="0">
                <a:solidFill>
                  <a:schemeClr val="tx1"/>
                </a:solidFill>
              </a:rPr>
              <a:t>trained on the training videos</a:t>
            </a:r>
            <a:endParaRPr lang="en-US" sz="1500" dirty="0"/>
          </a:p>
        </p:txBody>
      </p:sp>
      <p:sp>
        <p:nvSpPr>
          <p:cNvPr id="20" name="Number circle 210"/>
          <p:cNvSpPr/>
          <p:nvPr/>
        </p:nvSpPr>
        <p:spPr>
          <a:xfrm>
            <a:off x="8138160" y="1600200"/>
            <a:ext cx="457200" cy="457200"/>
          </a:xfrm>
          <a:prstGeom prst="ellipse">
            <a:avLst/>
          </a:prstGeom>
          <a:solidFill>
            <a:schemeClr val="accent1"/>
          </a:solidFill>
          <a:ln w="12700">
            <a:solidFill>
              <a:schemeClr val="accent1"/>
            </a:solidFill>
            <a:prstDash val="solid"/>
          </a:ln>
        </p:spPr>
      </p:sp>
      <p:sp>
        <p:nvSpPr>
          <p:cNvPr id="21" name="Text 211"/>
          <p:cNvSpPr txBox="1"/>
          <p:nvPr/>
        </p:nvSpPr>
        <p:spPr>
          <a:xfrm>
            <a:off x="8138160" y="160020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2" name="Arrow 212"/>
          <p:cNvSpPr/>
          <p:nvPr/>
        </p:nvSpPr>
        <p:spPr>
          <a:xfrm>
            <a:off x="9326880" y="2670048"/>
            <a:ext cx="365760" cy="0"/>
          </a:xfrm>
          <a:prstGeom prst="line">
            <a:avLst/>
          </a:prstGeom>
          <a:noFill/>
          <a:ln w="22225">
            <a:solidFill>
              <a:schemeClr val="accent4"/>
            </a:solidFill>
            <a:prstDash val="solid"/>
            <a:tailEnd type="triangle"/>
          </a:ln>
        </p:spPr>
      </p:sp>
      <p:sp>
        <p:nvSpPr>
          <p:cNvPr id="23" name="Card 213"/>
          <p:cNvSpPr/>
          <p:nvPr/>
        </p:nvSpPr>
        <p:spPr>
          <a:xfrm>
            <a:off x="9692640" y="1874520"/>
            <a:ext cx="1920240" cy="1600200"/>
          </a:xfrm>
          <a:prstGeom prst="roundRect">
            <a:avLst>
              <a:gd name="adj" fmla="val 6857"/>
            </a:avLst>
          </a:prstGeom>
          <a:solidFill>
            <a:schemeClr val="bg2"/>
          </a:solidFill>
          <a:ln w="12700">
            <a:solidFill>
              <a:schemeClr val="bg2"/>
            </a:solidFill>
            <a:prstDash val="solid"/>
          </a:ln>
        </p:spPr>
      </p:sp>
      <p:sp>
        <p:nvSpPr>
          <p:cNvPr id="24" name="Text 214"/>
          <p:cNvSpPr txBox="1"/>
          <p:nvPr/>
        </p:nvSpPr>
        <p:spPr>
          <a:xfrm>
            <a:off x="9829800" y="1965960"/>
            <a:ext cx="1645920" cy="1417320"/>
          </a:xfrm>
          <a:prstGeom prst="rect">
            <a:avLst/>
          </a:prstGeom>
          <a:noFill/>
          <a:ln/>
        </p:spPr>
        <p:txBody>
          <a:bodyPr wrap="square" lIns="0" tIns="0" rIns="0" bIns="0" rtlCol="0" anchor="ctr"/>
          <a:lstStyle/>
          <a:p>
            <a:pPr algn="ctr" indent="0" marL="0">
              <a:buNone/>
            </a:pPr>
            <a:r>
              <a:rPr lang="en-US" sz="1600" b="1" dirty="0">
                <a:solidFill>
                  <a:schemeClr val="tx2"/>
                </a:solidFill>
              </a:rPr>
              <a:t>Select, then report</a:t>
            </a:r>
            <a:endParaRPr lang="en-US" sz="1500" dirty="0"/>
          </a:p>
          <a:p>
            <a:pPr algn="ctr" indent="0" marL="0">
              <a:buNone/>
            </a:pPr>
            <a:r>
              <a:rPr lang="en-US" sz="1400" dirty="0">
                <a:solidFill>
                  <a:schemeClr val="tx1"/>
                </a:solidFill>
              </a:rPr>
              <a:t>settings chosen on validation, scored on test</a:t>
            </a:r>
            <a:endParaRPr lang="en-US" sz="1500" dirty="0"/>
          </a:p>
        </p:txBody>
      </p:sp>
      <p:sp>
        <p:nvSpPr>
          <p:cNvPr id="25" name="Number circle 215"/>
          <p:cNvSpPr/>
          <p:nvPr/>
        </p:nvSpPr>
        <p:spPr>
          <a:xfrm>
            <a:off x="10424160" y="1600200"/>
            <a:ext cx="457200" cy="457200"/>
          </a:xfrm>
          <a:prstGeom prst="ellipse">
            <a:avLst/>
          </a:prstGeom>
          <a:solidFill>
            <a:schemeClr val="accent1"/>
          </a:solidFill>
          <a:ln w="12700">
            <a:solidFill>
              <a:schemeClr val="accent1"/>
            </a:solidFill>
            <a:prstDash val="solid"/>
          </a:ln>
        </p:spPr>
      </p:sp>
      <p:sp>
        <p:nvSpPr>
          <p:cNvPr id="26" name="Text 216"/>
          <p:cNvSpPr txBox="1"/>
          <p:nvPr/>
        </p:nvSpPr>
        <p:spPr>
          <a:xfrm>
            <a:off x="10424160" y="160020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27" name="Text 217"/>
          <p:cNvSpPr txBox="1"/>
          <p:nvPr/>
        </p:nvSpPr>
        <p:spPr>
          <a:xfrm>
            <a:off x="548640" y="3931920"/>
            <a:ext cx="3383280" cy="777240"/>
          </a:xfrm>
          <a:prstGeom prst="rect">
            <a:avLst/>
          </a:prstGeom>
          <a:noFill/>
          <a:ln/>
        </p:spPr>
        <p:txBody>
          <a:bodyPr wrap="square" lIns="0" tIns="0" rIns="0" bIns="0" rtlCol="0" anchor="ctr"/>
          <a:lstStyle/>
          <a:p>
            <a:pPr indent="0" marL="0">
              <a:buNone/>
            </a:pPr>
            <a:r>
              <a:rPr lang="en-US" sz="4400" b="1" dirty="0">
                <a:solidFill>
                  <a:schemeClr val="accent1"/>
                </a:solidFill>
              </a:rPr>
              <a:t>31,448</a:t>
            </a:r>
            <a:endParaRPr lang="en-US" sz="4400" dirty="0"/>
          </a:p>
        </p:txBody>
      </p:sp>
      <p:sp>
        <p:nvSpPr>
          <p:cNvPr id="28" name="Text 218"/>
          <p:cNvSpPr txBox="1"/>
          <p:nvPr/>
        </p:nvSpPr>
        <p:spPr>
          <a:xfrm>
            <a:off x="548640" y="4754880"/>
            <a:ext cx="3383280" cy="640080"/>
          </a:xfrm>
          <a:prstGeom prst="rect">
            <a:avLst/>
          </a:prstGeom>
          <a:noFill/>
          <a:ln/>
        </p:spPr>
        <p:txBody>
          <a:bodyPr wrap="square" lIns="0" tIns="0" rIns="0" bIns="0" rtlCol="0" anchor="t"/>
          <a:lstStyle/>
          <a:p>
            <a:pPr indent="0" marL="0">
              <a:buNone/>
            </a:pPr>
            <a:r>
              <a:rPr lang="en-US" sz="1400" dirty="0">
                <a:solidFill>
                  <a:schemeClr val="accent4"/>
                </a:solidFill>
              </a:rPr>
              <a:t>training samples, each with its video's label</a:t>
            </a:r>
            <a:endParaRPr lang="en-US" sz="1400" dirty="0"/>
          </a:p>
        </p:txBody>
      </p:sp>
      <p:sp>
        <p:nvSpPr>
          <p:cNvPr id="29" name="Text 219"/>
          <p:cNvSpPr txBox="1"/>
          <p:nvPr/>
        </p:nvSpPr>
        <p:spPr>
          <a:xfrm>
            <a:off x="4389120" y="3931920"/>
            <a:ext cx="3383280" cy="777240"/>
          </a:xfrm>
          <a:prstGeom prst="rect">
            <a:avLst/>
          </a:prstGeom>
          <a:noFill/>
          <a:ln/>
        </p:spPr>
        <p:txBody>
          <a:bodyPr wrap="square" lIns="0" tIns="0" rIns="0" bIns="0" rtlCol="0" anchor="ctr"/>
          <a:lstStyle/>
          <a:p>
            <a:pPr indent="0" marL="0">
              <a:buNone/>
            </a:pPr>
            <a:r>
              <a:rPr lang="en-US" sz="4400" b="1" dirty="0">
                <a:solidFill>
                  <a:schemeClr val="accent1"/>
                </a:solidFill>
              </a:rPr>
              <a:t>2,870</a:t>
            </a:r>
            <a:endParaRPr lang="en-US" sz="4400" dirty="0"/>
          </a:p>
        </p:txBody>
      </p:sp>
      <p:sp>
        <p:nvSpPr>
          <p:cNvPr id="30" name="Text 220"/>
          <p:cNvSpPr txBox="1"/>
          <p:nvPr/>
        </p:nvSpPr>
        <p:spPr>
          <a:xfrm>
            <a:off x="4389120" y="4754880"/>
            <a:ext cx="3383280" cy="640080"/>
          </a:xfrm>
          <a:prstGeom prst="rect">
            <a:avLst/>
          </a:prstGeom>
          <a:noFill/>
          <a:ln/>
        </p:spPr>
        <p:txBody>
          <a:bodyPr wrap="square" lIns="0" tIns="0" rIns="0" bIns="0" rtlCol="0" anchor="t"/>
          <a:lstStyle/>
          <a:p>
            <a:pPr indent="0" marL="0">
              <a:buNone/>
            </a:pPr>
            <a:r>
              <a:rPr lang="en-US" sz="1400" dirty="0">
                <a:solidFill>
                  <a:schemeClr val="accent4"/>
                </a:solidFill>
              </a:rPr>
              <a:t>validation frames, each with its own label</a:t>
            </a:r>
            <a:endParaRPr lang="en-US" sz="1400" dirty="0"/>
          </a:p>
        </p:txBody>
      </p:sp>
      <p:sp>
        <p:nvSpPr>
          <p:cNvPr id="31" name="Text 221"/>
          <p:cNvSpPr txBox="1"/>
          <p:nvPr/>
        </p:nvSpPr>
        <p:spPr>
          <a:xfrm>
            <a:off x="8229600" y="3931920"/>
            <a:ext cx="3383280" cy="777240"/>
          </a:xfrm>
          <a:prstGeom prst="rect">
            <a:avLst/>
          </a:prstGeom>
          <a:noFill/>
          <a:ln/>
        </p:spPr>
        <p:txBody>
          <a:bodyPr wrap="square" lIns="0" tIns="0" rIns="0" bIns="0" rtlCol="0" anchor="ctr"/>
          <a:lstStyle/>
          <a:p>
            <a:pPr indent="0" marL="0">
              <a:buNone/>
            </a:pPr>
            <a:r>
              <a:rPr lang="en-US" sz="4400" b="1" dirty="0">
                <a:solidFill>
                  <a:schemeClr val="accent1"/>
                </a:solidFill>
              </a:rPr>
              <a:t>8,665</a:t>
            </a:r>
            <a:endParaRPr lang="en-US" sz="4400" dirty="0"/>
          </a:p>
        </p:txBody>
      </p:sp>
      <p:sp>
        <p:nvSpPr>
          <p:cNvPr id="32" name="Text 222"/>
          <p:cNvSpPr txBox="1"/>
          <p:nvPr/>
        </p:nvSpPr>
        <p:spPr>
          <a:xfrm>
            <a:off x="8229600" y="4754880"/>
            <a:ext cx="3383280" cy="640080"/>
          </a:xfrm>
          <a:prstGeom prst="rect">
            <a:avLst/>
          </a:prstGeom>
          <a:noFill/>
          <a:ln/>
        </p:spPr>
        <p:txBody>
          <a:bodyPr wrap="square" lIns="0" tIns="0" rIns="0" bIns="0" rtlCol="0" anchor="t"/>
          <a:lstStyle/>
          <a:p>
            <a:pPr indent="0" marL="0">
              <a:buNone/>
            </a:pPr>
            <a:r>
              <a:rPr lang="en-US" sz="1400" dirty="0">
                <a:solidFill>
                  <a:schemeClr val="accent4"/>
                </a:solidFill>
              </a:rPr>
              <a:t>test frames, each with its own label</a:t>
            </a:r>
            <a:endParaRPr lang="en-US" sz="1400" dirty="0"/>
          </a:p>
        </p:txBody>
      </p:sp>
      <p:sp>
        <p:nvSpPr>
          <p:cNvPr id="33" name="Text 223"/>
          <p:cNvSpPr txBox="1"/>
          <p:nvPr/>
        </p:nvSpPr>
        <p:spPr>
          <a:xfrm>
            <a:off x="548640" y="5669280"/>
            <a:ext cx="11091672" cy="457200"/>
          </a:xfrm>
          <a:prstGeom prst="rect">
            <a:avLst/>
          </a:prstGeom>
          <a:noFill/>
          <a:ln/>
        </p:spPr>
        <p:txBody>
          <a:bodyPr wrap="square" lIns="0" tIns="0" rIns="0" bIns="0" rtlCol="0" anchor="t"/>
          <a:lstStyle/>
          <a:p>
            <a:pPr indent="0" marL="0">
              <a:buNone/>
            </a:pPr>
            <a:r>
              <a:rPr lang="en-US" sz="1400" dirty="0">
                <a:solidFill>
                  <a:schemeClr val="accent4"/>
                </a:solidFill>
              </a:rPr>
              <a:t>The test set is never used to choose anything. Metrics: accuracy, balanced accuracy, F1 and AUROC.</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No pretrained model clearly beats an untrained encoder</a:t>
            </a:r>
            <a:endParaRPr lang="en-US" sz="3000" dirty="0"/>
          </a:p>
        </p:txBody>
      </p:sp>
      <p:graphicFrame>
        <p:nvGraphicFramePr>
          <p:cNvPr id="3" name="Classification chart" descr=""/>
          <p:cNvGraphicFramePr/>
          <p:nvPr/>
        </p:nvGraphicFramePr>
        <p:xfrm>
          <a:off x="548640" y="1417320"/>
          <a:ext cx="7406640" cy="4343400"/>
        </p:xfrm>
        <a:graphic xmlns:a="http://schemas.openxmlformats.org/drawingml/2006/main">
          <a:graphicData uri="http://schemas.openxmlformats.org/drawingml/2006/chart">
            <c:chart xmlns:c="http://schemas.openxmlformats.org/drawingml/2006/chart" r:id="rId1"/>
          </a:graphicData>
        </a:graphic>
      </p:graphicFrame>
      <p:sp>
        <p:nvSpPr>
          <p:cNvPr id="4" name="Text 224"/>
          <p:cNvSpPr txBox="1"/>
          <p:nvPr/>
        </p:nvSpPr>
        <p:spPr>
          <a:xfrm>
            <a:off x="548640" y="5806440"/>
            <a:ext cx="7406640" cy="365760"/>
          </a:xfrm>
          <a:prstGeom prst="rect">
            <a:avLst/>
          </a:prstGeom>
          <a:noFill/>
          <a:ln/>
        </p:spPr>
        <p:txBody>
          <a:bodyPr wrap="square" lIns="0" tIns="0" rIns="0" bIns="0" rtlCol="0" anchor="t"/>
          <a:lstStyle/>
          <a:p>
            <a:pPr indent="0" marL="0">
              <a:buNone/>
            </a:pPr>
            <a:r>
              <a:rPr lang="en-US" sz="1200" dirty="0">
                <a:solidFill>
                  <a:schemeClr val="accent4"/>
                </a:solidFill>
              </a:rPr>
              <a:t>Frame-level results on the test set (8,665 frames). Chance level is 0.50 for both metrics.</a:t>
            </a:r>
            <a:endParaRPr lang="en-US" sz="1200" dirty="0"/>
          </a:p>
        </p:txBody>
      </p:sp>
      <p:sp>
        <p:nvSpPr>
          <p:cNvPr id="5" name="Text 225"/>
          <p:cNvSpPr txBox="1"/>
          <p:nvPr/>
        </p:nvSpPr>
        <p:spPr>
          <a:xfrm>
            <a:off x="8229600" y="1554480"/>
            <a:ext cx="3410712" cy="4206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PPO at 300 epochs has the best balanced accuracy (0.60)</a:t>
            </a:r>
            <a:endParaRPr lang="en-US" sz="1500" dirty="0"/>
          </a:p>
          <a:p>
            <a:pPr marL="342900" indent="-342900">
              <a:spcAft>
                <a:spcPts val="800"/>
              </a:spcAft>
              <a:buSzPct val="100000"/>
              <a:buChar char="•"/>
            </a:pPr>
            <a:r>
              <a:rPr lang="en-US" sz="1500" dirty="0">
                <a:solidFill>
                  <a:schemeClr val="tx1"/>
                </a:solidFill>
              </a:rPr>
              <a:t>The untrained encoder has the best AUROC (0.69)</a:t>
            </a:r>
            <a:endParaRPr lang="en-US" sz="1500" dirty="0"/>
          </a:p>
          <a:p>
            <a:pPr marL="342900" indent="-342900">
              <a:spcAft>
                <a:spcPts val="800"/>
              </a:spcAft>
              <a:buSzPct val="100000"/>
              <a:buChar char="•"/>
            </a:pPr>
            <a:r>
              <a:rPr lang="en-US" sz="1500" dirty="0">
                <a:solidFill>
                  <a:schemeClr val="tx1"/>
                </a:solidFill>
              </a:rPr>
              <a:t>Plain V-JEPA and REINFORCE are close to chance</a:t>
            </a:r>
            <a:endParaRPr lang="en-US" sz="1500" dirty="0"/>
          </a:p>
          <a:p>
            <a:pPr marL="342900" indent="-342900">
              <a:spcAft>
                <a:spcPts val="800"/>
              </a:spcAft>
              <a:buSzPct val="100000"/>
              <a:buChar char="•"/>
            </a:pPr>
            <a:r>
              <a:rPr lang="en-US" sz="1500" dirty="0">
                <a:solidFill>
                  <a:schemeClr val="tx1"/>
                </a:solidFill>
              </a:rPr>
              <a:t>All differences are small next to the distance from a useful classifier</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Full results: validation and test for every model</a:t>
            </a:r>
            <a:endParaRPr lang="en-US" sz="3000" dirty="0"/>
          </a:p>
        </p:txBody>
      </p:sp>
      <p:graphicFrame>
        <p:nvGraphicFramePr>
          <p:cNvPr id="21" name="Results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862072"/>
                <a:gridCol w="1371600"/>
                <a:gridCol w="1371600"/>
                <a:gridCol w="1371600"/>
                <a:gridCol w="1371600"/>
                <a:gridCol w="1371600"/>
                <a:gridCol w="1371600"/>
              </a:tblGrid>
              <a:tr h="566928">
                <a:tc>
                  <a:txBody>
                    <a:bodyPr/>
                    <a:lstStyle/>
                    <a:p>
                      <a:pPr indent="0" marL="0">
                        <a:buNone/>
                      </a:pPr>
                      <a:r>
                        <a:rPr lang="en-US" sz="1500" b="1" dirty="0">
                          <a:solidFill>
                            <a:schemeClr val="bg1"/>
                          </a:solidFill>
                        </a:rPr>
                        <a:t>Model</a:t>
                      </a:r>
                      <a:endParaRPr lang="en-US" sz="15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Val balanced acc.</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Val AUROC</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Test accuracy</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Test balanced acc.</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Test F1</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Test AUROC</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2"/>
                          </a:solidFill>
                        </a:rPr>
                        <a:t>Untrained encoder</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0.710</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b="1" dirty="0">
                          <a:solidFill>
                            <a:schemeClr val="accent1"/>
                          </a:solidFill>
                        </a:rPr>
                        <a:t>0.834</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0.605</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0.560</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b="1" dirty="0">
                          <a:solidFill>
                            <a:schemeClr val="accent1"/>
                          </a:solidFill>
                        </a:rPr>
                        <a:t>0.729</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b="1" dirty="0">
                          <a:solidFill>
                            <a:schemeClr val="accent1"/>
                          </a:solidFill>
                        </a:rPr>
                        <a:t>0.694</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r>
              <a:tr h="566928">
                <a:tc>
                  <a:txBody>
                    <a:bodyPr/>
                    <a:lstStyle/>
                    <a:p>
                      <a:pPr indent="0" marL="0">
                        <a:buNone/>
                      </a:pPr>
                      <a:r>
                        <a:rPr lang="en-US" sz="1400" b="1" dirty="0">
                          <a:solidFill>
                            <a:schemeClr val="tx2"/>
                          </a:solidFill>
                        </a:rPr>
                        <a:t>Plain V-JEPA, 300 epochs</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0.634</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0.692</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0.525</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0.479</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0.675</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0.476</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r>
              <a:tr h="566928">
                <a:tc>
                  <a:txBody>
                    <a:bodyPr/>
                    <a:lstStyle/>
                    <a:p>
                      <a:pPr indent="0" marL="0">
                        <a:buNone/>
                      </a:pPr>
                      <a:r>
                        <a:rPr lang="en-US" sz="1400" b="1" dirty="0">
                          <a:solidFill>
                            <a:schemeClr val="tx2"/>
                          </a:solidFill>
                        </a:rPr>
                        <a:t>REINFORCE, 300 epochs</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0.586</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0.592</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0.484</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0.519</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0.315</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0.548</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r>
              <a:tr h="566928">
                <a:tc>
                  <a:txBody>
                    <a:bodyPr/>
                    <a:lstStyle/>
                    <a:p>
                      <a:pPr indent="0" marL="0">
                        <a:buNone/>
                      </a:pPr>
                      <a:r>
                        <a:rPr lang="en-US" sz="1400" b="1" dirty="0">
                          <a:solidFill>
                            <a:schemeClr val="tx2"/>
                          </a:solidFill>
                        </a:rPr>
                        <a:t>PPO, 300 epochs</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0.713</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0.808</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b="1" dirty="0">
                          <a:solidFill>
                            <a:schemeClr val="accent1"/>
                          </a:solidFill>
                        </a:rPr>
                        <a:t>0.617</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b="1" dirty="0">
                          <a:solidFill>
                            <a:schemeClr val="accent1"/>
                          </a:solidFill>
                        </a:rPr>
                        <a:t>0.601</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0.681</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0.647</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r>
              <a:tr h="566928">
                <a:tc>
                  <a:txBody>
                    <a:bodyPr/>
                    <a:lstStyle/>
                    <a:p>
                      <a:pPr indent="0" marL="0">
                        <a:buNone/>
                      </a:pPr>
                      <a:r>
                        <a:rPr lang="en-US" sz="1400" b="1" dirty="0">
                          <a:solidFill>
                            <a:schemeClr val="tx2"/>
                          </a:solidFill>
                        </a:rPr>
                        <a:t>PPO, 34 epochs</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0.720</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0.795</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0.586</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0.561</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0.680</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0.598</a:t>
                      </a:r>
                      <a:endParaRPr lang="en-US" sz="1400" dirty="0"/>
                    </a:p>
                  </a:txBody>
                  <a:tcPr marL="109728" marR="109728" marT="45720" marB="45720" anchor="ctr">
                    <a:lnL w="9525" cap="flat" cmpd="sng" algn="ctr">
                      <a:solidFill>
                        <a:srgbClr val="DDE5E7"/>
                      </a:solidFill>
                      <a:prstDash val="solid"/>
                      <a:round/>
                      <a:headEnd type="none" w="med" len="med"/>
                      <a:tailEnd type="none" w="med" len="med"/>
                    </a:lnL>
                    <a:lnR w="9525" cap="flat" cmpd="sng" algn="ctr">
                      <a:solidFill>
                        <a:srgbClr val="DDE5E7"/>
                      </a:solidFill>
                      <a:prstDash val="solid"/>
                      <a:round/>
                      <a:headEnd type="none" w="med" len="med"/>
                      <a:tailEnd type="none" w="med" len="med"/>
                    </a:lnR>
                    <a:lnT w="9525" cap="flat" cmpd="sng" algn="ctr">
                      <a:solidFill>
                        <a:srgbClr val="DDE5E7"/>
                      </a:solidFill>
                      <a:prstDash val="solid"/>
                      <a:round/>
                      <a:headEnd type="none" w="med" len="med"/>
                      <a:tailEnd type="none" w="med" len="med"/>
                    </a:lnT>
                    <a:lnB w="9525" cap="flat" cmpd="sng" algn="ctr">
                      <a:solidFill>
                        <a:srgbClr val="DDE5E7"/>
                      </a:solidFill>
                      <a:prstDash val="solid"/>
                      <a:round/>
                      <a:headEnd type="none" w="med" len="med"/>
                      <a:tailEnd type="none" w="med" len="med"/>
                    </a:lnB>
                  </a:tcPr>
                </a:tc>
              </a:tr>
            </a:tbl>
          </a:graphicData>
        </a:graphic>
      </p:graphicFrame>
      <p:sp>
        <p:nvSpPr>
          <p:cNvPr id="4" name="Text 226"/>
          <p:cNvSpPr txBox="1"/>
          <p:nvPr/>
        </p:nvSpPr>
        <p:spPr>
          <a:xfrm>
            <a:off x="548640" y="5120640"/>
            <a:ext cx="11091672" cy="640080"/>
          </a:xfrm>
          <a:prstGeom prst="rect">
            <a:avLst/>
          </a:prstGeom>
          <a:noFill/>
          <a:ln/>
        </p:spPr>
        <p:txBody>
          <a:bodyPr wrap="square" lIns="0" tIns="0" rIns="0" bIns="0" rtlCol="0" anchor="t"/>
          <a:lstStyle/>
          <a:p>
            <a:pPr indent="0" marL="0">
              <a:buNone/>
            </a:pPr>
            <a:r>
              <a:rPr lang="en-US" sz="1400" dirty="0">
                <a:solidFill>
                  <a:schemeClr val="accent4"/>
                </a:solidFill>
              </a:rPr>
              <a:t>Best value in each column is in teal. Always predicting the majority class gives 0.556 test accuracy. Classifier settings were chosen by validation balanced accuracy.</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Stopping at the lowest-loss epoch did not give better features</a:t>
            </a:r>
            <a:endParaRPr lang="en-US" sz="3000" dirty="0"/>
          </a:p>
        </p:txBody>
      </p:sp>
      <p:sp>
        <p:nvSpPr>
          <p:cNvPr id="3" name="Card 227"/>
          <p:cNvSpPr/>
          <p:nvPr/>
        </p:nvSpPr>
        <p:spPr>
          <a:xfrm>
            <a:off x="548640" y="1508760"/>
            <a:ext cx="4754880" cy="2011680"/>
          </a:xfrm>
          <a:prstGeom prst="roundRect">
            <a:avLst>
              <a:gd name="adj" fmla="val 5455"/>
            </a:avLst>
          </a:prstGeom>
          <a:solidFill>
            <a:schemeClr val="bg2"/>
          </a:solidFill>
          <a:ln w="12700">
            <a:solidFill>
              <a:schemeClr val="bg2"/>
            </a:solidFill>
            <a:prstDash val="solid"/>
          </a:ln>
        </p:spPr>
      </p:sp>
      <p:sp>
        <p:nvSpPr>
          <p:cNvPr id="4" name="Text 228"/>
          <p:cNvSpPr txBox="1"/>
          <p:nvPr/>
        </p:nvSpPr>
        <p:spPr>
          <a:xfrm>
            <a:off x="822960" y="1645920"/>
            <a:ext cx="4206240" cy="640080"/>
          </a:xfrm>
          <a:prstGeom prst="rect">
            <a:avLst/>
          </a:prstGeom>
          <a:noFill/>
          <a:ln/>
        </p:spPr>
        <p:txBody>
          <a:bodyPr wrap="square" lIns="0" tIns="0" rIns="0" bIns="0" rtlCol="0" anchor="ctr"/>
          <a:lstStyle/>
          <a:p>
            <a:pPr indent="0" marL="0">
              <a:buNone/>
            </a:pPr>
            <a:r>
              <a:rPr lang="en-US" sz="3200" b="1" dirty="0">
                <a:solidFill>
                  <a:schemeClr val="accent1"/>
                </a:solidFill>
              </a:rPr>
              <a:t>Epoch 34</a:t>
            </a:r>
            <a:endParaRPr lang="en-US" sz="3200" dirty="0"/>
          </a:p>
        </p:txBody>
      </p:sp>
      <p:sp>
        <p:nvSpPr>
          <p:cNvPr id="5" name="Text 229"/>
          <p:cNvSpPr txBox="1"/>
          <p:nvPr/>
        </p:nvSpPr>
        <p:spPr>
          <a:xfrm>
            <a:off x="822960" y="2331720"/>
            <a:ext cx="4206240" cy="1097280"/>
          </a:xfrm>
          <a:prstGeom prst="rect">
            <a:avLst/>
          </a:prstGeom>
          <a:noFill/>
          <a:ln/>
        </p:spPr>
        <p:txBody>
          <a:bodyPr wrap="square" lIns="0" tIns="0" rIns="0" bIns="0" rtlCol="0" anchor="t"/>
          <a:lstStyle/>
          <a:p>
            <a:pPr indent="0" marL="0">
              <a:buNone/>
            </a:pPr>
            <a:r>
              <a:rPr lang="en-US" sz="1400" dirty="0">
                <a:solidFill>
                  <a:schemeClr val="tx1"/>
                </a:solidFill>
              </a:rPr>
              <a:t>had the lowest loss (0.032) in the 300-epoch PPO run once the policy was active, so PPO was retrained to stop there.</a:t>
            </a:r>
            <a:endParaRPr lang="en-US" sz="1400" dirty="0"/>
          </a:p>
        </p:txBody>
      </p:sp>
      <p:sp>
        <p:nvSpPr>
          <p:cNvPr id="6" name="Card 230"/>
          <p:cNvSpPr/>
          <p:nvPr/>
        </p:nvSpPr>
        <p:spPr>
          <a:xfrm>
            <a:off x="548640" y="3703320"/>
            <a:ext cx="4754880" cy="2011680"/>
          </a:xfrm>
          <a:prstGeom prst="roundRect">
            <a:avLst>
              <a:gd name="adj" fmla="val 5455"/>
            </a:avLst>
          </a:prstGeom>
          <a:solidFill>
            <a:schemeClr val="bg2"/>
          </a:solidFill>
          <a:ln w="12700">
            <a:solidFill>
              <a:schemeClr val="bg2"/>
            </a:solidFill>
            <a:prstDash val="solid"/>
          </a:ln>
        </p:spPr>
      </p:sp>
      <p:sp>
        <p:nvSpPr>
          <p:cNvPr id="7" name="Text 231"/>
          <p:cNvSpPr txBox="1"/>
          <p:nvPr/>
        </p:nvSpPr>
        <p:spPr>
          <a:xfrm>
            <a:off x="822960" y="3840480"/>
            <a:ext cx="4206240" cy="640080"/>
          </a:xfrm>
          <a:prstGeom prst="rect">
            <a:avLst/>
          </a:prstGeom>
          <a:noFill/>
          <a:ln/>
        </p:spPr>
        <p:txBody>
          <a:bodyPr wrap="square" lIns="0" tIns="0" rIns="0" bIns="0" rtlCol="0" anchor="ctr"/>
          <a:lstStyle/>
          <a:p>
            <a:pPr indent="0" marL="0">
              <a:buNone/>
            </a:pPr>
            <a:r>
              <a:rPr lang="en-US" sz="3200" b="1" dirty="0">
                <a:solidFill>
                  <a:schemeClr val="accent2"/>
                </a:solidFill>
              </a:rPr>
              <a:t>Epoch 9</a:t>
            </a:r>
            <a:endParaRPr lang="en-US" sz="3200" dirty="0"/>
          </a:p>
        </p:txBody>
      </p:sp>
      <p:sp>
        <p:nvSpPr>
          <p:cNvPr id="8" name="Text 232"/>
          <p:cNvSpPr txBox="1"/>
          <p:nvPr/>
        </p:nvSpPr>
        <p:spPr>
          <a:xfrm>
            <a:off x="822960" y="4526280"/>
            <a:ext cx="4206240" cy="1097280"/>
          </a:xfrm>
          <a:prstGeom prst="rect">
            <a:avLst/>
          </a:prstGeom>
          <a:noFill/>
          <a:ln/>
        </p:spPr>
        <p:txBody>
          <a:bodyPr wrap="square" lIns="0" tIns="0" rIns="0" bIns="0" rtlCol="0" anchor="t"/>
          <a:lstStyle/>
          <a:p>
            <a:pPr indent="0" marL="0">
              <a:buNone/>
            </a:pPr>
            <a:r>
              <a:rPr lang="en-US" sz="1400" dirty="0">
                <a:solidFill>
                  <a:schemeClr val="tx1"/>
                </a:solidFill>
              </a:rPr>
              <a:t>had the lowest loss (0.027) in that rerun, and epoch 34 reached 0.042. The minimum moves from run to run.</a:t>
            </a:r>
            <a:endParaRPr lang="en-US" sz="1400" dirty="0"/>
          </a:p>
        </p:txBody>
      </p:sp>
      <p:graphicFrame>
        <p:nvGraphicFramePr>
          <p:cNvPr id="9" name="Epoch comparison chart" descr=""/>
          <p:cNvGraphicFramePr/>
          <p:nvPr/>
        </p:nvGraphicFramePr>
        <p:xfrm>
          <a:off x="5577840" y="1417320"/>
          <a:ext cx="6062472" cy="3657600"/>
        </p:xfrm>
        <a:graphic xmlns:a="http://schemas.openxmlformats.org/drawingml/2006/main">
          <a:graphicData uri="http://schemas.openxmlformats.org/drawingml/2006/chart">
            <c:chart xmlns:c="http://schemas.openxmlformats.org/drawingml/2006/chart" r:id="rId1"/>
          </a:graphicData>
        </a:graphic>
      </p:graphicFrame>
      <p:sp>
        <p:nvSpPr>
          <p:cNvPr id="10" name="Text 233"/>
          <p:cNvSpPr txBox="1"/>
          <p:nvPr/>
        </p:nvSpPr>
        <p:spPr>
          <a:xfrm>
            <a:off x="5577840" y="5166360"/>
            <a:ext cx="6062472" cy="731520"/>
          </a:xfrm>
          <a:prstGeom prst="rect">
            <a:avLst/>
          </a:prstGeom>
          <a:noFill/>
          <a:ln/>
        </p:spPr>
        <p:txBody>
          <a:bodyPr wrap="square" lIns="0" tIns="0" rIns="0" bIns="0" rtlCol="0" anchor="t"/>
          <a:lstStyle/>
          <a:p>
            <a:pPr indent="0" marL="0">
              <a:buNone/>
            </a:pPr>
            <a:r>
              <a:rPr lang="en-US" sz="1500" b="1" dirty="0">
                <a:solidFill>
                  <a:schemeClr val="tx2"/>
                </a:solidFill>
              </a:rPr>
              <a:t>The 34-epoch model is slightly worse on test. Pretraining loss is not a reliable way to choose a checkpoint here.</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Training and test ask the classifier different questions</a:t>
            </a:r>
            <a:endParaRPr lang="en-US" sz="3000" dirty="0"/>
          </a:p>
        </p:txBody>
      </p:sp>
      <p:sp>
        <p:nvSpPr>
          <p:cNvPr id="3" name="Card 234"/>
          <p:cNvSpPr/>
          <p:nvPr/>
        </p:nvSpPr>
        <p:spPr>
          <a:xfrm>
            <a:off x="548640" y="1508760"/>
            <a:ext cx="5394960" cy="3291840"/>
          </a:xfrm>
          <a:prstGeom prst="roundRect">
            <a:avLst>
              <a:gd name="adj" fmla="val 3333"/>
            </a:avLst>
          </a:prstGeom>
          <a:solidFill>
            <a:schemeClr val="bg2"/>
          </a:solidFill>
          <a:ln w="12700">
            <a:solidFill>
              <a:schemeClr val="bg2"/>
            </a:solidFill>
            <a:prstDash val="solid"/>
          </a:ln>
        </p:spPr>
      </p:sp>
      <p:sp>
        <p:nvSpPr>
          <p:cNvPr id="4" name="Text 235"/>
          <p:cNvSpPr txBox="1"/>
          <p:nvPr/>
        </p:nvSpPr>
        <p:spPr>
          <a:xfrm>
            <a:off x="822960" y="1645920"/>
            <a:ext cx="4846320" cy="411480"/>
          </a:xfrm>
          <a:prstGeom prst="rect">
            <a:avLst/>
          </a:prstGeom>
          <a:noFill/>
          <a:ln/>
        </p:spPr>
        <p:txBody>
          <a:bodyPr wrap="square" lIns="0" tIns="0" rIns="0" bIns="0" rtlCol="0" anchor="t"/>
          <a:lstStyle/>
          <a:p>
            <a:pPr indent="0" marL="0">
              <a:buNone/>
            </a:pPr>
            <a:r>
              <a:rPr lang="en-US" sz="2000" b="1" dirty="0">
                <a:solidFill>
                  <a:schemeClr val="tx2"/>
                </a:solidFill>
              </a:rPr>
              <a:t>Training</a:t>
            </a:r>
            <a:endParaRPr lang="en-US" sz="2000" dirty="0"/>
          </a:p>
        </p:txBody>
      </p:sp>
      <p:sp>
        <p:nvSpPr>
          <p:cNvPr id="5" name="Text 236"/>
          <p:cNvSpPr txBox="1"/>
          <p:nvPr/>
        </p:nvSpPr>
        <p:spPr>
          <a:xfrm>
            <a:off x="822960" y="2240280"/>
            <a:ext cx="914400" cy="457200"/>
          </a:xfrm>
          <a:prstGeom prst="rect">
            <a:avLst/>
          </a:prstGeom>
          <a:noFill/>
          <a:ln/>
        </p:spPr>
        <p:txBody>
          <a:bodyPr wrap="square" lIns="0" tIns="0" rIns="0" bIns="0" rtlCol="0" anchor="ctr"/>
          <a:lstStyle/>
          <a:p>
            <a:pPr indent="0" marL="0">
              <a:buNone/>
            </a:pPr>
            <a:r>
              <a:rPr lang="en-US" sz="1400" dirty="0">
                <a:solidFill>
                  <a:schemeClr val="tx1"/>
                </a:solidFill>
              </a:rPr>
              <a:t>Video A</a:t>
            </a:r>
            <a:endParaRPr lang="en-US" sz="1400" dirty="0"/>
          </a:p>
        </p:txBody>
      </p:sp>
      <p:sp>
        <p:nvSpPr>
          <p:cNvPr id="6" name="Frame 237"/>
          <p:cNvSpPr/>
          <p:nvPr/>
        </p:nvSpPr>
        <p:spPr>
          <a:xfrm>
            <a:off x="1783080" y="2240280"/>
            <a:ext cx="310896" cy="457200"/>
          </a:xfrm>
          <a:prstGeom prst="roundRect">
            <a:avLst>
              <a:gd name="adj" fmla="val 11765"/>
            </a:avLst>
          </a:prstGeom>
          <a:solidFill>
            <a:schemeClr val="accent1"/>
          </a:solidFill>
          <a:ln w="12700">
            <a:solidFill>
              <a:schemeClr val="accent1"/>
            </a:solidFill>
            <a:prstDash val="solid"/>
          </a:ln>
        </p:spPr>
      </p:sp>
      <p:sp>
        <p:nvSpPr>
          <p:cNvPr id="7" name="Frame 238"/>
          <p:cNvSpPr/>
          <p:nvPr/>
        </p:nvSpPr>
        <p:spPr>
          <a:xfrm>
            <a:off x="2148840" y="2240280"/>
            <a:ext cx="310896" cy="457200"/>
          </a:xfrm>
          <a:prstGeom prst="roundRect">
            <a:avLst>
              <a:gd name="adj" fmla="val 11765"/>
            </a:avLst>
          </a:prstGeom>
          <a:solidFill>
            <a:schemeClr val="accent1"/>
          </a:solidFill>
          <a:ln w="12700">
            <a:solidFill>
              <a:schemeClr val="accent1"/>
            </a:solidFill>
            <a:prstDash val="solid"/>
          </a:ln>
        </p:spPr>
      </p:sp>
      <p:sp>
        <p:nvSpPr>
          <p:cNvPr id="8" name="Frame 239"/>
          <p:cNvSpPr/>
          <p:nvPr/>
        </p:nvSpPr>
        <p:spPr>
          <a:xfrm>
            <a:off x="2514600" y="2240280"/>
            <a:ext cx="310896" cy="457200"/>
          </a:xfrm>
          <a:prstGeom prst="roundRect">
            <a:avLst>
              <a:gd name="adj" fmla="val 11765"/>
            </a:avLst>
          </a:prstGeom>
          <a:solidFill>
            <a:schemeClr val="accent1"/>
          </a:solidFill>
          <a:ln w="12700">
            <a:solidFill>
              <a:schemeClr val="accent1"/>
            </a:solidFill>
            <a:prstDash val="solid"/>
          </a:ln>
        </p:spPr>
      </p:sp>
      <p:sp>
        <p:nvSpPr>
          <p:cNvPr id="9" name="Frame 240"/>
          <p:cNvSpPr/>
          <p:nvPr/>
        </p:nvSpPr>
        <p:spPr>
          <a:xfrm>
            <a:off x="2880360" y="2240280"/>
            <a:ext cx="310896" cy="457200"/>
          </a:xfrm>
          <a:prstGeom prst="roundRect">
            <a:avLst>
              <a:gd name="adj" fmla="val 11765"/>
            </a:avLst>
          </a:prstGeom>
          <a:solidFill>
            <a:schemeClr val="accent1"/>
          </a:solidFill>
          <a:ln w="12700">
            <a:solidFill>
              <a:schemeClr val="accent1"/>
            </a:solidFill>
            <a:prstDash val="solid"/>
          </a:ln>
        </p:spPr>
      </p:sp>
      <p:sp>
        <p:nvSpPr>
          <p:cNvPr id="10" name="Frame 241"/>
          <p:cNvSpPr/>
          <p:nvPr/>
        </p:nvSpPr>
        <p:spPr>
          <a:xfrm>
            <a:off x="3246120" y="2240280"/>
            <a:ext cx="310896" cy="457200"/>
          </a:xfrm>
          <a:prstGeom prst="roundRect">
            <a:avLst>
              <a:gd name="adj" fmla="val 11765"/>
            </a:avLst>
          </a:prstGeom>
          <a:solidFill>
            <a:schemeClr val="accent1"/>
          </a:solidFill>
          <a:ln w="12700">
            <a:solidFill>
              <a:schemeClr val="accent1"/>
            </a:solidFill>
            <a:prstDash val="solid"/>
          </a:ln>
        </p:spPr>
      </p:sp>
      <p:sp>
        <p:nvSpPr>
          <p:cNvPr id="11" name="Frame 242"/>
          <p:cNvSpPr/>
          <p:nvPr/>
        </p:nvSpPr>
        <p:spPr>
          <a:xfrm>
            <a:off x="3611880" y="2240280"/>
            <a:ext cx="310896" cy="457200"/>
          </a:xfrm>
          <a:prstGeom prst="roundRect">
            <a:avLst>
              <a:gd name="adj" fmla="val 11765"/>
            </a:avLst>
          </a:prstGeom>
          <a:solidFill>
            <a:schemeClr val="accent1"/>
          </a:solidFill>
          <a:ln w="12700">
            <a:solidFill>
              <a:schemeClr val="accent1"/>
            </a:solidFill>
            <a:prstDash val="solid"/>
          </a:ln>
        </p:spPr>
      </p:sp>
      <p:sp>
        <p:nvSpPr>
          <p:cNvPr id="12" name="Frame 243"/>
          <p:cNvSpPr/>
          <p:nvPr/>
        </p:nvSpPr>
        <p:spPr>
          <a:xfrm>
            <a:off x="3977640" y="2240280"/>
            <a:ext cx="310896" cy="457200"/>
          </a:xfrm>
          <a:prstGeom prst="roundRect">
            <a:avLst>
              <a:gd name="adj" fmla="val 11765"/>
            </a:avLst>
          </a:prstGeom>
          <a:solidFill>
            <a:schemeClr val="accent1"/>
          </a:solidFill>
          <a:ln w="12700">
            <a:solidFill>
              <a:schemeClr val="accent1"/>
            </a:solidFill>
            <a:prstDash val="solid"/>
          </a:ln>
        </p:spPr>
      </p:sp>
      <p:sp>
        <p:nvSpPr>
          <p:cNvPr id="13" name="Frame 244"/>
          <p:cNvSpPr/>
          <p:nvPr/>
        </p:nvSpPr>
        <p:spPr>
          <a:xfrm>
            <a:off x="4343400" y="2240280"/>
            <a:ext cx="310896" cy="457200"/>
          </a:xfrm>
          <a:prstGeom prst="roundRect">
            <a:avLst>
              <a:gd name="adj" fmla="val 11765"/>
            </a:avLst>
          </a:prstGeom>
          <a:solidFill>
            <a:schemeClr val="accent1"/>
          </a:solidFill>
          <a:ln w="12700">
            <a:solidFill>
              <a:schemeClr val="accent1"/>
            </a:solidFill>
            <a:prstDash val="solid"/>
          </a:ln>
        </p:spPr>
      </p:sp>
      <p:sp>
        <p:nvSpPr>
          <p:cNvPr id="14" name="Frame 245"/>
          <p:cNvSpPr/>
          <p:nvPr/>
        </p:nvSpPr>
        <p:spPr>
          <a:xfrm>
            <a:off x="4709160" y="2240280"/>
            <a:ext cx="310896" cy="457200"/>
          </a:xfrm>
          <a:prstGeom prst="roundRect">
            <a:avLst>
              <a:gd name="adj" fmla="val 11765"/>
            </a:avLst>
          </a:prstGeom>
          <a:solidFill>
            <a:schemeClr val="accent1"/>
          </a:solidFill>
          <a:ln w="12700">
            <a:solidFill>
              <a:schemeClr val="accent1"/>
            </a:solidFill>
            <a:prstDash val="solid"/>
          </a:ln>
        </p:spPr>
      </p:sp>
      <p:sp>
        <p:nvSpPr>
          <p:cNvPr id="15" name="Frame 246"/>
          <p:cNvSpPr/>
          <p:nvPr/>
        </p:nvSpPr>
        <p:spPr>
          <a:xfrm>
            <a:off x="5074920" y="2240280"/>
            <a:ext cx="310896" cy="457200"/>
          </a:xfrm>
          <a:prstGeom prst="roundRect">
            <a:avLst>
              <a:gd name="adj" fmla="val 11765"/>
            </a:avLst>
          </a:prstGeom>
          <a:solidFill>
            <a:schemeClr val="accent1"/>
          </a:solidFill>
          <a:ln w="12700">
            <a:solidFill>
              <a:schemeClr val="accent1"/>
            </a:solidFill>
            <a:prstDash val="solid"/>
          </a:ln>
        </p:spPr>
      </p:sp>
      <p:sp>
        <p:nvSpPr>
          <p:cNvPr id="16" name="Frame 247"/>
          <p:cNvSpPr/>
          <p:nvPr/>
        </p:nvSpPr>
        <p:spPr>
          <a:xfrm>
            <a:off x="5440680" y="2240280"/>
            <a:ext cx="310896" cy="457200"/>
          </a:xfrm>
          <a:prstGeom prst="roundRect">
            <a:avLst>
              <a:gd name="adj" fmla="val 11765"/>
            </a:avLst>
          </a:prstGeom>
          <a:solidFill>
            <a:schemeClr val="accent1"/>
          </a:solidFill>
          <a:ln w="12700">
            <a:solidFill>
              <a:schemeClr val="accent1"/>
            </a:solidFill>
            <a:prstDash val="solid"/>
          </a:ln>
        </p:spPr>
      </p:sp>
      <p:sp>
        <p:nvSpPr>
          <p:cNvPr id="17" name="Text 248"/>
          <p:cNvSpPr txBox="1"/>
          <p:nvPr/>
        </p:nvSpPr>
        <p:spPr>
          <a:xfrm>
            <a:off x="822960" y="2880360"/>
            <a:ext cx="914400" cy="457200"/>
          </a:xfrm>
          <a:prstGeom prst="rect">
            <a:avLst/>
          </a:prstGeom>
          <a:noFill/>
          <a:ln/>
        </p:spPr>
        <p:txBody>
          <a:bodyPr wrap="square" lIns="0" tIns="0" rIns="0" bIns="0" rtlCol="0" anchor="ctr"/>
          <a:lstStyle/>
          <a:p>
            <a:pPr indent="0" marL="0">
              <a:buNone/>
            </a:pPr>
            <a:r>
              <a:rPr lang="en-US" sz="1400" dirty="0">
                <a:solidFill>
                  <a:schemeClr val="tx1"/>
                </a:solidFill>
              </a:rPr>
              <a:t>Video B</a:t>
            </a:r>
            <a:endParaRPr lang="en-US" sz="1400" dirty="0"/>
          </a:p>
        </p:txBody>
      </p:sp>
      <p:sp>
        <p:nvSpPr>
          <p:cNvPr id="18" name="Frame 249"/>
          <p:cNvSpPr/>
          <p:nvPr/>
        </p:nvSpPr>
        <p:spPr>
          <a:xfrm>
            <a:off x="1783080" y="2880360"/>
            <a:ext cx="310896" cy="457200"/>
          </a:xfrm>
          <a:prstGeom prst="roundRect">
            <a:avLst>
              <a:gd name="adj" fmla="val 11765"/>
            </a:avLst>
          </a:prstGeom>
          <a:solidFill>
            <a:schemeClr val="accent5"/>
          </a:solidFill>
          <a:ln w="12700">
            <a:solidFill>
              <a:schemeClr val="accent5"/>
            </a:solidFill>
            <a:prstDash val="solid"/>
          </a:ln>
        </p:spPr>
      </p:sp>
      <p:sp>
        <p:nvSpPr>
          <p:cNvPr id="19" name="Frame 250"/>
          <p:cNvSpPr/>
          <p:nvPr/>
        </p:nvSpPr>
        <p:spPr>
          <a:xfrm>
            <a:off x="2148840" y="2880360"/>
            <a:ext cx="310896" cy="457200"/>
          </a:xfrm>
          <a:prstGeom prst="roundRect">
            <a:avLst>
              <a:gd name="adj" fmla="val 11765"/>
            </a:avLst>
          </a:prstGeom>
          <a:solidFill>
            <a:schemeClr val="accent5"/>
          </a:solidFill>
          <a:ln w="12700">
            <a:solidFill>
              <a:schemeClr val="accent5"/>
            </a:solidFill>
            <a:prstDash val="solid"/>
          </a:ln>
        </p:spPr>
      </p:sp>
      <p:sp>
        <p:nvSpPr>
          <p:cNvPr id="20" name="Frame 251"/>
          <p:cNvSpPr/>
          <p:nvPr/>
        </p:nvSpPr>
        <p:spPr>
          <a:xfrm>
            <a:off x="2514600" y="2880360"/>
            <a:ext cx="310896" cy="457200"/>
          </a:xfrm>
          <a:prstGeom prst="roundRect">
            <a:avLst>
              <a:gd name="adj" fmla="val 11765"/>
            </a:avLst>
          </a:prstGeom>
          <a:solidFill>
            <a:schemeClr val="accent5"/>
          </a:solidFill>
          <a:ln w="12700">
            <a:solidFill>
              <a:schemeClr val="accent5"/>
            </a:solidFill>
            <a:prstDash val="solid"/>
          </a:ln>
        </p:spPr>
      </p:sp>
      <p:sp>
        <p:nvSpPr>
          <p:cNvPr id="21" name="Frame 252"/>
          <p:cNvSpPr/>
          <p:nvPr/>
        </p:nvSpPr>
        <p:spPr>
          <a:xfrm>
            <a:off x="2880360" y="2880360"/>
            <a:ext cx="310896" cy="457200"/>
          </a:xfrm>
          <a:prstGeom prst="roundRect">
            <a:avLst>
              <a:gd name="adj" fmla="val 11765"/>
            </a:avLst>
          </a:prstGeom>
          <a:solidFill>
            <a:schemeClr val="accent5"/>
          </a:solidFill>
          <a:ln w="12700">
            <a:solidFill>
              <a:schemeClr val="accent5"/>
            </a:solidFill>
            <a:prstDash val="solid"/>
          </a:ln>
        </p:spPr>
      </p:sp>
      <p:sp>
        <p:nvSpPr>
          <p:cNvPr id="22" name="Frame 253"/>
          <p:cNvSpPr/>
          <p:nvPr/>
        </p:nvSpPr>
        <p:spPr>
          <a:xfrm>
            <a:off x="3246120" y="2880360"/>
            <a:ext cx="310896" cy="457200"/>
          </a:xfrm>
          <a:prstGeom prst="roundRect">
            <a:avLst>
              <a:gd name="adj" fmla="val 11765"/>
            </a:avLst>
          </a:prstGeom>
          <a:solidFill>
            <a:schemeClr val="accent5"/>
          </a:solidFill>
          <a:ln w="12700">
            <a:solidFill>
              <a:schemeClr val="accent5"/>
            </a:solidFill>
            <a:prstDash val="solid"/>
          </a:ln>
        </p:spPr>
      </p:sp>
      <p:sp>
        <p:nvSpPr>
          <p:cNvPr id="23" name="Frame 254"/>
          <p:cNvSpPr/>
          <p:nvPr/>
        </p:nvSpPr>
        <p:spPr>
          <a:xfrm>
            <a:off x="3611880" y="2880360"/>
            <a:ext cx="310896" cy="457200"/>
          </a:xfrm>
          <a:prstGeom prst="roundRect">
            <a:avLst>
              <a:gd name="adj" fmla="val 11765"/>
            </a:avLst>
          </a:prstGeom>
          <a:solidFill>
            <a:schemeClr val="accent5"/>
          </a:solidFill>
          <a:ln w="12700">
            <a:solidFill>
              <a:schemeClr val="accent5"/>
            </a:solidFill>
            <a:prstDash val="solid"/>
          </a:ln>
        </p:spPr>
      </p:sp>
      <p:sp>
        <p:nvSpPr>
          <p:cNvPr id="24" name="Frame 255"/>
          <p:cNvSpPr/>
          <p:nvPr/>
        </p:nvSpPr>
        <p:spPr>
          <a:xfrm>
            <a:off x="3977640" y="2880360"/>
            <a:ext cx="310896" cy="457200"/>
          </a:xfrm>
          <a:prstGeom prst="roundRect">
            <a:avLst>
              <a:gd name="adj" fmla="val 11765"/>
            </a:avLst>
          </a:prstGeom>
          <a:solidFill>
            <a:schemeClr val="accent5"/>
          </a:solidFill>
          <a:ln w="12700">
            <a:solidFill>
              <a:schemeClr val="accent5"/>
            </a:solidFill>
            <a:prstDash val="solid"/>
          </a:ln>
        </p:spPr>
      </p:sp>
      <p:sp>
        <p:nvSpPr>
          <p:cNvPr id="25" name="Frame 256"/>
          <p:cNvSpPr/>
          <p:nvPr/>
        </p:nvSpPr>
        <p:spPr>
          <a:xfrm>
            <a:off x="4343400" y="2880360"/>
            <a:ext cx="310896" cy="457200"/>
          </a:xfrm>
          <a:prstGeom prst="roundRect">
            <a:avLst>
              <a:gd name="adj" fmla="val 11765"/>
            </a:avLst>
          </a:prstGeom>
          <a:solidFill>
            <a:schemeClr val="accent5"/>
          </a:solidFill>
          <a:ln w="12700">
            <a:solidFill>
              <a:schemeClr val="accent5"/>
            </a:solidFill>
            <a:prstDash val="solid"/>
          </a:ln>
        </p:spPr>
      </p:sp>
      <p:sp>
        <p:nvSpPr>
          <p:cNvPr id="26" name="Frame 257"/>
          <p:cNvSpPr/>
          <p:nvPr/>
        </p:nvSpPr>
        <p:spPr>
          <a:xfrm>
            <a:off x="4709160" y="2880360"/>
            <a:ext cx="310896" cy="457200"/>
          </a:xfrm>
          <a:prstGeom prst="roundRect">
            <a:avLst>
              <a:gd name="adj" fmla="val 11765"/>
            </a:avLst>
          </a:prstGeom>
          <a:solidFill>
            <a:schemeClr val="accent5"/>
          </a:solidFill>
          <a:ln w="12700">
            <a:solidFill>
              <a:schemeClr val="accent5"/>
            </a:solidFill>
            <a:prstDash val="solid"/>
          </a:ln>
        </p:spPr>
      </p:sp>
      <p:sp>
        <p:nvSpPr>
          <p:cNvPr id="27" name="Frame 258"/>
          <p:cNvSpPr/>
          <p:nvPr/>
        </p:nvSpPr>
        <p:spPr>
          <a:xfrm>
            <a:off x="5074920" y="2880360"/>
            <a:ext cx="310896" cy="457200"/>
          </a:xfrm>
          <a:prstGeom prst="roundRect">
            <a:avLst>
              <a:gd name="adj" fmla="val 11765"/>
            </a:avLst>
          </a:prstGeom>
          <a:solidFill>
            <a:schemeClr val="accent5"/>
          </a:solidFill>
          <a:ln w="12700">
            <a:solidFill>
              <a:schemeClr val="accent5"/>
            </a:solidFill>
            <a:prstDash val="solid"/>
          </a:ln>
        </p:spPr>
      </p:sp>
      <p:sp>
        <p:nvSpPr>
          <p:cNvPr id="28" name="Frame 259"/>
          <p:cNvSpPr/>
          <p:nvPr/>
        </p:nvSpPr>
        <p:spPr>
          <a:xfrm>
            <a:off x="5440680" y="2880360"/>
            <a:ext cx="310896" cy="457200"/>
          </a:xfrm>
          <a:prstGeom prst="roundRect">
            <a:avLst>
              <a:gd name="adj" fmla="val 11765"/>
            </a:avLst>
          </a:prstGeom>
          <a:solidFill>
            <a:schemeClr val="accent5"/>
          </a:solidFill>
          <a:ln w="12700">
            <a:solidFill>
              <a:schemeClr val="accent5"/>
            </a:solidFill>
            <a:prstDash val="solid"/>
          </a:ln>
        </p:spPr>
      </p:sp>
      <p:sp>
        <p:nvSpPr>
          <p:cNvPr id="29" name="Text 260"/>
          <p:cNvSpPr txBox="1"/>
          <p:nvPr/>
        </p:nvSpPr>
        <p:spPr>
          <a:xfrm>
            <a:off x="822960" y="3520440"/>
            <a:ext cx="4846320" cy="1188720"/>
          </a:xfrm>
          <a:prstGeom prst="rect">
            <a:avLst/>
          </a:prstGeom>
          <a:noFill/>
          <a:ln/>
        </p:spPr>
        <p:txBody>
          <a:bodyPr wrap="square" lIns="0" tIns="0" rIns="0" bIns="0" rtlCol="0" anchor="t"/>
          <a:lstStyle/>
          <a:p>
            <a:pPr indent="0" marL="0">
              <a:buNone/>
            </a:pPr>
            <a:r>
              <a:rPr lang="en-US" sz="1500" dirty="0">
                <a:solidFill>
                  <a:schemeClr val="tx1"/>
                </a:solidFill>
              </a:rPr>
              <a:t>SP and NSP frames come from different videos. A classifier can separate them by how a recording looks, without learning what a standard plane is.</a:t>
            </a:r>
            <a:endParaRPr lang="en-US" sz="1500" dirty="0"/>
          </a:p>
        </p:txBody>
      </p:sp>
      <p:sp>
        <p:nvSpPr>
          <p:cNvPr id="30" name="Card 261"/>
          <p:cNvSpPr/>
          <p:nvPr/>
        </p:nvSpPr>
        <p:spPr>
          <a:xfrm>
            <a:off x="6245352" y="1508760"/>
            <a:ext cx="5394960" cy="3291840"/>
          </a:xfrm>
          <a:prstGeom prst="roundRect">
            <a:avLst>
              <a:gd name="adj" fmla="val 3333"/>
            </a:avLst>
          </a:prstGeom>
          <a:solidFill>
            <a:schemeClr val="bg2"/>
          </a:solidFill>
          <a:ln w="12700">
            <a:solidFill>
              <a:schemeClr val="bg2"/>
            </a:solidFill>
            <a:prstDash val="solid"/>
          </a:ln>
        </p:spPr>
      </p:sp>
      <p:sp>
        <p:nvSpPr>
          <p:cNvPr id="31" name="Text 262"/>
          <p:cNvSpPr txBox="1"/>
          <p:nvPr/>
        </p:nvSpPr>
        <p:spPr>
          <a:xfrm>
            <a:off x="6519672" y="1645920"/>
            <a:ext cx="4846320" cy="411480"/>
          </a:xfrm>
          <a:prstGeom prst="rect">
            <a:avLst/>
          </a:prstGeom>
          <a:noFill/>
          <a:ln/>
        </p:spPr>
        <p:txBody>
          <a:bodyPr wrap="square" lIns="0" tIns="0" rIns="0" bIns="0" rtlCol="0" anchor="t"/>
          <a:lstStyle/>
          <a:p>
            <a:pPr indent="0" marL="0">
              <a:buNone/>
            </a:pPr>
            <a:r>
              <a:rPr lang="en-US" sz="2000" b="1" dirty="0">
                <a:solidFill>
                  <a:schemeClr val="tx2"/>
                </a:solidFill>
              </a:rPr>
              <a:t>Validation and test</a:t>
            </a:r>
            <a:endParaRPr lang="en-US" sz="2000" dirty="0"/>
          </a:p>
        </p:txBody>
      </p:sp>
      <p:sp>
        <p:nvSpPr>
          <p:cNvPr id="32" name="Text 263"/>
          <p:cNvSpPr txBox="1"/>
          <p:nvPr/>
        </p:nvSpPr>
        <p:spPr>
          <a:xfrm>
            <a:off x="6519672" y="2560320"/>
            <a:ext cx="914400" cy="457200"/>
          </a:xfrm>
          <a:prstGeom prst="rect">
            <a:avLst/>
          </a:prstGeom>
          <a:noFill/>
          <a:ln/>
        </p:spPr>
        <p:txBody>
          <a:bodyPr wrap="square" lIns="0" tIns="0" rIns="0" bIns="0" rtlCol="0" anchor="ctr"/>
          <a:lstStyle/>
          <a:p>
            <a:pPr indent="0" marL="0">
              <a:buNone/>
            </a:pPr>
            <a:r>
              <a:rPr lang="en-US" sz="1400" dirty="0">
                <a:solidFill>
                  <a:schemeClr val="tx1"/>
                </a:solidFill>
              </a:rPr>
              <a:t>Video C</a:t>
            </a:r>
            <a:endParaRPr lang="en-US" sz="1400" dirty="0"/>
          </a:p>
        </p:txBody>
      </p:sp>
      <p:sp>
        <p:nvSpPr>
          <p:cNvPr id="33" name="Frame 264"/>
          <p:cNvSpPr/>
          <p:nvPr/>
        </p:nvSpPr>
        <p:spPr>
          <a:xfrm>
            <a:off x="7479792" y="2560320"/>
            <a:ext cx="310896" cy="457200"/>
          </a:xfrm>
          <a:prstGeom prst="roundRect">
            <a:avLst>
              <a:gd name="adj" fmla="val 11765"/>
            </a:avLst>
          </a:prstGeom>
          <a:solidFill>
            <a:schemeClr val="accent5"/>
          </a:solidFill>
          <a:ln w="12700">
            <a:solidFill>
              <a:schemeClr val="accent5"/>
            </a:solidFill>
            <a:prstDash val="solid"/>
          </a:ln>
        </p:spPr>
      </p:sp>
      <p:sp>
        <p:nvSpPr>
          <p:cNvPr id="34" name="Frame 265"/>
          <p:cNvSpPr/>
          <p:nvPr/>
        </p:nvSpPr>
        <p:spPr>
          <a:xfrm>
            <a:off x="7845552" y="2560320"/>
            <a:ext cx="310896" cy="457200"/>
          </a:xfrm>
          <a:prstGeom prst="roundRect">
            <a:avLst>
              <a:gd name="adj" fmla="val 11765"/>
            </a:avLst>
          </a:prstGeom>
          <a:solidFill>
            <a:schemeClr val="accent5"/>
          </a:solidFill>
          <a:ln w="12700">
            <a:solidFill>
              <a:schemeClr val="accent5"/>
            </a:solidFill>
            <a:prstDash val="solid"/>
          </a:ln>
        </p:spPr>
      </p:sp>
      <p:sp>
        <p:nvSpPr>
          <p:cNvPr id="35" name="Frame 266"/>
          <p:cNvSpPr/>
          <p:nvPr/>
        </p:nvSpPr>
        <p:spPr>
          <a:xfrm>
            <a:off x="8211312" y="2560320"/>
            <a:ext cx="310896" cy="457200"/>
          </a:xfrm>
          <a:prstGeom prst="roundRect">
            <a:avLst>
              <a:gd name="adj" fmla="val 11765"/>
            </a:avLst>
          </a:prstGeom>
          <a:solidFill>
            <a:schemeClr val="accent5"/>
          </a:solidFill>
          <a:ln w="12700">
            <a:solidFill>
              <a:schemeClr val="accent5"/>
            </a:solidFill>
            <a:prstDash val="solid"/>
          </a:ln>
        </p:spPr>
      </p:sp>
      <p:sp>
        <p:nvSpPr>
          <p:cNvPr id="36" name="Frame 267"/>
          <p:cNvSpPr/>
          <p:nvPr/>
        </p:nvSpPr>
        <p:spPr>
          <a:xfrm>
            <a:off x="8577072" y="2560320"/>
            <a:ext cx="310896" cy="457200"/>
          </a:xfrm>
          <a:prstGeom prst="roundRect">
            <a:avLst>
              <a:gd name="adj" fmla="val 11765"/>
            </a:avLst>
          </a:prstGeom>
          <a:solidFill>
            <a:schemeClr val="accent5"/>
          </a:solidFill>
          <a:ln w="12700">
            <a:solidFill>
              <a:schemeClr val="accent5"/>
            </a:solidFill>
            <a:prstDash val="solid"/>
          </a:ln>
        </p:spPr>
      </p:sp>
      <p:sp>
        <p:nvSpPr>
          <p:cNvPr id="37" name="Frame 268"/>
          <p:cNvSpPr/>
          <p:nvPr/>
        </p:nvSpPr>
        <p:spPr>
          <a:xfrm>
            <a:off x="8942832" y="2560320"/>
            <a:ext cx="310896" cy="457200"/>
          </a:xfrm>
          <a:prstGeom prst="roundRect">
            <a:avLst>
              <a:gd name="adj" fmla="val 11765"/>
            </a:avLst>
          </a:prstGeom>
          <a:solidFill>
            <a:schemeClr val="accent1"/>
          </a:solidFill>
          <a:ln w="12700">
            <a:solidFill>
              <a:schemeClr val="accent1"/>
            </a:solidFill>
            <a:prstDash val="solid"/>
          </a:ln>
        </p:spPr>
      </p:sp>
      <p:sp>
        <p:nvSpPr>
          <p:cNvPr id="38" name="Frame 269"/>
          <p:cNvSpPr/>
          <p:nvPr/>
        </p:nvSpPr>
        <p:spPr>
          <a:xfrm>
            <a:off x="9308592" y="2560320"/>
            <a:ext cx="310896" cy="457200"/>
          </a:xfrm>
          <a:prstGeom prst="roundRect">
            <a:avLst>
              <a:gd name="adj" fmla="val 11765"/>
            </a:avLst>
          </a:prstGeom>
          <a:solidFill>
            <a:schemeClr val="accent1"/>
          </a:solidFill>
          <a:ln w="12700">
            <a:solidFill>
              <a:schemeClr val="accent1"/>
            </a:solidFill>
            <a:prstDash val="solid"/>
          </a:ln>
        </p:spPr>
      </p:sp>
      <p:sp>
        <p:nvSpPr>
          <p:cNvPr id="39" name="Frame 270"/>
          <p:cNvSpPr/>
          <p:nvPr/>
        </p:nvSpPr>
        <p:spPr>
          <a:xfrm>
            <a:off x="9674352" y="2560320"/>
            <a:ext cx="310896" cy="457200"/>
          </a:xfrm>
          <a:prstGeom prst="roundRect">
            <a:avLst>
              <a:gd name="adj" fmla="val 11765"/>
            </a:avLst>
          </a:prstGeom>
          <a:solidFill>
            <a:schemeClr val="accent1"/>
          </a:solidFill>
          <a:ln w="12700">
            <a:solidFill>
              <a:schemeClr val="accent1"/>
            </a:solidFill>
            <a:prstDash val="solid"/>
          </a:ln>
        </p:spPr>
      </p:sp>
      <p:sp>
        <p:nvSpPr>
          <p:cNvPr id="40" name="Frame 271"/>
          <p:cNvSpPr/>
          <p:nvPr/>
        </p:nvSpPr>
        <p:spPr>
          <a:xfrm>
            <a:off x="10040112" y="2560320"/>
            <a:ext cx="310896" cy="457200"/>
          </a:xfrm>
          <a:prstGeom prst="roundRect">
            <a:avLst>
              <a:gd name="adj" fmla="val 11765"/>
            </a:avLst>
          </a:prstGeom>
          <a:solidFill>
            <a:schemeClr val="accent1"/>
          </a:solidFill>
          <a:ln w="12700">
            <a:solidFill>
              <a:schemeClr val="accent1"/>
            </a:solidFill>
            <a:prstDash val="solid"/>
          </a:ln>
        </p:spPr>
      </p:sp>
      <p:sp>
        <p:nvSpPr>
          <p:cNvPr id="41" name="Frame 272"/>
          <p:cNvSpPr/>
          <p:nvPr/>
        </p:nvSpPr>
        <p:spPr>
          <a:xfrm>
            <a:off x="10405872" y="2560320"/>
            <a:ext cx="310896" cy="457200"/>
          </a:xfrm>
          <a:prstGeom prst="roundRect">
            <a:avLst>
              <a:gd name="adj" fmla="val 11765"/>
            </a:avLst>
          </a:prstGeom>
          <a:solidFill>
            <a:schemeClr val="accent1"/>
          </a:solidFill>
          <a:ln w="12700">
            <a:solidFill>
              <a:schemeClr val="accent1"/>
            </a:solidFill>
            <a:prstDash val="solid"/>
          </a:ln>
        </p:spPr>
      </p:sp>
      <p:sp>
        <p:nvSpPr>
          <p:cNvPr id="42" name="Frame 273"/>
          <p:cNvSpPr/>
          <p:nvPr/>
        </p:nvSpPr>
        <p:spPr>
          <a:xfrm>
            <a:off x="10771632" y="2560320"/>
            <a:ext cx="310896" cy="457200"/>
          </a:xfrm>
          <a:prstGeom prst="roundRect">
            <a:avLst>
              <a:gd name="adj" fmla="val 11765"/>
            </a:avLst>
          </a:prstGeom>
          <a:solidFill>
            <a:schemeClr val="accent1"/>
          </a:solidFill>
          <a:ln w="12700">
            <a:solidFill>
              <a:schemeClr val="accent1"/>
            </a:solidFill>
            <a:prstDash val="solid"/>
          </a:ln>
        </p:spPr>
      </p:sp>
      <p:sp>
        <p:nvSpPr>
          <p:cNvPr id="43" name="Frame 274"/>
          <p:cNvSpPr/>
          <p:nvPr/>
        </p:nvSpPr>
        <p:spPr>
          <a:xfrm>
            <a:off x="11137392" y="2560320"/>
            <a:ext cx="310896" cy="457200"/>
          </a:xfrm>
          <a:prstGeom prst="roundRect">
            <a:avLst>
              <a:gd name="adj" fmla="val 11765"/>
            </a:avLst>
          </a:prstGeom>
          <a:solidFill>
            <a:schemeClr val="accent1"/>
          </a:solidFill>
          <a:ln w="12700">
            <a:solidFill>
              <a:schemeClr val="accent1"/>
            </a:solidFill>
            <a:prstDash val="solid"/>
          </a:ln>
        </p:spPr>
      </p:sp>
      <p:sp>
        <p:nvSpPr>
          <p:cNvPr id="44" name="Text 275"/>
          <p:cNvSpPr txBox="1"/>
          <p:nvPr/>
        </p:nvSpPr>
        <p:spPr>
          <a:xfrm>
            <a:off x="6519672" y="3520440"/>
            <a:ext cx="4846320" cy="1188720"/>
          </a:xfrm>
          <a:prstGeom prst="rect">
            <a:avLst/>
          </a:prstGeom>
          <a:noFill/>
          <a:ln/>
        </p:spPr>
        <p:txBody>
          <a:bodyPr wrap="square" lIns="0" tIns="0" rIns="0" bIns="0" rtlCol="0" anchor="t"/>
          <a:lstStyle/>
          <a:p>
            <a:pPr indent="0" marL="0">
              <a:buNone/>
            </a:pPr>
            <a:r>
              <a:rPr lang="en-US" sz="1500" dirty="0">
                <a:solidFill>
                  <a:schemeClr val="tx1"/>
                </a:solidFill>
              </a:rPr>
              <a:t>SP and NSP frames sit in the same video, a few frames apart. The classifier has to detect the moment the view changes.</a:t>
            </a:r>
            <a:endParaRPr lang="en-US" sz="1500" dirty="0"/>
          </a:p>
        </p:txBody>
      </p:sp>
      <p:sp>
        <p:nvSpPr>
          <p:cNvPr id="45" name="Legend SP"/>
          <p:cNvSpPr/>
          <p:nvPr/>
        </p:nvSpPr>
        <p:spPr>
          <a:xfrm>
            <a:off x="548640" y="5120640"/>
            <a:ext cx="310896" cy="310896"/>
          </a:xfrm>
          <a:prstGeom prst="roundRect">
            <a:avLst>
              <a:gd name="adj" fmla="val 11765"/>
            </a:avLst>
          </a:prstGeom>
          <a:solidFill>
            <a:schemeClr val="accent1"/>
          </a:solidFill>
          <a:ln w="12700">
            <a:solidFill>
              <a:schemeClr val="accent1"/>
            </a:solidFill>
            <a:prstDash val="solid"/>
          </a:ln>
        </p:spPr>
      </p:sp>
      <p:sp>
        <p:nvSpPr>
          <p:cNvPr id="46" name="Text 276"/>
          <p:cNvSpPr txBox="1"/>
          <p:nvPr/>
        </p:nvSpPr>
        <p:spPr>
          <a:xfrm>
            <a:off x="960120" y="5120640"/>
            <a:ext cx="1097280" cy="310896"/>
          </a:xfrm>
          <a:prstGeom prst="rect">
            <a:avLst/>
          </a:prstGeom>
          <a:noFill/>
          <a:ln/>
        </p:spPr>
        <p:txBody>
          <a:bodyPr wrap="square" lIns="0" tIns="0" rIns="0" bIns="0" rtlCol="0" anchor="ctr"/>
          <a:lstStyle/>
          <a:p>
            <a:pPr indent="0" marL="0">
              <a:buNone/>
            </a:pPr>
            <a:r>
              <a:rPr lang="en-US" sz="1300" dirty="0">
                <a:solidFill>
                  <a:schemeClr val="tx1"/>
                </a:solidFill>
              </a:rPr>
              <a:t>SP frame</a:t>
            </a:r>
            <a:endParaRPr lang="en-US" sz="1300" dirty="0"/>
          </a:p>
        </p:txBody>
      </p:sp>
      <p:sp>
        <p:nvSpPr>
          <p:cNvPr id="47" name="Legend NSP"/>
          <p:cNvSpPr/>
          <p:nvPr/>
        </p:nvSpPr>
        <p:spPr>
          <a:xfrm>
            <a:off x="2103120" y="5120640"/>
            <a:ext cx="310896" cy="310896"/>
          </a:xfrm>
          <a:prstGeom prst="roundRect">
            <a:avLst>
              <a:gd name="adj" fmla="val 11765"/>
            </a:avLst>
          </a:prstGeom>
          <a:solidFill>
            <a:schemeClr val="accent5"/>
          </a:solidFill>
          <a:ln w="12700">
            <a:solidFill>
              <a:schemeClr val="accent5"/>
            </a:solidFill>
            <a:prstDash val="solid"/>
          </a:ln>
        </p:spPr>
      </p:sp>
      <p:sp>
        <p:nvSpPr>
          <p:cNvPr id="48" name="Text 277"/>
          <p:cNvSpPr txBox="1"/>
          <p:nvPr/>
        </p:nvSpPr>
        <p:spPr>
          <a:xfrm>
            <a:off x="2514600" y="5120640"/>
            <a:ext cx="1188720" cy="310896"/>
          </a:xfrm>
          <a:prstGeom prst="rect">
            <a:avLst/>
          </a:prstGeom>
          <a:noFill/>
          <a:ln/>
        </p:spPr>
        <p:txBody>
          <a:bodyPr wrap="square" lIns="0" tIns="0" rIns="0" bIns="0" rtlCol="0" anchor="ctr"/>
          <a:lstStyle/>
          <a:p>
            <a:pPr indent="0" marL="0">
              <a:buNone/>
            </a:pPr>
            <a:r>
              <a:rPr lang="en-US" sz="1300" dirty="0">
                <a:solidFill>
                  <a:schemeClr val="tx1"/>
                </a:solidFill>
              </a:rPr>
              <a:t>NSP frame</a:t>
            </a:r>
            <a:endParaRPr lang="en-US" sz="1300" dirty="0"/>
          </a:p>
        </p:txBody>
      </p:sp>
      <p:sp>
        <p:nvSpPr>
          <p:cNvPr id="49" name="Text 278"/>
          <p:cNvSpPr txBox="1"/>
          <p:nvPr/>
        </p:nvSpPr>
        <p:spPr>
          <a:xfrm>
            <a:off x="3931920" y="5029200"/>
            <a:ext cx="7708392" cy="822960"/>
          </a:xfrm>
          <a:prstGeom prst="rect">
            <a:avLst/>
          </a:prstGeom>
          <a:noFill/>
          <a:ln/>
        </p:spPr>
        <p:txBody>
          <a:bodyPr wrap="square" lIns="0" tIns="0" rIns="0" bIns="0" rtlCol="0" anchor="t"/>
          <a:lstStyle/>
          <a:p>
            <a:pPr indent="0" marL="0">
              <a:buNone/>
            </a:pPr>
            <a:r>
              <a:rPr lang="en-US" sz="1500" dirty="0">
                <a:solidFill>
                  <a:schemeClr val="accent4"/>
                </a:solidFill>
              </a:rPr>
              <a:t>Also likely to hurt: averaging patch tokens discards spatial detail, and the probe reads consecutive frames while pretraining used every 4th frame.</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bg1"/>
                </a:solidFill>
              </a:rPr>
              <a:t>What we can and cannot conclude</a:t>
            </a:r>
            <a:endParaRPr lang="en-US" sz="3000" dirty="0"/>
          </a:p>
        </p:txBody>
      </p:sp>
      <p:sp>
        <p:nvSpPr>
          <p:cNvPr id="3" name="Number circle 279"/>
          <p:cNvSpPr/>
          <p:nvPr/>
        </p:nvSpPr>
        <p:spPr>
          <a:xfrm>
            <a:off x="548640" y="1554480"/>
            <a:ext cx="640080" cy="640080"/>
          </a:xfrm>
          <a:prstGeom prst="ellipse">
            <a:avLst/>
          </a:prstGeom>
          <a:solidFill>
            <a:schemeClr val="accent2"/>
          </a:solidFill>
          <a:ln w="12700">
            <a:solidFill>
              <a:schemeClr val="accent2"/>
            </a:solidFill>
            <a:prstDash val="solid"/>
          </a:ln>
        </p:spPr>
      </p:sp>
      <p:sp>
        <p:nvSpPr>
          <p:cNvPr id="4" name="Text 280"/>
          <p:cNvSpPr txBox="1"/>
          <p:nvPr/>
        </p:nvSpPr>
        <p:spPr>
          <a:xfrm>
            <a:off x="548640" y="1554480"/>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5" name="Text 281"/>
          <p:cNvSpPr txBox="1"/>
          <p:nvPr/>
        </p:nvSpPr>
        <p:spPr>
          <a:xfrm>
            <a:off x="1463040" y="1481328"/>
            <a:ext cx="10149840" cy="960120"/>
          </a:xfrm>
          <a:prstGeom prst="rect">
            <a:avLst/>
          </a:prstGeom>
          <a:noFill/>
          <a:ln/>
        </p:spPr>
        <p:txBody>
          <a:bodyPr wrap="square" lIns="0" tIns="0" rIns="0" bIns="0" rtlCol="0" anchor="t"/>
          <a:lstStyle/>
          <a:p>
            <a:pPr indent="0" marL="0">
              <a:buNone/>
            </a:pPr>
            <a:r>
              <a:rPr lang="en-US" sz="2000" b="1" dirty="0">
                <a:solidFill>
                  <a:schemeClr val="bg1"/>
                </a:solidFill>
              </a:rPr>
              <a:t>The pipeline works end to end</a:t>
            </a:r>
            <a:endParaRPr lang="en-US" sz="1500" dirty="0"/>
          </a:p>
          <a:p>
            <a:pPr indent="0" marL="0">
              <a:buNone/>
            </a:pPr>
            <a:r>
              <a:rPr lang="en-US" sz="1500" dirty="0">
                <a:solidFill>
                  <a:schemeClr val="bg2"/>
                </a:solidFill>
              </a:rPr>
              <a:t>Learned masking trains alongside V-JEPA in both versions, and PPO is stable after the fixes</a:t>
            </a:r>
            <a:endParaRPr lang="en-US" sz="1500" dirty="0"/>
          </a:p>
        </p:txBody>
      </p:sp>
      <p:sp>
        <p:nvSpPr>
          <p:cNvPr id="6" name="Number circle 282"/>
          <p:cNvSpPr/>
          <p:nvPr/>
        </p:nvSpPr>
        <p:spPr>
          <a:xfrm>
            <a:off x="548640" y="2670048"/>
            <a:ext cx="640080" cy="640080"/>
          </a:xfrm>
          <a:prstGeom prst="ellipse">
            <a:avLst/>
          </a:prstGeom>
          <a:solidFill>
            <a:schemeClr val="accent2"/>
          </a:solidFill>
          <a:ln w="12700">
            <a:solidFill>
              <a:schemeClr val="accent2"/>
            </a:solidFill>
            <a:prstDash val="solid"/>
          </a:ln>
        </p:spPr>
      </p:sp>
      <p:sp>
        <p:nvSpPr>
          <p:cNvPr id="7" name="Text 283"/>
          <p:cNvSpPr txBox="1"/>
          <p:nvPr/>
        </p:nvSpPr>
        <p:spPr>
          <a:xfrm>
            <a:off x="548640" y="2670048"/>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8" name="Text 284"/>
          <p:cNvSpPr txBox="1"/>
          <p:nvPr/>
        </p:nvSpPr>
        <p:spPr>
          <a:xfrm>
            <a:off x="1463040" y="2596896"/>
            <a:ext cx="10149840" cy="960120"/>
          </a:xfrm>
          <a:prstGeom prst="rect">
            <a:avLst/>
          </a:prstGeom>
          <a:noFill/>
          <a:ln/>
        </p:spPr>
        <p:txBody>
          <a:bodyPr wrap="square" lIns="0" tIns="0" rIns="0" bIns="0" rtlCol="0" anchor="t"/>
          <a:lstStyle/>
          <a:p>
            <a:pPr indent="0" marL="0">
              <a:buNone/>
            </a:pPr>
            <a:r>
              <a:rPr lang="en-US" sz="2000" b="1" dirty="0">
                <a:solidFill>
                  <a:schemeClr val="bg1"/>
                </a:solidFill>
              </a:rPr>
              <a:t>Neither policy learned a clear strategy</a:t>
            </a:r>
            <a:endParaRPr lang="en-US" sz="1500" dirty="0"/>
          </a:p>
          <a:p>
            <a:pPr indent="0" marL="0">
              <a:buNone/>
            </a:pPr>
            <a:r>
              <a:rPr lang="en-US" sz="1500" dirty="0">
                <a:solidFill>
                  <a:schemeClr val="bg2"/>
                </a:solidFill>
              </a:rPr>
              <a:t>Both stayed near uniform; REINFORCE drifted away from motion</a:t>
            </a:r>
            <a:endParaRPr lang="en-US" sz="1500" dirty="0"/>
          </a:p>
        </p:txBody>
      </p:sp>
      <p:sp>
        <p:nvSpPr>
          <p:cNvPr id="9" name="Number circle 285"/>
          <p:cNvSpPr/>
          <p:nvPr/>
        </p:nvSpPr>
        <p:spPr>
          <a:xfrm>
            <a:off x="548640" y="3785616"/>
            <a:ext cx="640080" cy="640080"/>
          </a:xfrm>
          <a:prstGeom prst="ellipse">
            <a:avLst/>
          </a:prstGeom>
          <a:solidFill>
            <a:schemeClr val="accent2"/>
          </a:solidFill>
          <a:ln w="12700">
            <a:solidFill>
              <a:schemeClr val="accent2"/>
            </a:solidFill>
            <a:prstDash val="solid"/>
          </a:ln>
        </p:spPr>
      </p:sp>
      <p:sp>
        <p:nvSpPr>
          <p:cNvPr id="10" name="Text 286"/>
          <p:cNvSpPr txBox="1"/>
          <p:nvPr/>
        </p:nvSpPr>
        <p:spPr>
          <a:xfrm>
            <a:off x="548640" y="3785616"/>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11" name="Text 287"/>
          <p:cNvSpPr txBox="1"/>
          <p:nvPr/>
        </p:nvSpPr>
        <p:spPr>
          <a:xfrm>
            <a:off x="1463040" y="3712464"/>
            <a:ext cx="10149840" cy="960120"/>
          </a:xfrm>
          <a:prstGeom prst="rect">
            <a:avLst/>
          </a:prstGeom>
          <a:noFill/>
          <a:ln/>
        </p:spPr>
        <p:txBody>
          <a:bodyPr wrap="square" lIns="0" tIns="0" rIns="0" bIns="0" rtlCol="0" anchor="t"/>
          <a:lstStyle/>
          <a:p>
            <a:pPr indent="0" marL="0">
              <a:buNone/>
            </a:pPr>
            <a:r>
              <a:rPr lang="en-US" sz="2000" b="1" dirty="0">
                <a:solidFill>
                  <a:schemeClr val="bg1"/>
                </a:solidFill>
              </a:rPr>
              <a:t>Token masking with PPO is the cheapest run</a:t>
            </a:r>
            <a:endParaRPr lang="en-US" sz="1500" dirty="0"/>
          </a:p>
          <a:p>
            <a:pPr indent="0" marL="0">
              <a:buNone/>
            </a:pPr>
            <a:r>
              <a:rPr lang="en-US" sz="1500" dirty="0">
                <a:solidFill>
                  <a:schemeClr val="bg2"/>
                </a:solidFill>
              </a:rPr>
              <a:t>About 17 GB of GPU memory, which leaves room for larger batches or several masks per clip</a:t>
            </a:r>
            <a:endParaRPr lang="en-US" sz="1500" dirty="0"/>
          </a:p>
        </p:txBody>
      </p:sp>
      <p:sp>
        <p:nvSpPr>
          <p:cNvPr id="12" name="Number circle 288"/>
          <p:cNvSpPr/>
          <p:nvPr/>
        </p:nvSpPr>
        <p:spPr>
          <a:xfrm>
            <a:off x="548640" y="4901184"/>
            <a:ext cx="640080" cy="640080"/>
          </a:xfrm>
          <a:prstGeom prst="ellipse">
            <a:avLst/>
          </a:prstGeom>
          <a:solidFill>
            <a:schemeClr val="accent2"/>
          </a:solidFill>
          <a:ln w="12700">
            <a:solidFill>
              <a:schemeClr val="accent2"/>
            </a:solidFill>
            <a:prstDash val="solid"/>
          </a:ln>
        </p:spPr>
      </p:sp>
      <p:sp>
        <p:nvSpPr>
          <p:cNvPr id="13" name="Text 289"/>
          <p:cNvSpPr txBox="1"/>
          <p:nvPr/>
        </p:nvSpPr>
        <p:spPr>
          <a:xfrm>
            <a:off x="548640" y="4901184"/>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4</a:t>
            </a:r>
            <a:endParaRPr lang="en-US" sz="2400" dirty="0"/>
          </a:p>
        </p:txBody>
      </p:sp>
      <p:sp>
        <p:nvSpPr>
          <p:cNvPr id="14" name="Text 290"/>
          <p:cNvSpPr txBox="1"/>
          <p:nvPr/>
        </p:nvSpPr>
        <p:spPr>
          <a:xfrm>
            <a:off x="1463040" y="4828032"/>
            <a:ext cx="10149840" cy="960120"/>
          </a:xfrm>
          <a:prstGeom prst="rect">
            <a:avLst/>
          </a:prstGeom>
          <a:noFill/>
          <a:ln/>
        </p:spPr>
        <p:txBody>
          <a:bodyPr wrap="square" lIns="0" tIns="0" rIns="0" bIns="0" rtlCol="0" anchor="t"/>
          <a:lstStyle/>
          <a:p>
            <a:pPr indent="0" marL="0">
              <a:buNone/>
            </a:pPr>
            <a:r>
              <a:rPr lang="en-US" sz="2000" b="1" dirty="0">
                <a:solidFill>
                  <a:schemeClr val="bg1"/>
                </a:solidFill>
              </a:rPr>
              <a:t>The benefit of learned masking is still open</a:t>
            </a:r>
            <a:endParaRPr lang="en-US" sz="1500" dirty="0"/>
          </a:p>
          <a:p>
            <a:pPr indent="0" marL="0">
              <a:buNone/>
            </a:pPr>
            <a:r>
              <a:rPr lang="en-US" sz="1500" dirty="0">
                <a:solidFill>
                  <a:schemeClr val="bg2"/>
                </a:solidFill>
              </a:rPr>
              <a:t>The current probe cannot separate the models from an untrained encoder</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3000" b="1" dirty="0">
                <a:solidFill>
                  <a:schemeClr val="tx2"/>
                </a:solidFill>
              </a:rPr>
              <a:t>Next steps: fix the evaluation first, then strengthen the policy</a:t>
            </a:r>
            <a:endParaRPr lang="en-US" sz="3000" dirty="0"/>
          </a:p>
        </p:txBody>
      </p:sp>
      <p:sp>
        <p:nvSpPr>
          <p:cNvPr id="3" name="Card 291"/>
          <p:cNvSpPr/>
          <p:nvPr/>
        </p:nvSpPr>
        <p:spPr>
          <a:xfrm>
            <a:off x="548640" y="1508760"/>
            <a:ext cx="5413248" cy="4206240"/>
          </a:xfrm>
          <a:prstGeom prst="roundRect">
            <a:avLst>
              <a:gd name="adj" fmla="val 2609"/>
            </a:avLst>
          </a:prstGeom>
          <a:solidFill>
            <a:schemeClr val="bg2"/>
          </a:solidFill>
          <a:ln w="12700">
            <a:solidFill>
              <a:schemeClr val="bg2"/>
            </a:solidFill>
            <a:prstDash val="solid"/>
          </a:ln>
        </p:spPr>
      </p:sp>
      <p:sp>
        <p:nvSpPr>
          <p:cNvPr id="4" name="Icon circle 292"/>
          <p:cNvSpPr/>
          <p:nvPr/>
        </p:nvSpPr>
        <p:spPr>
          <a:xfrm>
            <a:off x="822960" y="1737360"/>
            <a:ext cx="594360" cy="594360"/>
          </a:xfrm>
          <a:prstGeom prst="ellipse">
            <a:avLst/>
          </a:prstGeom>
          <a:solidFill>
            <a:schemeClr val="accent1"/>
          </a:solidFill>
          <a:ln w="12700">
            <a:solidFill>
              <a:schemeClr val="accent1"/>
            </a:solidFill>
            <a:prstDash val="solid"/>
          </a:ln>
        </p:spPr>
      </p:sp>
      <p:pic>
        <p:nvPicPr>
          <p:cNvPr id="5" name="Icon 293" descr="preencoded.png">    </p:cNvPr>
          <p:cNvPicPr>
            <a:picLocks noChangeAspect="1"/>
          </p:cNvPicPr>
          <p:nvPr/>
        </p:nvPicPr>
        <p:blipFill>
          <a:blip r:embed="rId1"/>
          <a:stretch>
            <a:fillRect/>
          </a:stretch>
        </p:blipFill>
        <p:spPr>
          <a:xfrm>
            <a:off x="977494" y="1891894"/>
            <a:ext cx="285293" cy="285293"/>
          </a:xfrm>
          <a:prstGeom prst="rect">
            <a:avLst/>
          </a:prstGeom>
        </p:spPr>
      </p:pic>
      <p:sp>
        <p:nvSpPr>
          <p:cNvPr id="6" name="Text 294"/>
          <p:cNvSpPr txBox="1"/>
          <p:nvPr/>
        </p:nvSpPr>
        <p:spPr>
          <a:xfrm>
            <a:off x="1600200" y="1737360"/>
            <a:ext cx="4023360" cy="594360"/>
          </a:xfrm>
          <a:prstGeom prst="rect">
            <a:avLst/>
          </a:prstGeom>
          <a:noFill/>
          <a:ln/>
        </p:spPr>
        <p:txBody>
          <a:bodyPr wrap="square" lIns="0" tIns="0" rIns="0" bIns="0" rtlCol="0" anchor="ctr"/>
          <a:lstStyle/>
          <a:p>
            <a:pPr indent="0" marL="0">
              <a:buNone/>
            </a:pPr>
            <a:r>
              <a:rPr lang="en-US" sz="2200" b="1" dirty="0">
                <a:solidFill>
                  <a:schemeClr val="tx2"/>
                </a:solidFill>
              </a:rPr>
              <a:t>Evaluation</a:t>
            </a:r>
            <a:endParaRPr lang="en-US" sz="2200" dirty="0"/>
          </a:p>
        </p:txBody>
      </p:sp>
      <p:sp>
        <p:nvSpPr>
          <p:cNvPr id="7" name="Text 295"/>
          <p:cNvSpPr txBox="1"/>
          <p:nvPr/>
        </p:nvSpPr>
        <p:spPr>
          <a:xfrm>
            <a:off x="822960" y="2606040"/>
            <a:ext cx="4864608" cy="301752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Use an attentive probe instead of averaging patch tokens, as in V-JEPA's own evaluation</a:t>
            </a:r>
            <a:endParaRPr lang="en-US" sz="1700" dirty="0"/>
          </a:p>
          <a:p>
            <a:pPr marL="342900" indent="-342900">
              <a:spcAft>
                <a:spcPts val="1200"/>
              </a:spcAft>
              <a:buSzPct val="100000"/>
              <a:buChar char="•"/>
            </a:pPr>
            <a:r>
              <a:rPr lang="en-US" sz="1700" dirty="0">
                <a:solidFill>
                  <a:schemeClr val="tx1"/>
                </a:solidFill>
              </a:rPr>
              <a:t>Report a within-video metric, such as AUROC computed per test video</a:t>
            </a:r>
            <a:endParaRPr lang="en-US" sz="1700" dirty="0"/>
          </a:p>
          <a:p>
            <a:pPr marL="342900" indent="-342900">
              <a:spcAft>
                <a:spcPts val="1200"/>
              </a:spcAft>
              <a:buSzPct val="100000"/>
              <a:buChar char="•"/>
            </a:pPr>
            <a:r>
              <a:rPr lang="en-US" sz="1700" dirty="0">
                <a:solidFill>
                  <a:schemeClr val="tx1"/>
                </a:solidFill>
              </a:rPr>
              <a:t>Add a random-token baseline to separate the policy from the change in mask type</a:t>
            </a:r>
            <a:endParaRPr lang="en-US" sz="1700" dirty="0"/>
          </a:p>
        </p:txBody>
      </p:sp>
      <p:sp>
        <p:nvSpPr>
          <p:cNvPr id="8" name="Card 296"/>
          <p:cNvSpPr/>
          <p:nvPr/>
        </p:nvSpPr>
        <p:spPr>
          <a:xfrm>
            <a:off x="6227064" y="1508760"/>
            <a:ext cx="5413248" cy="4206240"/>
          </a:xfrm>
          <a:prstGeom prst="roundRect">
            <a:avLst>
              <a:gd name="adj" fmla="val 2609"/>
            </a:avLst>
          </a:prstGeom>
          <a:solidFill>
            <a:schemeClr val="bg2"/>
          </a:solidFill>
          <a:ln w="12700">
            <a:solidFill>
              <a:schemeClr val="bg2"/>
            </a:solidFill>
            <a:prstDash val="solid"/>
          </a:ln>
        </p:spPr>
      </p:sp>
      <p:sp>
        <p:nvSpPr>
          <p:cNvPr id="9" name="Icon circle 297"/>
          <p:cNvSpPr/>
          <p:nvPr/>
        </p:nvSpPr>
        <p:spPr>
          <a:xfrm>
            <a:off x="6501384" y="1737360"/>
            <a:ext cx="594360" cy="594360"/>
          </a:xfrm>
          <a:prstGeom prst="ellipse">
            <a:avLst/>
          </a:prstGeom>
          <a:solidFill>
            <a:schemeClr val="accent2"/>
          </a:solidFill>
          <a:ln w="12700">
            <a:solidFill>
              <a:schemeClr val="accent2"/>
            </a:solidFill>
            <a:prstDash val="solid"/>
          </a:ln>
        </p:spPr>
      </p:sp>
      <p:pic>
        <p:nvPicPr>
          <p:cNvPr id="10" name="Icon 298" descr="preencoded.png">    </p:cNvPr>
          <p:cNvPicPr>
            <a:picLocks noChangeAspect="1"/>
          </p:cNvPicPr>
          <p:nvPr/>
        </p:nvPicPr>
        <p:blipFill>
          <a:blip r:embed="rId2"/>
          <a:stretch>
            <a:fillRect/>
          </a:stretch>
        </p:blipFill>
        <p:spPr>
          <a:xfrm>
            <a:off x="6655918" y="1891894"/>
            <a:ext cx="285293" cy="285293"/>
          </a:xfrm>
          <a:prstGeom prst="rect">
            <a:avLst/>
          </a:prstGeom>
        </p:spPr>
      </p:pic>
      <p:sp>
        <p:nvSpPr>
          <p:cNvPr id="11" name="Text 299"/>
          <p:cNvSpPr txBox="1"/>
          <p:nvPr/>
        </p:nvSpPr>
        <p:spPr>
          <a:xfrm>
            <a:off x="7278624" y="1737360"/>
            <a:ext cx="4023360" cy="594360"/>
          </a:xfrm>
          <a:prstGeom prst="rect">
            <a:avLst/>
          </a:prstGeom>
          <a:noFill/>
          <a:ln/>
        </p:spPr>
        <p:txBody>
          <a:bodyPr wrap="square" lIns="0" tIns="0" rIns="0" bIns="0" rtlCol="0" anchor="ctr"/>
          <a:lstStyle/>
          <a:p>
            <a:pPr indent="0" marL="0">
              <a:buNone/>
            </a:pPr>
            <a:r>
              <a:rPr lang="en-US" sz="2200" b="1" dirty="0">
                <a:solidFill>
                  <a:schemeClr val="tx2"/>
                </a:solidFill>
              </a:rPr>
              <a:t>Method</a:t>
            </a:r>
            <a:endParaRPr lang="en-US" sz="2200" dirty="0"/>
          </a:p>
        </p:txBody>
      </p:sp>
      <p:sp>
        <p:nvSpPr>
          <p:cNvPr id="12" name="Text 300"/>
          <p:cNvSpPr txBox="1"/>
          <p:nvPr/>
        </p:nvSpPr>
        <p:spPr>
          <a:xfrm>
            <a:off x="6501384" y="2606040"/>
            <a:ext cx="4864608" cy="301752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Run several PPO passes per batch so that updates actually change the policy</a:t>
            </a:r>
            <a:endParaRPr lang="en-US" sz="1700" dirty="0"/>
          </a:p>
          <a:p>
            <a:pPr marL="342900" indent="-342900">
              <a:spcAft>
                <a:spcPts val="1200"/>
              </a:spcAft>
              <a:buSzPct val="100000"/>
              <a:buChar char="•"/>
            </a:pPr>
            <a:r>
              <a:rPr lang="en-US" sz="1700" dirty="0">
                <a:solidFill>
                  <a:schemeClr val="tx1"/>
                </a:solidFill>
              </a:rPr>
              <a:t>Commit to one reward direction: easy masks or hard masks</a:t>
            </a:r>
            <a:endParaRPr lang="en-US" sz="1700" dirty="0"/>
          </a:p>
          <a:p>
            <a:pPr marL="342900" indent="-342900">
              <a:spcAft>
                <a:spcPts val="1200"/>
              </a:spcAft>
              <a:buSzPct val="100000"/>
              <a:buChar char="•"/>
            </a:pPr>
            <a:r>
              <a:rPr lang="en-US" sz="1700" dirty="0">
                <a:solidFill>
                  <a:schemeClr val="tx1"/>
                </a:solidFill>
              </a:rPr>
              <a:t>Try group-based advantages (GRPO) in place of the weak critic</a:t>
            </a:r>
            <a:endParaRPr lang="en-US" sz="1700" dirty="0"/>
          </a:p>
          <a:p>
            <a:pPr marL="342900" indent="-342900">
              <a:spcAft>
                <a:spcPts val="1200"/>
              </a:spcAft>
              <a:buSzPct val="100000"/>
              <a:buChar char="•"/>
            </a:pPr>
            <a:r>
              <a:rPr lang="en-US" sz="1700" dirty="0">
                <a:solidFill>
                  <a:schemeClr val="tx1"/>
                </a:solidFill>
              </a:rPr>
              <a:t>Match video names exactly in the pretraining data loader</a:t>
            </a:r>
            <a:endParaRPr lang="en-US" sz="17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Ultrasound Teal">
  <a:themeElements>
    <a:clrScheme name="Ultrasound Teal">
      <a:dk1>
        <a:srgbClr val="1B2A2F"/>
      </a:dk1>
      <a:lt1>
        <a:srgbClr val="FFFFFF"/>
      </a:lt1>
      <a:dk2>
        <a:srgbClr val="0B3C49"/>
      </a:dk2>
      <a:lt2>
        <a:srgbClr val="E8F3F4"/>
      </a:lt2>
      <a:accent1>
        <a:srgbClr val="0E7C86"/>
      </a:accent1>
      <a:accent2>
        <a:srgbClr val="F2A541"/>
      </a:accent2>
      <a:accent3>
        <a:srgbClr val="D1495B"/>
      </a:accent3>
      <a:accent4>
        <a:srgbClr val="5B6B70"/>
      </a:accent4>
      <a:accent5>
        <a:srgbClr val="A9B4B8"/>
      </a:accent5>
      <a:accent6>
        <a:srgbClr val="2F9E77"/>
      </a:accent6>
      <a:hlink>
        <a:srgbClr val="0E7C86"/>
      </a:hlink>
      <a:folHlink>
        <a:srgbClr val="5B6B70"/>
      </a:folHlink>
    </a:clrScheme>
    <a:fontScheme name="Ultrasound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where to mask: RL-guided masking for V-JEPA</dc:title>
  <dc:subject>PptxGenJS Presentation</dc:subject>
  <dc:creator>PptxGenJS</dc:creator>
  <cp:lastModifiedBy>PptxGenJS</cp:lastModifiedBy>
  <cp:revision>1</cp:revision>
  <dcterms:created xsi:type="dcterms:W3CDTF">2026-10-07T06:39:55Z</dcterms:created>
  <dcterms:modified xsi:type="dcterms:W3CDTF">2026-10-07T06:39:55Z</dcterms:modified>
</cp:coreProperties>
</file>